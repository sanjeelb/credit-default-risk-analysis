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9" r:id="rId18"/>
    <p:sldId id="282" r:id="rId19"/>
    <p:sldId id="283" r:id="rId20"/>
    <p:sldId id="280" r:id="rId21"/>
    <p:sldId id="285" r:id="rId22"/>
    <p:sldId id="284" r:id="rId23"/>
    <p:sldId id="273" r:id="rId24"/>
    <p:sldId id="274" r:id="rId25"/>
    <p:sldId id="275" r:id="rId26"/>
    <p:sldId id="277" r:id="rId27"/>
    <p:sldId id="276" r:id="rId28"/>
    <p:sldId id="278" r:id="rId29"/>
    <p:sldId id="281" r:id="rId30"/>
    <p:sldId id="287" r:id="rId31"/>
  </p:sldIdLst>
  <p:sldSz cx="9144000" cy="5143500" type="screen16x9"/>
  <p:notesSz cx="6858000" cy="9144000"/>
  <p:embeddedFontLst>
    <p:embeddedFont>
      <p:font typeface="Roboto Mono" panose="00000009000000000000" pitchFamily="49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7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20" y="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78bc92944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78bc92944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78bc92944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178bc92944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178bc92944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178bc92944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178bc92944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178bc92944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78bc92944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178bc92944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178bc92944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178bc92944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178bc92944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178bc92944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78bc92944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178bc92944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178bc92944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178bc92944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78bc92944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78bc92944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178bc92944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178bc92944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178bc92944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178bc92944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78bc92944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178bc92944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178bc92944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178bc92944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78bc92944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78bc92944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78bc92944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178bc92944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78bc92944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178bc92944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78bc92944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178bc92944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178bc92944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178bc92944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178bc92944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178bc92944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78bc92944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178bc92944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78bc92944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178bc92944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178bc92944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178bc92944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14835e47a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14835e47a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5916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Group 1 </a:t>
            </a:r>
            <a:br>
              <a:rPr lang="en" dirty="0"/>
            </a:br>
            <a:r>
              <a:rPr lang="en" dirty="0"/>
              <a:t>Credit Default Risk Prediction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1700" y="2834124"/>
            <a:ext cx="8520600" cy="1584363"/>
          </a:xfrm>
        </p:spPr>
        <p:txBody>
          <a:bodyPr>
            <a:normAutofit fontScale="55000" lnSpcReduction="20000"/>
          </a:bodyPr>
          <a:lstStyle/>
          <a:p>
            <a:pPr marL="114300" indent="0"/>
            <a:r>
              <a:rPr lang="en-US" dirty="0"/>
              <a:t>Group Members: </a:t>
            </a:r>
            <a:br>
              <a:rPr lang="en-US" dirty="0"/>
            </a:br>
            <a:r>
              <a:rPr lang="en-US" dirty="0"/>
              <a:t>Chaitanya Moregaonkar</a:t>
            </a:r>
          </a:p>
          <a:p>
            <a:pPr marL="114300" indent="0"/>
            <a:r>
              <a:rPr lang="en-US" dirty="0" err="1"/>
              <a:t>Siddhant</a:t>
            </a:r>
            <a:r>
              <a:rPr lang="en-US" dirty="0"/>
              <a:t> More</a:t>
            </a:r>
          </a:p>
          <a:p>
            <a:pPr marL="114300" indent="0"/>
            <a:r>
              <a:rPr lang="en-US" dirty="0" err="1"/>
              <a:t>Sumit</a:t>
            </a:r>
            <a:r>
              <a:rPr lang="en-US" dirty="0"/>
              <a:t> </a:t>
            </a:r>
            <a:r>
              <a:rPr lang="en-US" dirty="0" err="1"/>
              <a:t>Gorkhe</a:t>
            </a:r>
            <a:endParaRPr lang="en-US" dirty="0"/>
          </a:p>
          <a:p>
            <a:pPr marL="114300" indent="0"/>
            <a:r>
              <a:rPr lang="en-US" dirty="0" err="1"/>
              <a:t>Sanjeel</a:t>
            </a:r>
            <a:r>
              <a:rPr lang="en-US" dirty="0"/>
              <a:t> </a:t>
            </a:r>
            <a:r>
              <a:rPr lang="en-US" dirty="0" err="1"/>
              <a:t>Bhosale</a:t>
            </a:r>
            <a:endParaRPr lang="en-US" dirty="0"/>
          </a:p>
          <a:p>
            <a:pPr marL="114300" indent="0"/>
            <a:r>
              <a:rPr lang="en-US" dirty="0" err="1"/>
              <a:t>Yuyu</a:t>
            </a:r>
            <a:r>
              <a:rPr lang="en-US" dirty="0"/>
              <a:t> </a:t>
            </a:r>
            <a:r>
              <a:rPr lang="en-US" dirty="0" err="1"/>
              <a:t>Ndiema</a:t>
            </a:r>
            <a:endParaRPr lang="en-US" dirty="0"/>
          </a:p>
          <a:p>
            <a:pPr marL="114300" indent="0"/>
            <a:r>
              <a:rPr lang="en-US" dirty="0" err="1"/>
              <a:t>Metri</a:t>
            </a:r>
            <a:r>
              <a:rPr lang="en-US" dirty="0"/>
              <a:t> </a:t>
            </a:r>
            <a:r>
              <a:rPr lang="en-US" dirty="0" err="1"/>
              <a:t>Sonani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Goal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To predict the likelihood of clients defaulting on loans issued by Home Credit, helping financial institutions reduce risk and improve lending accuracy.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11700" y="2159925"/>
            <a:ext cx="554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tx1"/>
                </a:solidFill>
              </a:rPr>
              <a:t>Objective and Impact</a:t>
            </a:r>
            <a:endParaRPr sz="2500" dirty="0">
              <a:solidFill>
                <a:schemeClr val="tx1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11700" y="2864075"/>
            <a:ext cx="8223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tx1"/>
                </a:solidFill>
              </a:rPr>
              <a:t>Enable more accurate lending decisions, reducing risk and promoting financial inclusion.</a:t>
            </a:r>
            <a:br>
              <a:rPr lang="en" sz="1800" dirty="0">
                <a:solidFill>
                  <a:schemeClr val="tx1"/>
                </a:solidFill>
              </a:rPr>
            </a:br>
            <a:r>
              <a:rPr lang="en" sz="1800" dirty="0">
                <a:solidFill>
                  <a:schemeClr val="tx1"/>
                </a:solidFill>
              </a:rPr>
              <a:t>Build a predictive model using machine learning to identify high-risk borrowers, gaining hands-on experience in data science techniques like feature engineering and model evaluation.</a:t>
            </a:r>
            <a:endParaRPr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dirty="0">
                <a:solidFill>
                  <a:schemeClr val="tx1"/>
                </a:solidFill>
              </a:rPr>
              <a:t>Our group is working on predicting credit default risk for loans issued by Home Credit. </a:t>
            </a:r>
            <a:endParaRPr dirty="0">
              <a:solidFill>
                <a:schemeClr val="tx1"/>
              </a:solidFill>
            </a:endParaRPr>
          </a:p>
          <a:p>
            <a:r>
              <a:rPr lang="en" dirty="0">
                <a:solidFill>
                  <a:schemeClr val="tx1"/>
                </a:solidFill>
              </a:rPr>
              <a:t>Our topic is critical because loan defaults represent significant financial risk for lenders, impacting their ability to offer credit effectively. </a:t>
            </a:r>
            <a:endParaRPr dirty="0">
              <a:solidFill>
                <a:schemeClr val="tx1"/>
              </a:solidFill>
            </a:endParaRPr>
          </a:p>
          <a:p>
            <a:r>
              <a:rPr lang="en" dirty="0">
                <a:solidFill>
                  <a:schemeClr val="tx1"/>
                </a:solidFill>
              </a:rPr>
              <a:t>By accurately predicting the likelihood of a client defaulting, financial institutions can make more informed lending decisions, minimizing risk and potentially expanding credit access to a wider range of borrowers. </a:t>
            </a:r>
            <a:endParaRPr dirty="0">
              <a:solidFill>
                <a:schemeClr val="tx1"/>
              </a:solidFill>
            </a:endParaRPr>
          </a:p>
          <a:p>
            <a:r>
              <a:rPr lang="en" dirty="0">
                <a:solidFill>
                  <a:schemeClr val="tx1"/>
                </a:solidFill>
              </a:rPr>
              <a:t>This not only helps institutions improve their bottom line but also supports financial inclusion by responsibly extending credit to individuals who may need it most.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676050" y="1230200"/>
            <a:ext cx="8076900" cy="36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Initial Setup</a:t>
            </a:r>
            <a:r>
              <a:rPr lang="en" dirty="0">
                <a:solidFill>
                  <a:schemeClr val="dk1"/>
                </a:solidFill>
              </a:rPr>
              <a:t>: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dirty="0">
                <a:solidFill>
                  <a:schemeClr val="dk1"/>
                </a:solidFill>
              </a:rPr>
              <a:t>Import libraries: </a:t>
            </a:r>
            <a:r>
              <a:rPr lang="en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pandas</a:t>
            </a:r>
            <a:r>
              <a:rPr lang="en" dirty="0">
                <a:solidFill>
                  <a:schemeClr val="dk1"/>
                </a:solidFill>
              </a:rPr>
              <a:t>, </a:t>
            </a:r>
            <a:r>
              <a:rPr lang="en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numpy</a:t>
            </a:r>
            <a:r>
              <a:rPr lang="en" dirty="0">
                <a:solidFill>
                  <a:schemeClr val="dk1"/>
                </a:solidFill>
              </a:rPr>
              <a:t>, </a:t>
            </a:r>
            <a:r>
              <a:rPr lang="en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seaborn</a:t>
            </a:r>
            <a:r>
              <a:rPr lang="en" dirty="0">
                <a:solidFill>
                  <a:schemeClr val="dk1"/>
                </a:solidFill>
              </a:rPr>
              <a:t>, and </a:t>
            </a:r>
            <a:r>
              <a:rPr lang="en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matplotlib.pyplot</a:t>
            </a:r>
            <a:r>
              <a:rPr lang="en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dirty="0">
                <a:solidFill>
                  <a:schemeClr val="dk1"/>
                </a:solidFill>
              </a:rPr>
              <a:t>Configure display options to show all rows and columns and apply a Seaborn theme.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Identify Missing Data</a:t>
            </a:r>
            <a:r>
              <a:rPr lang="en" dirty="0">
                <a:solidFill>
                  <a:schemeClr val="dk1"/>
                </a:solidFill>
              </a:rPr>
              <a:t>: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dirty="0">
                <a:solidFill>
                  <a:schemeClr val="dk1"/>
                </a:solidFill>
              </a:rPr>
              <a:t>Calculate the percentage of missing values per column in </a:t>
            </a:r>
            <a:r>
              <a:rPr lang="en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data_train</a:t>
            </a:r>
            <a:r>
              <a:rPr lang="en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dirty="0">
                <a:solidFill>
                  <a:schemeClr val="dk1"/>
                </a:solidFill>
              </a:rPr>
              <a:t>Identify columns with missing data and display them in descending order.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Drop Columns with High Missingness</a:t>
            </a:r>
            <a:r>
              <a:rPr lang="en" dirty="0">
                <a:solidFill>
                  <a:schemeClr val="dk1"/>
                </a:solidFill>
              </a:rPr>
              <a:t>: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dirty="0">
                <a:solidFill>
                  <a:schemeClr val="dk1"/>
                </a:solidFill>
              </a:rPr>
              <a:t>List columns to be dropped, likely due to a high percentage of missing values.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dirty="0">
                <a:solidFill>
                  <a:schemeClr val="dk1"/>
                </a:solidFill>
              </a:rPr>
              <a:t>Drop these columns from </a:t>
            </a:r>
            <a:r>
              <a:rPr lang="en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data_train</a:t>
            </a:r>
            <a:r>
              <a:rPr lang="en" dirty="0">
                <a:solidFill>
                  <a:schemeClr val="dk1"/>
                </a:solidFill>
              </a:rPr>
              <a:t> and confirm the new shape.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 dirty="0">
              <a:solidFill>
                <a:schemeClr val="dk2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676050" y="484050"/>
            <a:ext cx="8261042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tx1"/>
                </a:solidFill>
              </a:rPr>
              <a:t>Data Cleaning &amp; Preprocessing</a:t>
            </a:r>
            <a:endParaRPr sz="25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821638"/>
            <a:ext cx="8839199" cy="3290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106175" cy="3880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177" y="4200200"/>
            <a:ext cx="7851175" cy="7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/>
        </p:nvSpPr>
        <p:spPr>
          <a:xfrm>
            <a:off x="468600" y="509250"/>
            <a:ext cx="8206800" cy="4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Process Categorical Columns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Display the unique values of each categorical column.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Convert specified categorical columns to numerical values by mapping unique values to integers.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Convert Categorical Data to Numerical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Define a function to map categorical values to unique integer identifiers.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Apply this mapping to relevant categorical columns 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data_train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Handling Correlated Features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Compute the absolute correlation matrix and identify pairs with correlations above a threshold (0.7).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Drop highly correlated columns to reduce multicollinearity.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412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475" y="1038225"/>
            <a:ext cx="8839199" cy="2375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25" y="628452"/>
            <a:ext cx="8839198" cy="3118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/>
        </p:nvSpPr>
        <p:spPr>
          <a:xfrm>
            <a:off x="346650" y="593325"/>
            <a:ext cx="8450700" cy="4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Fill Missing Values in </a:t>
            </a:r>
            <a:r>
              <a:rPr lang="en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flag_docs</a:t>
            </a:r>
            <a:r>
              <a:rPr lang="en" b="1">
                <a:solidFill>
                  <a:schemeClr val="dk1"/>
                </a:solidFill>
              </a:rPr>
              <a:t> Columns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For columns like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flag_docs</a:t>
            </a:r>
            <a:r>
              <a:rPr lang="en">
                <a:solidFill>
                  <a:schemeClr val="dk1"/>
                </a:solidFill>
              </a:rPr>
              <a:t>, fill missing values with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Convert </a:t>
            </a:r>
            <a:r>
              <a:rPr lang="en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DAYS_*</a:t>
            </a:r>
            <a:r>
              <a:rPr lang="en" b="1">
                <a:solidFill>
                  <a:schemeClr val="dk1"/>
                </a:solidFill>
              </a:rPr>
              <a:t> Columns to Positive Values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Make the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DAYS_*</a:t>
            </a:r>
            <a:r>
              <a:rPr lang="en">
                <a:solidFill>
                  <a:schemeClr val="dk1"/>
                </a:solidFill>
              </a:rPr>
              <a:t> columns positive, as they might represent the number of days since an event occurred.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Convert Data Types to Float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Convert all columns to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float</a:t>
            </a:r>
            <a:r>
              <a:rPr lang="en">
                <a:solidFill>
                  <a:schemeClr val="dk1"/>
                </a:solidFill>
              </a:rPr>
              <a:t> type for consistency.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Impute Missing Values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Define a function to impute missing values using the mean if the data is symmetric, or the median if skewed.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Apply this function to each column with missing values 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data_train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50" y="266700"/>
            <a:ext cx="8839198" cy="1676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950" y="2648203"/>
            <a:ext cx="8839197" cy="1411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/>
        </p:nvSpPr>
        <p:spPr>
          <a:xfrm>
            <a:off x="0" y="0"/>
            <a:ext cx="8936400" cy="5607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</a:rPr>
              <a:t>Train-Test Split and Oversampling with SMOTE</a:t>
            </a:r>
            <a:endParaRPr sz="2000" b="1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dirty="0">
                <a:solidFill>
                  <a:schemeClr val="dk1"/>
                </a:solidFill>
              </a:rPr>
              <a:t>Separate the features (X) and target variable (y).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dirty="0">
                <a:solidFill>
                  <a:schemeClr val="dk1"/>
                </a:solidFill>
              </a:rPr>
              <a:t>Split the dataset into training and testing sets (using 70% for training, 30% for testing, and stratifying by the target variable).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dirty="0">
                <a:solidFill>
                  <a:schemeClr val="dk1"/>
                </a:solidFill>
              </a:rPr>
              <a:t>Apply </a:t>
            </a:r>
            <a:r>
              <a:rPr lang="en" sz="1800" b="1" dirty="0">
                <a:solidFill>
                  <a:schemeClr val="dk1"/>
                </a:solidFill>
              </a:rPr>
              <a:t>SMOTE</a:t>
            </a:r>
            <a:r>
              <a:rPr lang="en" sz="1800" dirty="0">
                <a:solidFill>
                  <a:schemeClr val="dk1"/>
                </a:solidFill>
              </a:rPr>
              <a:t> (Synthetic Minority Over-sampling Technique) to the training set to balance the target classes.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dirty="0">
                <a:solidFill>
                  <a:schemeClr val="dk1"/>
                </a:solidFill>
              </a:rPr>
              <a:t>Print the shape and class distribution of the original and resampled training sets to confirm the effect of SMOTE.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076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/>
          <p:nvPr/>
        </p:nvSpPr>
        <p:spPr>
          <a:xfrm>
            <a:off x="155343" y="786204"/>
            <a:ext cx="8703900" cy="3954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Hyperparameter Tuning</a:t>
            </a:r>
            <a:r>
              <a:rPr lang="en" sz="1600" dirty="0">
                <a:solidFill>
                  <a:schemeClr val="dk1"/>
                </a:solidFill>
              </a:rPr>
              <a:t>: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Regularization (</a:t>
            </a:r>
            <a:r>
              <a:rPr lang="en" sz="16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</a:t>
            </a:r>
            <a:r>
              <a:rPr lang="en" sz="1600" b="1" dirty="0">
                <a:solidFill>
                  <a:schemeClr val="dk1"/>
                </a:solidFill>
              </a:rPr>
              <a:t>)</a:t>
            </a:r>
            <a:r>
              <a:rPr lang="en" sz="1600" dirty="0">
                <a:solidFill>
                  <a:schemeClr val="dk1"/>
                </a:solidFill>
              </a:rPr>
              <a:t>: Tested values </a:t>
            </a:r>
            <a:r>
              <a:rPr lang="en" sz="16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[0.01, 0.1, 1, 10]</a:t>
            </a:r>
            <a:r>
              <a:rPr lang="en" sz="1600" dirty="0">
                <a:solidFill>
                  <a:schemeClr val="dk1"/>
                </a:solidFill>
              </a:rPr>
              <a:t> for balance between fitting and regularization.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Solver</a:t>
            </a:r>
            <a:r>
              <a:rPr lang="en" sz="1600" dirty="0">
                <a:solidFill>
                  <a:schemeClr val="dk1"/>
                </a:solidFill>
              </a:rPr>
              <a:t>: Compared </a:t>
            </a:r>
            <a:r>
              <a:rPr lang="en" sz="16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liblinear</a:t>
            </a:r>
            <a:r>
              <a:rPr lang="en" sz="1600" dirty="0">
                <a:solidFill>
                  <a:schemeClr val="dk1"/>
                </a:solidFill>
              </a:rPr>
              <a:t> (good for small datasets) and </a:t>
            </a:r>
            <a:r>
              <a:rPr lang="en" sz="16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lbfgs</a:t>
            </a:r>
            <a:r>
              <a:rPr lang="en" sz="1600" dirty="0">
                <a:solidFill>
                  <a:schemeClr val="dk1"/>
                </a:solidFill>
              </a:rPr>
              <a:t> (handles larger datasets).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Cross-Validation</a:t>
            </a:r>
            <a:r>
              <a:rPr lang="en" sz="1600" dirty="0">
                <a:solidFill>
                  <a:schemeClr val="dk1"/>
                </a:solidFill>
              </a:rPr>
              <a:t>: Used 5-fold to find the best parameters for generalizability.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Evaluation Metrics</a:t>
            </a:r>
            <a:r>
              <a:rPr lang="en" sz="1600" dirty="0">
                <a:solidFill>
                  <a:schemeClr val="dk1"/>
                </a:solidFill>
              </a:rPr>
              <a:t>: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Training/Test Accuracy</a:t>
            </a:r>
            <a:r>
              <a:rPr lang="en" sz="1600" dirty="0">
                <a:solidFill>
                  <a:schemeClr val="dk1"/>
                </a:solidFill>
              </a:rPr>
              <a:t>: Checks performance on both resampled training and test sets.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F1, Precision, Recall</a:t>
            </a:r>
            <a:r>
              <a:rPr lang="en" sz="1600" dirty="0">
                <a:solidFill>
                  <a:schemeClr val="dk1"/>
                </a:solidFill>
              </a:rPr>
              <a:t>: Balances predictive quality in the imbalanced dataset.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ROC-AUC</a:t>
            </a:r>
            <a:r>
              <a:rPr lang="en" sz="1600" dirty="0">
                <a:solidFill>
                  <a:schemeClr val="dk1"/>
                </a:solidFill>
              </a:rPr>
              <a:t>: Measures overall ranking ability between classes.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Confusion Matrix</a:t>
            </a:r>
            <a:r>
              <a:rPr lang="en" sz="1600" dirty="0">
                <a:solidFill>
                  <a:schemeClr val="dk1"/>
                </a:solidFill>
              </a:rPr>
              <a:t>: Visualizes true/false positives and negatives.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3" name="Google Shape;132;p27"/>
          <p:cNvSpPr txBox="1"/>
          <p:nvPr/>
        </p:nvSpPr>
        <p:spPr>
          <a:xfrm>
            <a:off x="155343" y="71309"/>
            <a:ext cx="8153400" cy="642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tx1"/>
                </a:solidFill>
              </a:rPr>
              <a:t>Logistic Regression</a:t>
            </a:r>
            <a:endParaRPr sz="25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9"/>
          <p:cNvPicPr preferRelativeResize="0"/>
          <p:nvPr/>
        </p:nvPicPr>
        <p:blipFill rotWithShape="1">
          <a:blip r:embed="rId3">
            <a:alphaModFix/>
          </a:blip>
          <a:srcRect b="2439"/>
          <a:stretch/>
        </p:blipFill>
        <p:spPr>
          <a:xfrm>
            <a:off x="219075" y="228601"/>
            <a:ext cx="8839197" cy="1579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8800" y="1980851"/>
            <a:ext cx="5479761" cy="299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/>
        </p:nvSpPr>
        <p:spPr>
          <a:xfrm>
            <a:off x="455550" y="831300"/>
            <a:ext cx="8232900" cy="43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Hyperparameter Tuning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Grid Search for optimal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n_estimators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max_depth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min_samples_split</a:t>
            </a:r>
            <a:r>
              <a:rPr lang="en" sz="1100">
                <a:solidFill>
                  <a:schemeClr val="dk1"/>
                </a:solidFill>
              </a:rPr>
              <a:t>,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min_samples_leaf</a:t>
            </a:r>
            <a:r>
              <a:rPr lang="en" sz="1100">
                <a:solidFill>
                  <a:schemeClr val="dk1"/>
                </a:solidFill>
              </a:rPr>
              <a:t> using </a:t>
            </a:r>
            <a:r>
              <a:rPr lang="en" sz="1100" b="1">
                <a:solidFill>
                  <a:schemeClr val="dk1"/>
                </a:solidFill>
              </a:rPr>
              <a:t>ROC AUC</a:t>
            </a:r>
            <a:r>
              <a:rPr lang="en" sz="1100">
                <a:solidFill>
                  <a:schemeClr val="dk1"/>
                </a:solidFill>
              </a:rPr>
              <a:t> as the scoring metric.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Model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RandomForestClassifier</a:t>
            </a:r>
            <a:r>
              <a:rPr lang="en" sz="1100">
                <a:solidFill>
                  <a:schemeClr val="dk1"/>
                </a:solidFill>
              </a:rPr>
              <a:t> with best parameters from GridSearchCV: 750 estimators, max depth of 20, min samples per split 2, and min leaf size 10.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Training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Fitted on </a:t>
            </a:r>
            <a:r>
              <a:rPr lang="en" sz="1100" b="1">
                <a:solidFill>
                  <a:schemeClr val="dk1"/>
                </a:solidFill>
              </a:rPr>
              <a:t>resampled training data</a:t>
            </a:r>
            <a:r>
              <a:rPr lang="en" sz="1100">
                <a:solidFill>
                  <a:schemeClr val="dk1"/>
                </a:solidFill>
              </a:rPr>
              <a:t>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X_train_res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y_train_res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Metrics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Evaluated on test set with </a:t>
            </a:r>
            <a:r>
              <a:rPr lang="en" sz="1100" b="1">
                <a:solidFill>
                  <a:schemeClr val="dk1"/>
                </a:solidFill>
              </a:rPr>
              <a:t>F1 score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 b="1">
                <a:solidFill>
                  <a:schemeClr val="dk1"/>
                </a:solidFill>
              </a:rPr>
              <a:t>ROC AUC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 b="1">
                <a:solidFill>
                  <a:schemeClr val="dk1"/>
                </a:solidFill>
              </a:rPr>
              <a:t>accuracy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 b="1">
                <a:solidFill>
                  <a:schemeClr val="dk1"/>
                </a:solidFill>
              </a:rPr>
              <a:t>precision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 b="1">
                <a:solidFill>
                  <a:schemeClr val="dk1"/>
                </a:solidFill>
              </a:rPr>
              <a:t>recall</a:t>
            </a:r>
            <a:r>
              <a:rPr lang="en" sz="1100">
                <a:solidFill>
                  <a:schemeClr val="dk1"/>
                </a:solidFill>
              </a:rPr>
              <a:t>, and confusion matrix.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Performance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Optimized Random Forest achieved robust performance across metrics, focusing on balancing </a:t>
            </a:r>
            <a:r>
              <a:rPr lang="en" sz="1100" b="1">
                <a:solidFill>
                  <a:schemeClr val="dk1"/>
                </a:solidFill>
              </a:rPr>
              <a:t>precision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lang="en" sz="1100" b="1">
                <a:solidFill>
                  <a:schemeClr val="dk1"/>
                </a:solidFill>
              </a:rPr>
              <a:t>recall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82" name="Google Shape;182;p36"/>
          <p:cNvSpPr txBox="1"/>
          <p:nvPr/>
        </p:nvSpPr>
        <p:spPr>
          <a:xfrm>
            <a:off x="455550" y="277250"/>
            <a:ext cx="468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Random Forest Model (Tuned)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30768"/>
            <a:ext cx="40247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Random Forest with 500 trees and tuned using </a:t>
            </a:r>
            <a:r>
              <a:rPr lang="en-US" dirty="0" err="1"/>
              <a:t>roc_auc</a:t>
            </a:r>
            <a:r>
              <a:rPr lang="en-US" dirty="0"/>
              <a:t> :</a:t>
            </a:r>
          </a:p>
        </p:txBody>
      </p:sp>
      <p:sp>
        <p:nvSpPr>
          <p:cNvPr id="10" name="AutoShape 8" descr="image"/>
          <p:cNvSpPr>
            <a:spLocks noChangeAspect="1" noChangeArrowheads="1"/>
          </p:cNvSpPr>
          <p:nvPr/>
        </p:nvSpPr>
        <p:spPr bwMode="auto">
          <a:xfrm>
            <a:off x="190211" y="875289"/>
            <a:ext cx="76200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4" y="792243"/>
            <a:ext cx="4321926" cy="12499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13" y="2570740"/>
            <a:ext cx="2960773" cy="234834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710545" y="130768"/>
            <a:ext cx="41286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Random Forest with 1500 trees and tuned using </a:t>
            </a:r>
            <a:r>
              <a:rPr lang="en-US" dirty="0" err="1"/>
              <a:t>roc_auc</a:t>
            </a:r>
            <a:r>
              <a:rPr lang="en-US" dirty="0"/>
              <a:t> :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l="5662" t="14765" r="12969"/>
          <a:stretch/>
        </p:blipFill>
        <p:spPr>
          <a:xfrm>
            <a:off x="4556760" y="792243"/>
            <a:ext cx="4457700" cy="1249917"/>
          </a:xfrm>
          <a:prstGeom prst="rect">
            <a:avLst/>
          </a:prstGeom>
        </p:spPr>
      </p:pic>
      <p:sp>
        <p:nvSpPr>
          <p:cNvPr id="17" name="AutoShape 14" descr="data:image/png;base64,iVBORw0KGgoAAAANSUhEUgAABe0AAANmCAYAAABnhaBLAAAAAXNSR0IArs4c6QAAAARnQU1BAACxjwv8YQUAAAAJcEhZcwAADsMAAA7DAcdvqGQAAP+lSURBVHhe7N0HeBzZeeb7rxMCCYAgkQiAJJgzh5wcqMmjmVHwKK4kW5YsWfLKQfau1nt37Xud4z670tpeS/LI9kqWLCuPLM0oTdIETc6BOYIAiEgEIocOt97TXUMQYm6QLKD+v+cpotld3V3hVHX1W6e/imQ8dhZGR0dztwAAAAAAwPm0b98+mz9/vlVUVOTuAQAAs1009xcAAAAAAAAAAFxkhPYAAAAAAAAAAATEWZfHAQAAAAAAAAAA5wc97QEAAAAAAAAACAhCewAAAAAAAAAAAoLQHgAAAAAAAACAgCC0BwAAAAAAAAAgIAjtAQAAAAAAAAAICEJ7AAAAAAAAAAACgtAeAAAAAAAAAICAILQHAAAAAAAAACAgCO0BAAAAAAAAAAgIQnsAAAAAAAAAAAKC0B4AAAAAAAAAgIAgtAcAAAAAAAAAICAiGU/u9gX1wAMP2Msvv5z7X/7Ky8vt7W9/u9XX1+fuAQAAAAAAAABgZrkoof13vvMd+9GPfpT73/RZsGCB/dVf/ZUVFBTk7gEAAAAAAAAAYOa4KOVxHnroodyt6dXT0zOtvfcBAAAAAAAAALiQLnhP+8HBQfud3/kdd/u3fuu37PLLL3e38/W7v/u71tvba+973/vszjvvzN0LAAAAAAAAAMDMccF72peUlLhBysrK3N/pdJFK9AMAAAAAAAAAkLeLUtN+bGzMRkdHbd68ebl7AAAAAAAAAADARalpX1hYeNrA/v7778/dAgAAAAAAAAAgHC5KaH86Dz74oH3zm9+0z33uc7l7AAAAAAAAAACY/QIZ2j/55JPu74svvujCewAAAAAAAAAAwuCi1LQ/nZ6eHvuTP/kTGxwcdP//8Ic/bDfddJO77du9e/cJLzobiUROejHa6upqW7BgQe5/AAAAAAAAAAAESyBDe2lubrb/8T/+h42MjFg0GrX//t//u61atSr3qNlTTz1l//zP/5z73+mtWLHC/ut//a+unj4AAAAAAAAAAEF0QUP773znO/ajH/0o97+zM3fuXPvjP/5jq6yszN1j9uyzz9oXvvCF3P9Obu3atfaf//N/toKCgtw9AAAAAAAAAAAETyBr2p/I0NCQC/0nu/rqq+2Tn/xk7n8ntmHDBvtv/+2/EdgDAAAAAAAAAALvgva0f+yxx+yZZ57J/e/0WlpaXFgv8+fPtz/6oz+yefPmuf9Ptm3bNvvsZz9r4+PjuXuytmzZYr/zO7+T+x8AAAgbHUdoGB4etlQq5a59E4/H3S/35syZkxsLQaBDUl3XaHR01P2/oqLCioqK3O2wS6fTlkwmrauryy0nHQ8XFxe7tgwAAABg9glsTfs9e/a4mvaiOvQK7Gtra93/T2Ty+HL55Zfbb/3Wb+X+BwAAwkil9F544QV7+eWX7ejRo+46OVVVVfbRj37UHSsgOHRS5d/+7d9sx44dLoz+pV/6JVu/fn3u0XDTNZ46Ozvt7rvvdsvpLW95i11yySXuxAYAAACA2SeQoX13d7f96Z/+qQ0ODrr///7v//5xF6E9me3bt9sXv/hFW716tX3iE5/I3QsAmInUO1q/uNK+/fDhw7l7vQ+uSMQNKntWUlLiQit9RujErk7y6rGT0edKa2ure10FYAMDAy4AU0CoXtfV1dW2aNEiW7ZsmSUSCRfwnop6ver1dPH0vr4+15tbvWH1XL2efiW2ePFiN22azlNN24mod62CZr2+3kefj1ouul/Tpp62el29fkNDg1selIPL0ro4cuSIK6332muvufWi6+OUlZW5ZfaOd7zD1q1blxv7wlIAq3X53HPPHde2z5Ta0Z133mkrV67M3TM7aB39/d//vb300ktum/zt3/5tu+yyy3KPnpq2Y/2i88CBA275+rSsYrGY67Gv7UPbib9NziTa7rUP+PM//3O3nD7wgQ+4MpE1NTW5MWYu/VJW6+7QoUPHrbsT0Umcm266ye3/znZ/GnTar/f29rpfm+izSW1Vv6jg1xQAAADhFMjQ/s/+7M+ssbHR3f6VX/kVu/HGG93tM9He3m4LFy7M/Q8AMFN1dHS4UPOb3/ymvfLKKy5wU3ihAE5hjW6Xlpa6ff4NN9xgV1xxhQvbTxZwKFRXKKRe1+rJ29TUZP39/S4o0Wsq0FWYp2uhbN261YV6CkxOFNyPjY25MP311193gbBOLPiBugI1/4SCenQrZNq8ebPr1a3gUO91Ovpo1nQpdN63b59bDvqrz7jJJxo0zQrtFN5eeumlbtpnQ4g3HXRS5tVXX7UvfelLLgS75ZZbbPny5e7EjE52rFixwhYsWJAb+8JSWzx48KCbNrXtqbSOJyYmXDvXOp56Ikb3q3ODwsvZJJ/QXstLy+SRRx5xy0/LTSfPRNucTuhpm1TpxCuvvNKuvfZad2LtZPuLoJnNob1OpmrdPfnkk24+te5Otl7e9ra32ac+9Sn3+OlOqs40asO7d+92nyf6rHrrW9/q9lmU8QIAAAin2J94crcDQz1uVKdeYb16wp0NfSEDAMx8Cm/UC1kBhkIqha4K5hVOKwhX4Krw3A841LNa5SIU1E3ugakAXMNPf/pT+973vmcPPPCAG1dhv4J0vZbCegVAClIVxO/atcu9vgKxE72eer7rtX70ox+50FUBu8IVhfMalixZ4oJhhez6PGtra7OlS5e6+86kRrdCeU3jvffea/fcc4899dRTbho0nQoxFc7r/crLy104rZMQGkfhve5H9qTP888/75ZNXV2d/eZv/qatWbPG/ZJCwb2CwYsV+qkNKUhWe9D6Urv1h02bNrm2rwBPJ410LHT99dcfN44GbQf6Jcdsou1IJ6i0vWjdKJQ+0x7xeq56a2t70Lar5aaTb1qeWsYK7RV67927151g0wk/LV+1g5lA7UEnIx5//HE3rxs3bnRteTYc9/o97XVyTdea0MkonVSZ2uY16KSL9qVqH5P3y7OBPuf8ffnTTz/t2q7aP9d1AAAACKdAhvbq/aYD1Pe85z25ewAAYTM5tJfbb7/dBVUKXv0SFyp1ot7y6pGuUEtlctQrcXLIocd37txpDz74oAvjFdRdd9119qY3vcmFIvrM0espaNdzdRFM9XZUKKTXUTA2OdxVD30Fiwrs9Z7q3X/bbbe5MF0nABSc67U0fRoUzCpc1XsoZNf/T0eBs8K5Rx991IWQel1N81VXXeUCe02zgiu9jwJpLQf1VtXjep/zyT8JouBQghqcaRm++OKL7oSOgi8dUyigVXirnuvnO7DXiRctpxO9j+7TySCtN60/rTN/0Hrdv3+/642vYPnNb36z6xk+dRyddNK8zCbTEdqrZJWCX53k0zY5eTvRL1/UHhTaa/1oW9W4M0EYQnuVhtEJNe1PFc5PbvP+oHnWdnE+9zsXa/+m0F6/qNJnnvYB+ozSZwihPQAAQDgFMrSX2VanFQBwdiaH9grwdOFFfTYoxFD4pr8KwxX4KEhXaK1ARyGcwnFR+KLXuP/++12vawV1Cv9VD/yaa65xgaB60yvQU29c3dZzdNFS9fpUYKPwSAGrpkGPqQekwnSNo171eq277rrLTZteT9OmvwoLFbDr/3pdTZNOGJwuaFU4p5MGX/va194InH/xF3/R9bb2e14q2FJoq2Xg9x7X9On9/JIvk2sjq5SEXypkMpX40TgKMTWOX4ZFy0nLU78o0PJVmKSTGRpXJ0gUjGpZ6D4FrBpH/z/RvCn80jwpRNc0aTz1MvfLBOlx/WJCIbU/LRo0bfq1gaZl8vhnQr9w0AkarSO9r0I+1a/Xe6hdab1qeek1NT26T49p3jQNmk69v6ZLj2u5TA3vNG1qW1pOGk+P+8tHg+6TEwVuem+tD7UHtdfJg+rtqzyMplsnGdRe1c70mNq7lrHqfvvlQU60XjVN2ia0XsRfr/q/5lPrT9OvadNJLX+6Nd9qL5p2f5mfKLTU+tQy0/j++tLr6rmaNk2XP0yl52r6/PfUXz1P06b3UvkqrT8991xCe72mltWtt97qgm3d1rai4F7buH5Jo+1K76vX17bjU1vTvGvd+9uPP2+6T+39ZO1Bj/nLQq+h9aTn6f+aJt3WMtP8a92dqD1rHrT8/PfVX02H7tNralBor2k4UWg/eTv1p0Xvq3Ws+zXNU9eLXstfHzpBqGnTNE6eBr3G5Lak5aT2o/nyx9Hy0fP0Hidqk6ei19a602toX6l1p+3V3yYmD5pff9lr2rXM1H60nPz2pOnVfZoeOdm+T9uvlqnG06B58edJr6vlpOf68+u3d72HBn+5ajq0Pqe2d90/dd8yefr03v5ztQz02vq80/5f62Lt2rVuG9Vr6HmaRv1f8z+1/QEAAGD2uSih/d/93d+5g3P1aDzTL2Onc/fdd9vDDz/sDn7VEwcAMLMpqPBDewUo6mmuQHpyT3WFGApNFHIoQFEwp0HBpyhsUTkMBeAKphQE/fIv/7IL6U8U5OhzScGLwhMFhwpSFIorPFVYpVDsvvvuc72BFcq9853vdKUc9LyThSgKjBXca9oVuEwNdqZSWKOw+Qc/+IGbTs23ep4q9D/Rc/W+en/1+Nf7KHQTTef3v/99N60KLU/0eauTDyrBo3EVAOokgChQeuaZZ+yv/uqvXFikgEtBp6bpu9/9rhtfy0QX9P30pz/tQmAtTz1/6nLQ+lFg9X//7/91pYkUUCmsVi9zUXCl69joxMoPf/hDN836qxIRe/bsce1A42s406Dq85//vP3rv/6r662qadcyfeKJJ+wnP/mJaytaXnp/zYPaloJiTdu3v/1t994PPfSQOzmjExKiZaP3nvz+qpf/mc98xoXAen3Nv798VDpJ0633qa+vzz3jzKm2t9q+2pyCZf811MZ/9rOf2V/+5V+6tqgAUyHnVM8++6z94R/+oVt3eg1tE6L1pWOlr3/9627Zqm3reEzr81vf+pabb50w0HxrG1KbO1G4rPWpslD6tYnWl+ZXteT1ywad6NF0newElU5G6ASanvPv//7vbnnrPfWaWidanpputfVzLY+j11HpK7V7n15Pg7YtLQe1C/XGn3zMqOWrElmalx//+Mdufeqv3x60TnSceaL2oOWpda9BZXj0qx89V/OpEld6Te3L9L4KnzWNk5+v19X+Rr8K8pep3l/P0zRpO9L6UDuWE4X2CoM1HZPXi9a32re2MbVHjT95H6p2pG1d4371q191JwS1LvTeWj96LbU5beNqS2qL2pdq/esiz3ofbbtqs1p+Wudne2zvh/Za75pHrTvty05H61zbmaZPy1rLWX+1X1Ob0vLQNKsdTF7WouX613/9166t+2G85kXzrH2B5kPTokHzqzJnWibaVjRonrVvVZtQu9J4U39Fpc8ntTe1H02blqVeW9Pnn5zy94dqMyrhpnG0j9JJAvW617zpvbTv0n5Z26z2NSfaLgEAADC7nDo5OE/U+00HpDpIni76Yq7X9L9gAwBmP4U2Cp30V6GMwpPJ4Yw+ZxSG6LNBvZQVpCnkPFHvZ1FQo8cVGilUU5CjzxaFPwrN9FoaFDLpBIDC0NOFyXovBWX6eyZBi6ZVAZuCIr2+SuNoWvwwfiq9t6ZbIevkkFTzrkBJgwKgE1GAOPn9fDrZoccUGin8UiCnHr66T+GUQjAF3qJewFpGCgsVPE6loEl1mvW4QjkFlppOjesHhgrBFEZqOWte/ZMqClcVwilg02uc6PVPRIGfXkMnTPQ6mlb98kEnNvz7tTwV8Coo83+JoQBQj2md+oGbwjJNgwK2ybRMtdw0XwrJFfZpWSu4U7Dpv8d0mrxeFKJq2Z+Ilrl/4eLJ61XtVutAJ2AUsCuEVBipefG3C72uQkWdNNFrTKblr/sUsGp+deyl+xTSavvS62g56nXVZnRCRtum/1wF+lpWCkd1LKjp0ftqHWlZKtjUa2pbOx+0rajNaTlqXzGV2p+Wh0JyLUNttwqxNW96noJqBbAatJwm0zRreWs+FOYqBNey0vxrHvV++vWDnqtlr7YymaZJy8YPwLWe1W61XWs/5L/31PcVLVvdryBYJ570V/Pin3jRetF9Wu7azjRvmh//ufq/9mvajrWtaZvUtqGQX4PCeM2T9gHaHyhY1jhqW2rn2p79E2O6X/sUrfuzpWnRctBz1banDmovetynZa19h4Jw7R/EP7GrZabpUVk0TZOWx2Ravtp2dZJIy1vLVvdp/6P9m15D607P02tonnWiTstN76F2oX2E3lcnPvUe2l/5tJ3pIuV6rta3pt/fd+r5/jpTW9NjWoZ6XI9pmau9aD+mzwDttyaflD3V5w0AAABmj4vS014H/foC4deb1cFyvoO+CIrqvqrWLwBgZpvc015BjcrZ+OVBFKYo2NHniMIs9U5VyKGa7gpnFbqKPhsUnChwUs9UfUaojM3pwnO9h8I7vb5eS6+pEEchnMIZBXQqV6NyNAqhp5NCMQ0Kc1QmQr2NFeacbVCjz1eFhKIL+Pq9rSfTslXwpYBJ9ZP9z0+FSAcOHHDhrJazH6KqXINKtai3p06AaJlrGalnrnq0ah1NDZW0DhUC6/UU7qq2vIIxhV8K1tQzWQGx1qmWp+qQqwyQHzZq/SocVLCrx/Wep1sWmhatQwVueg3Nu0oM6QSI5kH/1/pUQPzNb37TBXcK0fTeusCrloMCW4XbWg8K4xSaafr9tqPHtHy0bBR6ahmqbWn56IKZajMK9jQfZ0vHNVpumo/JPe21XtQGdRylZaT3O1FPfv26ROGvHvcH0TTq+Rq0zrR8NJ8qG6M2oras+dE2o21Oj2mZi9aP1plCXc23AkzNo+ZXz9WvLLTutaz0+gpY9VytB607PV/bjp6v3sPqJa7SU7rgqMJlPxjWySatC733ufa0V5Csdanl7wfB2p8oJNVJGoXr2pfcfPPNbjp8eq72JRpfz9V61Mk5zZsCdO1PNH96/urVq904ao+ioFr7DIXfWq6aDy1Pjaf51DQpFNZyU9vT+6tNicJfzb8Cd/Xo1221Q5081DLUctd7qp1qe9PrTu5pr+nVtqx50y8XtH1puvUrHa0jrRe1J50o0fas9q350brRc/02obaux7V9aRvx30PPV6Cv5adp1b5F7UTzpm3KD7D919fy0vxpPs+E2orWneZN76VwWq+n9/MHtVfdp+Wt6db7q7184xvfcNuitjO1F60znZgThfJaH9oHaDlomvz1pXWl/ZLajX9CQPOr52ueNL7araZJ+wi9lj4LtC7V5v3SNWozWqdqZ3pc61TLT9OkkwZq71rGWpf+dU/06w6tI4Xzeg9tf3qu5kvtVG1HbeWOO+5wF1PW+2l9+m1OzznbzwMAAADMPBcltNcBtA5mdWCqL+zTMYgOxD/84Q+7g2AAwMw2ObRXWKPAQ0GTwgqFMArQFB4ppFJgpvDyHe94h+vJqPBDFMrq+RoUgin8UKDjBzcnotdXKKKAUe/hB2AKxxRKKdAUhdwKdvT4dNI8KZzTPOkipJpuzc/ZhjTTFdor1FJI/5u/+ZvupIhu+70+NU0K6RT4aR0p0FKQpbDZp9dRD1+Nq6DrhhtucI8rDFN4q97FCqz+43/8jy6gUkipUEsBldal3l/HDArV1Ab0XAV7p6KAVCGa5k3HCAoRf+mXfskFkAq9/ABVPelV4kP3q8yRxtE0ajn4YbUCWK0PrWv1mPZDeD+0V8CqNqWTAjfeeKNrY5p+Tbvm61zKWFyI0F40r7/wC7/gplvrVCdi1M4VRCok1fGUTk6J1rOer2BZbVPrUddyUDCs5/qD3kuvr+BR26sCZi1vrT8tawWcWi4f/OAH3fUg9J56jpaX3k9tVstUPY7PJbRXu/JPNmhdabq1DhXG61cT2i60TrRdqT2rHfsUMmvd+cGspk3rXaGqlpXWh6ZN+wCNo/Xu72v80F6hvvYJWi4KXTUPWi56vvYrWjYKnDVtas+i5aptUb2yNR/a7t/61re66dNzFfTqvbX/UbvVSY7Job22PfXsV296PV/Hwm9729vc89SW9RqaD7ULbQ8aR/sDhdiTQ3ste213Wufvfve73W2tG23zeq62ZQX7ek21Gc2fHtfy0V8tY02fH0Tr9c+EH9rrPfQdQctX/9dJCH/QvkL7fbUptRXt23WyTyc5tBw1LbruidaZplv7bJ1M08kOzZvag7Z97Z/ED+217BTU/+qv/qo76aj1pGWjdqFtUL34NV1a3tpHKXz324XeQ21by1T7A02bHte+Ts/RNOtzTG1A60TTpfal52qZapr0fmrrakeaNr2W3lft+O1vf7s70axlqe1c25Lawak+vwAAADB7XJSjvv/wH/6DO4D1v+hMB33R+9jHPua+yAAAZhcFGCqD8JWvfMX+8R//0f75n//Z/u3f/s31YlTgpXBKQZNCtMm9OxXYKSBTgKvPHD12uvBbgZ6CMAVP6uGq0EV//dsKeRQaa5zThcfnQtOrcNafZgU5ZxvYTycFRQr9FDj5ZVAUOGpZKmxS4KWQUsGoSkXor0895BUAKwzUuHodv5eoxlOAquWp11UQqM9wva6CKT+cUzit//uvo3VwOnoNvxerAi791TQqYNPr6v9qUwraFMIqhFPYpvfTdGrwyyQpVNN7atzJ5S98ei09TwGrAjk9V6G03kfTHVSaTs2f1okCSk2z1rWCYC0PhblaRwpUFfIqAPXLEGq+NL8KErUd6P9qp1p/eq5eR9ue2oOepzat5a0wUu3aDz613tWW9Dytf5200e182rvWlYJlle/5whe+4PYXX/rSl9wJA4W8mk6FvArGJwf2onaj9a7p0l+1da1HDVo+mkYFv5on9f6e3NZ9mj/Nvx/W67aeq+dp2SoQ1jRqv+XT6yjw9nvn64SIglotCy0ftS+F4v62Npn2S5oenaDSfkNBsLZVv7e71rNu67maHq1LnThRu59K+z69j9q8P/+aBu1XNWjZaRq1HLTP1fLTOJo3BdH6K1rPWudnS+1Iy0ptQ9M7edB+QPOhbVhtU9ujTqrqth7XSRS9vz/NWtZqZ1reWtYaX+tsMrUzvZ+2Wy03f/+m+9QWFKDrlz7al2gctXctfy0H7Zt1W/dpetXedYJA76F9mtqB1o22H02jlq3fjrROtew0vZpW7UP0uF5Tgz5XNG2aBm1fmmcNel8CewAAgPC4KEd+Ovj9xCc+Yf/wD/9gX/ziF6dl+OxnP+t+Yg0AmH0Uaqnnuy6qqPri6jGr3pfqAa0QSr1iFfgpDFEA4tNjCkxEoYiG01FYovH01w9e9Dr+bf31xzkfAcrkadbrn8k0n08K6xR8KUCaOi0KoRTy+SGtAi6Fej4FWArwFJopEFNoqGUnChoVVGqZaj7Vw1Y9YhX0+oNCOT2mZe7/ukJ/p4MCNg2iedDgT5vP70GsadBJA3/8yRSmKeDUMtLxzUyhbUVBp/5OpvWswFPBoUJgha9qjwp5Fdrrr5aTtjOt28nrS72fFc5rfSm41EkWrS8NWr/qha0QUu+rcHTy9qMwU2GxwkyFk+dK06v1pB7Y/vUI9KsD/V/Tp/dRyKue8Aq0J9N0a9D+RvOmnuUqi6J26vci9/cFaucnCr61bBTE6j2mBuxqH9qetDwnt2NtC3ovbUOaf/XqVrvy6TW1jelkg6Z/MoXCmi4FzFoneq4fBPu0PPV8tVHd1kkNnTjQfEym7VvbqNa/T++t+/2TUbqtgH7yOLpPr+vvf7X8tP7PlpaPplE95vWrl8nD+973PtcTXiG51oHak+ZZ76vQXIH+ZGq/6gmv+dHy1vjahidT+9O2q3Wi9jh5mek5WsdaVnot/V/rSL92mNzm9ZoK2v1tRO1f61HzonWpZay2pJJn2r/ptn7FohOa57KMAAAAEB501wAABJ6CFZW++ehHP+pO+uqvyjMowFFIpxBncgDoUwjjBzEKSBRwnY5eS6GLQhi9pgIZhVKTb08eZ7ppetXjVGGZ31PzYlIwrwBR0zOVwiyFsArMNJ568E4O7dW7VaGXlp1fFsKn5afwSkGYyoL80R/9kf1//9//d9zwF3/xF/a5z33OlZrQslDQpb/TQaGlXk/z5fdknUrBm+ZPQbYCbI0/NejU4xpmGrWxqUGlaJ1qfrXO1L4VLuuvtjOdhNF6UykXrZs//uM//rl1pvWogFyBqr++1Ib9IFfbkAJk/Z1M60HvraA7n+WpdqiTLbp2wq//+q+7/YUCX5UZUcCredF0aDue2qY1nWqTao+f//zn7fd///ft937v99zwB3/wB/bpT3/aPSZ6jROFrnpdzZumQ7cn85ft1O1ay1TLR+tCz9Pzp+7P9LwTLTc9V9ucpkXjKCjWup1Kr6f1rTattq/1OXVb0vLQstc0TKXX1HtrGvUaU6dD/P2Wv08+W3ptbYfaV+jXAlMHnfjT9Gkb1IkOzbPai6Znajv251ev548/9YSfxtHzp86vxtf2ruWk56lcz9e//vWfa+saPvOZz7gLKCus1/ToOWpj+mzSZ5R606sUj8b767/+a7c/UykjvabaGgAAAHAyhPYAgMBTUKNyDCp3oF9Vqf666v3qQq0KstSDUaVWFLRMDosUxiiUUZCk8EU9UqeGrlP5wZ2CJ4VQ6mGqsE+31YNVYZUfOGuc6aZ59QNkTbN6b55ums+VXvd0r6351nAiWq4KJhWy6cSKerOql7PfA1klO/zrDehxf12I1pOWtdaRHvfLYEwe1CNb9fhvv/12d9FQ9Zo9UaB4LhSsadD0KEzVMJVCPc2fBk2vxp/qVMtnuvnL7lTOZJ2K5k1Bp/5Opfv0XnodzbP++utLf9WjWr9uOdE606DrA6j8jLZTbZ96vgJNPdd/3xPNi78upobdZ0PrQmGtepyrZ7b2F7fccotrQ5omBdXqLa0gdXJPeU2j2qsCWNVT16869Dpqc9r3aL70V72yRfOiYarJbWbqPOr/ut9fnj7d1vLxH/eX/2S6T/M29X69luZJf/1lq78n4i9bf9r1nKlOtPz1npPny5/GqXSfxvXbzNnSc/X+2t8qiJ886ISE5t+fNv89NL7/vlPpMQ2iZXSy7Xdq4C8a1x9fnwE6ETS1nWvQrx/0qw39OkDtTe1dr6lfJahuva77oMd0W/erp70uUKt29oMf/MD1wD/RLzYAAAAAQnsAQOApKFePRQVmCohVU1mBoMI4ldRQj25dvFOB8eQgXeGiQhQFNwrZ9fiJgpvJFPzr9dRLWOGRykAoNNI0qLa0QmOF9hpHofp0U1CoaVYIpWn2y42cLT1fw8nCOdGyUFh4Kn5IdyrqQa/e9gqfFNwrqNd6UPCpHsQKrKb2AFbQpvWiEyEK5z/wgQ/8XEmMyYOCL63rE/WIPxf+fGnZTA7oJtOy8x/zQ8upzmT5TBdNgwbxg9epFE5O7UF9MicKOqfy246/vvRX61o92d///vefcF1peO973+suNKuTNXofP0zWNKvNnahN6r6ThatnSutCAa/2Fyq1ov2F6pXrmhe66K62Y5X5UTCvXw7406ETEjr5993vftf9+kPb4W233WbvfOc73XzqQsN6vmqri553onnwt7uzoeWi5aPX07yfaJvVfZrGqffrvbRe9NdftidqF+IvW72fhhNN5+mm/3SPn2iZnA9az5oOzdOJlpdMbktaRifbfrUspvKXkZ6n9q7yaydq55MHnazSZ5TamAa1fV0QWI+9613vcuG+/+swXYBbpZtU8k2/SrlQyw0AAAAzB6E9AGBGUqCiYE7BoAJhXSRUF5qcXHdc9yskUeiuHo5+mZVTBSTqja9e+wrM1etddZEV4Ok1FE4rZFZor1IwGudkAdm50vQqbNT8qbSMgsRzeQ+FRgqcdBLiZCGoXyImXwq11CNZwaNOZqjWs9aH1oWCNb+G+WQK8HVyQqGZplV1qU9UEsMftOzV43Vy8J8PnXzxS23oZMOJerv6JXH0V0Gwxj9VYHm+ad61rDTNCnA1TKXp1XqdbnpvtX399W9rnZxoXWnQtQAUmPs9pP165/6vVPR3Ms2Ttk2dCJuONjmVej6rp7zambYnhaU6ueTvD1RiRu1V11+49NJLXdiqX/Lolx4K/fU87W+0H5huWqdaPgrcte60bKZu82qDJ1pueq62LS1bjaMTESdqF3o9nUDTOGr7OiGp/cNMpG1QJ+80z9puVfZm6slHf371uD/+ma47ja9265+s1f/Vfk7UzicPOsGrfYR/ckDP0zTqZK/KM6nE22/8xm+4cksK+LVffvTRR906O5d9PAAAAGY3QnsAwIylIEZlMBQaKwBRaK+e3n5IrWBKvR1VwkABikJ7XdB26gUJfQrF1Av3+eefdyGKQkeVRdD7KODSXz+c0fsouFdAfbJQXBQM6gKYCgQVmJ2OplfvqffWc15++WX3/JP16td0aro175PnS8GcwlKFkHru5CBPt9W7U/Og557qJMaZ0Hv5PZv1erogrcqPKAjVMlMZiamhve5Xz3ktO82n3+tZQdnUQcGX3yNW63E6KEjTIFq+OjkydTmox7Ue0zLW/PnjXyxan2rTChQVSGodTqbp14keDdNNpY38XzrovdUu1Z5PtL40aFp9+r96ICv4VCDvX7B4clCpk2UqW+PXzZ9u2n4VqKqnvL/9alvXr0FE4b2CX/3VeDopoTar+fVDbp2I0jDd9B7a5hUQa/617Uze3rVetV2plIqW02Razlquml5Nu56rbV63fVqeais6oaZ15peZmq5t6ULTfkDtSfOsXuvadqeuF82/2pNKHmnfofG1DZ8pPUcnCXViSm3V//WQ9kVT27q2R3//pL9arnp/ja91p3WkdayTlGp7WtfaV+p5em2tH/8zRO1UryF+ewQAAEA4EdoDAGYsBWkKY1QuR6GiLu7X1NTkgkGFJQo/FNTogoAKwxUOP/DAA/b666+72wofFYIpOFEZGgVe6mWvEEgBiwI+vb7CFQUxClTU61b1vBU4Knz82c9+5oIhBeZ+z079VfimIElBm17TD31ORwGcQh318NV76KKfCuR1wkHT6E+z/iqIU+io+VapBf2awKfASa+l8TSOlotua141np6j+xUOTg2rz5aCLL2fejJr2Wv56sSHeg1rOarXtUKrydSzWPOodahpU7kIheQKJ/35U/ioeVYIrWlViJXvtPp0UUudGFG70bLVelKb0Hv676v1puBPAafGVeB2MfnBs9q0ptFvd1qn+r+mX21YJxqmm5aTyhzplyDq2fzTn/7Udu7c6dq13t9vW1p/avdaX5o2BZL+yTNtS6LlqmWu5/rtWNOsEld6/uQwfzopVFUb1Yk3haE64abpUJvSslW4qr9qw5omf740TZofLVst8+mmbUG/6NFfvdfjjz/utgVNg95f61X7JG2zU38RounVtqVwWcvZnydNr98udFvP1bRrGWj/pfU5U2m/7m+Puq15075Y+1zNs5ab9nFqZ5p37Zs0vn55daa0v1eb1a+EdKJjz549br+m19Uy9fdRWl9qx1o/Wk8+rSetQ20L/jbqP0d/FdL7JwC0TkTvqc8anbzR45oPzZP20Rr0+XG+tg0AAAAET+xPPLnbAAAEhgJfBSQKrRVUqB6wwheFGlOp57hCDYU3Cok1nnpFKwxRAKKwUEGJwhUFbwpS9Np6jnrcKpBRMK7gW6+hkFb1q1UzX71tJ/dIVRCuaVBwo9dRqOsH6gpZFNAowHnhhRfshz/8oQs3Fbyot/nJpn8qhW9+r3UF1gqUFT75Iaf+6n719P/JT35iDz74oJsv/aJAAblo3jXPCsP1V9On5aR51a8N7r33XhckKThSaKma3zr5IQqpFDip7rdeT6VB1DvXD5dORK/tv76mTcvB79msetAKFycvR60XrSMF9novBWxaTppnLVu9hta9pv++++5z4ylA83vdn47e3z85o5BbFyGd+v4KlPV+agvqheyvP733008/7dadlpuWiy5kqp7m/ntrfC0fzaMCU10kefLr50PhtaZJIfLVV1/tgnKfAmWtT72/2q7+r2lWG9QJJC0ztRW1E607fxAtV7VNDWrXat96j8nLU2Gj3lvLTvN2ww03uGBRy0vtUoG92o3at5atxvWfo+BdbdLfjhSMa3tUQKxlo3al6dI4eg0tW23narva/h555BEXTGr703tr3nVy5UxoH6H1oWWh99P6mPrLCE2DXlfLT++pv/r/VVdd5dqVpke/IFA7VFvQ9GtZKhC+//77XTvVMtQ0q12rXfgnIvx9i15DYbIunDyV2pq//DVfqpkvWgeaZi0/rVetQ72H3kuvp+WifYD+r2WtZapfGOl9NP2ibVOPadlqGWh69Bp6L7UnbUO6XyctdL0BTbcfDvvTpHWoNqH2rGnyaRy1B20XWn/aFvTrpsl0Qu25555zbVLLWdccOdN1p/2G1p3mTycutO5OFbD761H7b02TlpnmV+tT86jlp2WmNqVx1Y786fH3YVpX2l4U5vvlbaZSe1dvfn/5qB2oXWg9atA2p/aikyw/+tGP3P5E0y7aPr7yla+8sdzUpjSNeh3t6zR9ml5tm9rGdIJA9BoaX+tR+2X9X8tH7UDtUSdoNA+aLwAAAMxuhPYAgEA6m9BegbACQYUqGlfjKNRSGKnH9H8FVAo8FHYoYFKIokBOwYvCOIVNosBKtayvueYaF5wrzJtM/1eYo2nRX1GQpRBHPVn1egrf9HqaBwXGCvgUqCvwn/p6J6Lp1rRquhVOKaxReKNAavJ7aPkotFUAqzrcqpvsl4DQ+yj00XLROH7AqkHBqAIsf/oVxCrUyie0Fy1jhbV6rl5Tv0pQb3qF3VOfq3nU/Gn9aDq0rDRouWneNGj9aLlqnWldaB4VJp5uOkTL6lShvV5D761lp+Wr6dW4OhGj0EzvrWlU7/I77rjDtScFir6LFdrrPRTwKvTWoOWlcTXtmgetQ4XsKv0ynaG9P57Wlf6vtqV2pOWsEypaX1pufrvX9qFlp3bml2JR+9Ay1/PUJhViann7257amF5X4/rzfqbB75mE9qL313LSNqv31Tz55WL0mP+4lpUe13rWa6qN+CVstA1OZ2ivadD26oexem8FuloP/gkYvze+pknLf3Jor+dovfivoen392/aFjVtmn5tPzo5p5Nfeg2NO1NDe39daf71fLUnf31pOrUe9Fra72p/rnWsefadSWiv11e70LLQbW0bmn8tV7+9a9nqfu3L1N61zxO9vx5XyK9tU9Ol5/jrQ/OgEyhqJ3pvvY/ofbT9aNvWXz1X7U2/ahG1Qa3nydssAAAAZidCewBAICmkVkCi8EPBjAJpBY1+0DyZAg8FSwoAFfopHFfwo3BD4YgGBbcKuRQmigIRhWgKXBT66D0UuCjUUkirwE/Pn0qvpfdTCKRgSQGhAis/aFHwpP8rINI4Cq90AkAh1+Qg7FQUpum9FdbqeX5pGfUsVQikQE/Bp8bRe6in8Fve8hY3vj/Nei8tK82vlqXmU89VKKSgSsGbH9xpnvxpFC0PLRsFTAoKFfpq2Wm8k9HralnoOVoWuq0e9goI1Yt06nP1f723gj0Nml5Np5ahplO39bjWpQJKvY6mW+9zqunw+eGzwkoF/tdee+3PPU/rUQGlgljRuvPLUGjZ6dcRCq0V+ml+Jj9foaiCTs2bwls/rJsOCtw1Derlq6DV74UrCge1vDRf/nrSSRatd60/ha5q65o2hYJad5p/UbCp6dayUdisda7lPjkA9HvDa7vT66ht+SdXNP9qT7pf06RtTq+padA61zRpWapNap0p2PZPVOm5uu0Peh8ta61vLWsFnm9961vda2h6FLhq3s+0pIm2e//6Etp2VQJGPdJPRtOp6dZfLU+Nq/fSMvS3Zy0rtUPtG3TiSW1I0652pfaoAFXLQjQfClg1/WoPWm5TaX79fY7anV7Pp7au6dbrax70/n5b1HatZaHtSe+htqj2punWNqxlq7as/aPWq6bfX9eafo2vtqCLdivE1rLV+4lOdmhda/r1PO3/tK37+xHRODoxo+nRutE2MfWEiKZZbU5tUu+n+T/Tdadlpl8saR1q+k90DYypNM96H7U1TateQ/sNLVu9jtqppkH7X312qA1PpuBdobof2GvfMpWWkdqm2oS2RfH38/7y0uNaFlquavP+PGt5aLr8tqTxNW36v9aZxtW0afBPJmvwtzVtl/7JJa1HPV9tTduU2iyhPQAAwOwX8Q5sp6c4LAAA00ghjII9BdSi0GRqwDiZxlW4oY81BSkKT/xgyue/psIQhVn6v8ZXWKKgRGGIAhUFYH6Icip6Df/1FMYoqFHApff1gxeFMBp0+2xp2vS6en2Fd/40i6ZNy8J/D0233nPyPPvzqwBPz9e06TlaPgqK9Hq6X0GbQkuFk+KHhuphrPv84VQ0rRq0DhTuiQJIPW9qYDaZnqP396dRt/X+mg9/OWq96DX89XImNG8KvPSaev7UkNGn99e8atCy0jLSff5y0ntqHqa+r9aJlo+mzw9Mp4sfxGv+FT5OXX6aPgWAmmbNn2h6NZ8KMrXeT7TutGy1brSs1W4UAuo9Js+b2pveW9ud5k3tQq89tV3pffX+Ws56jvjrTNPhL7upz/Xbs6ZB06PlrffRPKpNavr819M2r9c5E37b03QpLD3ZCT7x51HtQ9Omdqr31209pmnwt2ktG72eXkvbmOZXJ3emtm29r38yTff5Yf5keq7mW4Neb/LJGNGy0PO1bjWutgPRuHpNDWob4k+zlp1P68Vfx3odf1+hcbS+1Ta0biY/R8vNnybNs6ZJ8zl5nWkcLSutby0Tf5zJNO1aLnpfUbs503Wn52rdadr9dafpPB1Nl57rT7veW//XOtM8ahr9YSqtKy1LPab16J8YPRG9ptrL5Pau9/bfR8PkdSSaF3+adFvrYvJzNH/aPvT+uk+Dz28nfhvU+4umUduEtqnJ4wMAAGB2IrQHAAAAAAAAACAgju+CCAAAAAAAAAAALhpCewAAAAAAAAAAAoLQHgAAAAAAAACAgCC0BwAAAAAAAAAgIAjtAQAAAAAAAAAICEJ7AAAAAAAAAAACgtAeAAAAAAAAAICAILQHAAAAAAAAACAgCO0BAAAAAAAAAAiISMaTuw2EQpBbfCSSu+Fhy0QQ0UYxE/jtlDaKoGEfipmAdoqgmwltdPI0AgBwLgjtERpq6sFv7hF3gMdmieDy26hu004RTJHcN2X2pQgi2ieCj896BJ/2pcFuo9ntyN/nAwBwtgjtEQpq5qlU2sbGkgH9khyxaNQskYh7fyM2Pp60dHomnGRAmOhLRzwetYKCuE1MpNwQ7C9LCBu1UX03VhvVflX7Uu1H2ZciCLLtM2KFhXHXJrPtM3uMAgRD9ng0Ho95x6Qxd9ys42faKIJE+1F9X9K+NJXKeMej+t6kR4LVTrUN+d/tAAA4F4T2CAUF4AoYBwdH3e2gUcgUi0WtuLjAfVEaGhq1ZDIdyGlFePlfkObOLbSRkXEbHZ1wX5aAoNAX+Vgs4tqo9quDg2OujXKogyBQ+4zH1T6LXJscGqJ9Inh0PFpUlHCD2qjfkQQICh2PKhDXZ72+3w0Pj3ttVCeXciMERHFxwn23i0aj7pgEAICzxYVoAQAAAAAAAAAICEJ7AAAAAAAAAAACgtAeAAAAAAAAAICAILQHAAAAAAAAACAgCO0BAAAAAAAAAAgIQnsAAAAAAAAAAAKC0B4AAAAAAAAAgIAgtAcAAAAAAAAAICAI7QEAAAAAAAAACAhCewAAAAAAAAAAAoLQHgAAAAAAAACAgCC0BwAAAAAAAAAgIAjtAQAAAAAAAAAICEJ7AAAAAAAAAAACgtAeAAAAAAAAAICAILQHAAAAAAAAACAgCO0BAAAAAAAAAAgIQnsAAAAAAAAAAAKC0B4AAAAAAAAAgICIZDy524CNjo5ab2+vHTx40Lq7u+3o0aM2ODhoBQUFVltba29605ustLQ0N/aZGx4etgMHDtihQ4eso6PDxsfHbc6cOVZVVWVr16616upqmzt3bm7s6ZdOZ2xiIuXNy6i7HTSRiFksFrXi4gKLx2M2NDRqyWQ6kNOK8IpGI1ZYGPe21UIbGRn39hcTlkrRRhEcEW9nGotFXBvVfnVwcMy1UQ51EARqn/G42meRa5NDQ7RPBI+OR4uKEm5QGx0fT3I8ikDR8WgiEXOf9fp+Nzw87rXRtLcvzY0QEMXFCffdLhqNumMSAADOFqE9jqOgfu/evfbggw9aY2OjdXV1WVtbm3fAUWybN2+23/u937P6+vrc2GdmZGTEmpub7aGHHrLt27dbS0uLC+31mnV1dXb99dfbpZdeasuXL/e+KMTcl9rpRmgP5I/QHkFHaI8gI7THTEBoj6AjtAcAhAXlcXCcgYEBF6rv2rXLhe3qCV9TU2MlJSW5Mc7evn37XGD/k5/8xB1Q3XHHHfaRj3zErr76avceX//61+2JJ56wvr4+9zgAAAAAAAAAhBWhPY5TVlZmq1evtrvuusve/e5322233WYrVqw4p5I46jmWSqVcz/2XX37ZysvLbcuWLXbDDTfYNddcYzfffLNde+21NjEx4cZRL3yV5wEAAAAAAACAsCK0x3Hmz59vmzZtsve///323ve+12666SZbvHixqz9/ttRr3q9lr1I7el31rt+4caM1NDTY5Zdf7gJ8ldvp7Ox0wT6hPQAAAAAAAIAwI7THcVRvdbpqyqtuvWrZHzlyxNWq1wVnVWrHp/p+Kruj+0UXv9VzAAAAAAAAACCsCO1x3qjsjS5kqzr58XjcamtrXfkdn04OFBQUuPt1W+H+2NgYde0BAAAAAAAAhBahPc6bZDJpvb297mKzCu1V076oqCj3aJbuV0ke9bofHBx0ob3q4J8P+gFB9pcE/u3gDN6/b0xj1rH/MzAEZ/D+eYNuB3N7Ygj3cAztkyF4g/eva52+E43DwHDxhmP7Td+xxxgYzu8g3tdH77tjxPr61KErYp2d2aG1NWLNzRoy1tKStsOHU9bdnfHG9Z8bvM9871/9AwDAOYtkdLVQ4CTa2trs3/7t39xFYlXK5vd+7/dcDfoz0d3dbQ8++KD95Cc/cYH8pz/9aVfLfnLw19/fby+99JJ9+9vftqamJvvzP/9zdyHcc6mhfyrpdMY7CEzZ8PC4ux00WiTRaMSKigosHo+66Uyl0oGcVoSX2mgiEfO2zwIbHZ2w8fGka6N8iiAosvvSqGujMjKS3ZfSRhEEXtN8o33q8Ht4eML9upD2iaDwj0cLCxPeEHfHoxMTKY5HcUHox9be10draYnaoUMR6+qK2MBANozv7dVjGe97kjqDjVlpacYuu6zCLrkkYitWZL/fBW1fWlQUd9uS9vuTvv4CAHDGCO1xSvmE9ip388ADD7hhaGjIPvOZz9iSJUtyj2YptH/llVfsW9/6lrtY7Z/92Z/ZmjVrbO7cubkxpoeauQ7m9MUjiE3e79kUj8fcbZ1gyB58snkiONQ2Y7GoC+7VRv0wlHaKoPD3pWqj3v/e2OfTRhEE2faZPfmpNqn9KPtQBIm/D9Vnva5HdeyznjaKs6MA3vuaZwMDZoODZmNjZj09Zn19CrPNa1fZ+w8f1j5Q34Gy/z96NGK9vRE3rgL70VG1S73iiLfv7LHFiw95zx/y2meRlZVtsttuK7Xbb48Ecl+q73XqjKXtCgCAc0Foj1OaLT3t1cyDeDA3mRZLdtnowJOQCcGkNqpeeH4bpZkiaNiXIsjUNrPtk30ogsnfh2qgAwmmUnNQID8+ruA94sJ3Besqa5NMRnL369pmZp2d2eHIEXOBfHNzNqTXJc40nnrVv/569vUKC7P/1/Mk+8sk9axPW0HBqFVXd9iSJY22YcN2mzt31HuvCu975C12++0L7V3v0q+Xss8LEm1DOmYGAOBcEdrjlPIJ7Xt6euzxxx+3e++9191WaL9s2TLXc8fX19dnzzzzjH33u9+1jo4O+5//83/a8uXLLZFI5MaYHmrmyWTalfQIapP3f46sv2NjE94BL1+UECz68qEeQyrjND4+wU/mETh+2FRUpM8Q9dDTPp/yIwgGtU+VSVD71Oe7f0xC+0SQ6Dg0kYhbQUHMtVEdP3M8Cp/C+aEhs6amiOsV398fsd27I973uKj3fS9ijY0R73Gd8MkG8Nkw/1jQr0FfBdWksvXrs7cV0uv/uq19ZUFBxkpL01ZRMex9f9xtCxfu9263WHHxqPdYkfdYrV1yyZts6dIKq66OBfJ4tKBA21HcbVMAAJwLQnucUj6hvXrRv/zyy670zaFDh+xP//RPbe3atceVvlEJHfXGf/jhh90Fa//yL//SldDRl9rppAM5/cR3aGgskAd1/hf54uKE+ymlppOa9ggafenQlw+/pr1/cgkICr9X29y5he7/w8Pal3ICFMGg9hmLRbx9aKFrk/51dmifCBKVxlE9e51c0vEoJ+jDRcG5LgKrC7+2tkZdD/nBwYi3v4q4gF2Pj41ly9fogrHqZd/enq09r/HUW358PFuuxqfvOQrq587NeN91ssF9RUXGFi5Me+1MJe2yIb0eKynJeOOlvc/yce89u7zXb7HS0ibvvi7vsRErL19gVVW1Vlu7xFatWu49p8h7L31nCt4Jem1DGqhpDwA4V4T2OKV8QnuF8AcPHrSvfOUrrm79Jz/5Sbv88su9g6za3BjmHQy22je/+U3btm3bG68/+fHpoi8b+tIxODgayC8e2YNZhfa6EK1Ce/3sk9AewaIwVF/kFYjqAp8K7gntESR+KKo2qv3q4CChPYJD7TMeV/tUyJTJnaCnfSJYdDzqh41qo/5F5zE7qHSN6ssrcNfg94ZXT3jtihSoHz4c9b77Rb3vZ1E7ckRBvOrMR12veo07mT5rCwsz3jFi9rYfwsfjGSsoyNaq12MK5RcsyFh5uU5YRmzJkrStXZu2srJsWF9cnH1s/vyk951w1Bun1xob93nfJfd5t4dduywpKbOGhmW2dOkyW7RosZWWFnvTk/Ie1wnQ4IX26oyl73aE9gCAc0Voj1PKJ7RPeUeFOsj6whe+YPfff7/dcccddtttt9mWLVvc4zq42r9/v/2v//W/3LibNm2yD33oQ1ZRUeEen06E9kD+CO0RdIT2CDJCe8wEhPazl4J59YY/cCBi27bF7LXXoi6g18VhVdJGNeq1O1KQnw31s4G+Br9+/dTdlWrRL1uWcmG9wvt169JWU5NxPemXLk3b/PkZ95g+kxXgq8e9pkMhvu7X//3AX0H/yMiA9fS02a5d272/6mk/6j0e875/Lrbly1d5r73QSktLvO9MRd530yL3/Y7QHgAwWxHa4zg64NHBUVdXl3cQNOH+/uAHP3Dhui4O+/GPf9yqq6tdzfkFCxZ4ByLF3kHekD333HOubr1K39xwww1WVlbmvoTq9b7//e/bj3/8Y++gf9y2bt1q1113nXewVWqdnZ3eweJrrp79JZdcYnfeeaddccUV7jWmG6E9kD9CewQdoT2CjNAeMwGh/cylMFzBunrLq1xNR0fEhfKqNe/3plft+ba2bPmblhYF9ip9ky1po8cnU5heVJSxysqM9/0vYypdo97yGryvci5kVxCvxxOJ7O3aWj2mcVUCJ+19f8z2vD9TQ0OD1t7eai+88Ky7re+fdXWL3FBTU+v9f673enFviLnPekJ7AMBsRmiP4yhYV5iui8MODg66uvQvvviid/DUboWFhXbrrbfavHnzXOiuHvM1NTUurP/sZz9re/fudf//wz/8w+N647/++uv2s5/9zPW21/0bN250velV537Pnj3W3d1tv/ALv2B33XWXzZ8/3/uycOxCtdOF0B7IH6E9go7QHkFGaI+ZgNA+uPxQ3u/5rr8K6P1e8Xpc/1f5ma4uXSA2W+KmqSnqQnk9t60t6h2/ZV9Pn5MK2hW4q0SNesorYNegwF6PlZWlbdmyjK1cmbaqqrQtXpyxhoa0C/FV/iZf/v5P+0cZGxvzvlt228svP+fNX9L7zlhpq1evt/Lycm+6sm+o41FCewBAGBDa4zgDAwOuFM7f/u3futI4OgBST3odNOlgSmG9QnWF7x/5yEds8+bNrme+QnsF8Art//iP//i40F617Zubm+2hhx5ytetbWlrcyQH10q+rq7Prr7/eLrvsMlu+fLl7bf+gbToR2gP5I7RH0BHaI8gI7TETENoHk3YTCttVV1515nt7I67WfHNzxF5/PWY7dmQ7PWk8hfcqcTM6mg3zdVv3eXuhN27rM1JhvcrX1NdnbNOmlC1dmvG+m6Vt4cJsr3qF8upLpRI4CvQV4us+lbZRsK/XyIf2ffqOqVDb77Sl+8bHx1wnMn0nKikp9dpisXc77vahQmgPAAgLQnscR70b1Kv+scces6NHj+bu/Xnq7XDllVe6cF4HSc8++6zrMa+69zfeeKMrjzOZatsfOHDA9a7v6Oh4I7RXqZ21a9daVVWVe+75QmgP5I/QHkFHaI8gI7THTEBof3EMDpp1dqp3fMyF8uotPzSU7VnvU295BfeqS6+SNqpDr9I3hw9HXA/6qfQ5GI1mXPCuEjYK5+vr1WM+Y/PmZUN4VSXVBWB1v+rQ67YuDuvXmz9fRkaGve+afd73wjYrLS3zvhPWuu+GCu/13VLfSXVbJVn9sN5HaA8ACAtCe4QCoT2QP0J7BB2hPYKM0B4zAaH9+aMe7ur5rkBet8fGIt6QvV/lbPbti9ojj8SssVF16LO16NUz/mT0OafgXb3gVd5G9efVE173SSyWDez1/2XL0q43/aZNaVuxIu1qz+v5Gi6kbCCv66d1WktLkx08uNcF9mvXbnAXmS0oKMyNeXKE9gCAsCC0RygQ2gP5I7RH0BHaI8gI7TETENqfHwrm1Tt+586ovfxyzJW5OXgwavv3q8Z8NrzXoAvI6q9fs/5UuweF8eodv3p1NoxfvTptixZle8wrrNfnoD8ozC8uzrgLw/q16y80BevqYX/gwF5rbm6yzs42b17HXN36hobltm7dpjP65TWhPQAgLAjtEQqE9kD+CO0RdIT2CDJCe8wEhPb5U0CvUL69PeIuBKte9Opdr9I2ra1Ra26Ouh73qknf1RV1ven1HFHYrprxqjS6dGk2gFd9+TlzsoG7etNHo9nvDvqrjLumJm11dRn3d/583XdxetGfjPZxqlN/5EiXN/+HvaHF+vq6bWxs3BYsWGC1tYts8eIl3vTXeceZ9LQHAMBHaI9QILQH8kdoj6AjtEeQEdpjJiC0Pz1tsgrZ/Yu9KoxXqRv9X73j9ZgC+127ovbjH8ddb/qjR9VzPvJGsKzAXT3eVTteObWCev+vgvjq6oxddVXSGhrSrh79ggV+vflssD9TQuBUKul60/f2dtuBA/vt4MH93vIacd93Skvn2dKly23x4garqal1+8gzQWgPAAgLQnuEAqE9kD9CewQdoT2CjNAeMwGh/ekpnNdFYtVrfu/eqCt5o2C+vT1qfX3ZdDYb6JsL6xXo64Ky/qauwF6latSTft26tKs3r2HJkmyver8u/dy52duJRLbcjT/MlABY+7a+vl5razts+/bttt7eHm9ZjHrzEHdB/fLlq6yqqtrmzJnrzeOZ1+shtAcAhAWhPUKB0B7IH6E9go7QHkFGaI+ZgND+eNo8VWO+oyNqBw+q93zM+vqyPesVyHd2RqytLVvm5uhRXWj2+HRWAb2C+KqqjF16acoWLsyWulFGrR70Cxdme9L7venV217PmekUog8PD9mhQwdt//49duRIp7u/pKTM6urqvWGxVVcv9L77FHttLuYeO1OE9gCAsCC0RygQ2gP5I7RH0BHaI8gI7TEThDm0V2/4oSGF8dmyNypzo0H37d4dtWefjdnDD8ddjfrJFLKrrI2CePWMV9mbbKkb9ZjPuLr0K1em7d3vnnAXi503L3vsP5upLE5fX5/t3LnNW3bbXXBdXq769fW2atVabxmUe8smnhv77BDaAwDCgtAeoUBoD+SP0B5BR2iPICO0x0wQ1tBe4fzgYMSefjpq998fdz3qBwaySaseU6kbhfe6wKzq1vsU2CukV6mb2tqMuyDsmjUpW748Y/X1aW95Zkvd6AKyqkmvGvZn2bF8RtJ+TcH9/v177cCBfa4ETm1tnbd8FnnLINu7XvvEc0FoDwAIC0J7hAKhPZA/QnsEHaE9gozQHjPBbA7tVWd+eDjiytt0dkZdaZuREXN16Ht6oi6YP3gwatu3qz69LjD780mrQvqamrStXJmx9etTNm9exoXy6k2vUF7/VwkclbvR/zV+GAwPD3vLa8Tbv5WY6tMrqBbVsddQWFjoLjxbpivp5onQHgAQFoT2CAVCeyB/hPYIOkJ7BBmhPWaC2RLaa7MaH89eCFahvP6vevMK7FtbI7Z3b8z27Ilaf7/Z4cNRa2k5lq4rb9aFYufMMVd/XqG8esfr/lhMPenTtnVrym6/PWk1NWHeftWbPu0uLtvV1ekt615Xp76sbJ7rWe/TPu5ce9WfCKE9ACAsCO0RCoT2QP4I7RF0hPYIMkJ7zASzJbRXYN/UFLUf/zhu3/9+3PseEPG2N3OlbdTjXheSVc963afHNL5PJWw2bUrZ5ZenbMuWlLuIbFlZtk69Plv0uC4uq/tUxz6s0umU10aGbN++PXb4cJP19x91of2KFatt6dLlbp93PhDaAwDCgtAeoUBoD+SP0B5BR2iPICO0x0ww00J7hfAqc6Oe8s3NuohsxJvuiLf/V8mbiG3bFrVXX425cH7ypubXmVf4rlI26jFfX58tb1Namr3d0JC2RYvS7v8K6sMc0E+Wyah3/ZjrXd/a2uIG9bJXr/slS5baqlVrvGVHaE9oDwDIF6E9QoHQHsgfoT2CjtAeQUZoj5kg6KG9escrkFdtevWOV036vXuzwfwrr0StrS1q3d2RNy4iKyprozI3JSXmbX8Zbx6zgb3CePWi10Vk16zJ2MaNKaurU0ifeyJ+TjKZdOVwuruP2MGD+7xhv7cexrx9W8LmzZtny5attMWLG6yystrt884HQnsAQFgQ2iMUCO2B/BHaI+gI7RFkhPaYCYIc2mtT2b07ak89FbMXXohZc3PUensjNjaWvcCsAvzx8WwZHA0+9ZK/7LKUbd2atGuvTbkLxBYUaF6zPe4LCrI96VXHXr3pdT9+nvZVvb3ddvhwi+3fv9f6+npcYJ9IFLigfsWKVVZRUWVz5sxxIf75QmgPAAgLQnuEAqE9kD9CewQdoT2CjNAeM0FQQnuVvVGZm0OHIrZvX9QaG6MuiG9vj9r+/bo/6srf6OKyPvWoV3kblbRZvjxtdXW6mGy2Fv2SJRlbuTLl7i8uJpg/GwrEFc53drZbW1urNxx2Pe21TysrK/OW82JvqHf17IuKil1IfT4R2gMAwoLQHqFAaA/kj9AeQUdojyAjtMdMcLFC+3RaF4fNBvX9/RFv/22uF/3zz8fsiSdi7m8yGTkumFUYny17kw3mNdTWpm3z5pRdc03K1q9P2/z5GW+7yz0B5ySVSnrrpN9ef/0la2lpdhecLSgotIqKCqurW2QrV6610tIybzlfmAVNaA8ACAtCe4QCoT2QP0J7BB2hPYKM0B4zwcUI7bUJqLTN/v1RF84/8EDcDh+OeMfu2dr1CvAV5k/dVJYtS9uVVyZt69aUdzvjAnqVt1GQP3duttyNetQTmOZHdex1odlnnnnC9bbXeli6dLm76Gxtbb13bFjkLeeY28ddCIT2AICwILRHKBDaA/kjtEfQEdojyAjtMROcz9BeTX1iwqyrK2ItLdl69B0d2SF7v8rgRGzHjpgdPXospFf4rjr0ixZlbMmSbNkb1aSvrk5bQ0PaVq5MW2WlSuFkx0f+tF/yQ3gF4sPDQ7Z3727vc7XfayNxq69fbBUVlVZScuGv2ktoDwAIC0J7hAKhPZA/QnsEHaE9gozQHjPBdIb2CuJVc76/37xjhmwwPzpqrkb9a6/FrKUlYnv2xGzv3mM10LXvVpWVoqJsCK/SNxUVGaurS9uWLSm79NK0bdiQdr3pKXszvbQvUvg9Ojri/U/7q7gVFCS8daLrCaRsYKDf9bpXaF9aWuoevxgI7QEAYUFoj1AgtAfyR2iPoCO0R5AR2mMmmK7QXs26tTVi27ap3E02mO/tjXqvla1drzB/fDwb5uv/PpWzqapK25o1abvssrRt3Zq0hQuzNesV1Osisup5H41mj58xfVS7fmgo26Ne7aCiospdXLbQW/jaT6XTKbdetS/LBtEXZwUQ2gMAwoLQHqFAaA/kj9AeQUdojyAjtMdMcDahvZques4PDESsp0dlbaLW0RH19r3Zx/v6Inb4cNTd39mZrU8/mfbTqkOvi8eq9I1601dXZy8sq6B+yZKMrViRttJSlWrJPQnTLtu7ftS6ujqsra3FWlsPu6C5srLKNm7cYmVl89z/g4LQHgAQFoT2CAVCeyB/hPYIOkJ7BBmhPWaCE4X2aqfJpHrIR7zPf12Y9Njt/v6IHTkSsUOHIu4Csrt3x6y7++cTysklb9RTvqhIxxXZOvXr16ds8+aU9zdty5ezPVxIKnejcjhHjnTZwYP7rLHxgPedadw73iuyyspqu+qq62zBggqvXcRyz7j4CO0BAGFBaI9QILQH8kdoj6AjtEeQEdpjJpga2o+NJb0h4y4eu39/1Hbtilp7e/b2gQMxrw1nQ3yVulGAr3I3+v9U6kG/cmXKLrssZZdckrbVq9PecYV5xxXHwnz91f9xYWjf0919xFpamuzgwb3W19frrccJbx0UWkPDMm99rfHWW40VFOgzNTipM6E9ACAsCO0RCoT2QP4I7RF0hPYIMkJ7BJ2a4uho1BobE7Z9e8I6OhSIpl0wPzBgLrhvb4/a0aNmR45E3f99CuDLyrKlbVTOZvHibImbioq0t1/WYwru067kzaJF2TI4eg4uPAXcY2Oj3vptt7a2w946bbXu7i5vPcVs3rxyq6tb7A31VlWVrWcfpNI4QmgPAAgLQnuEAqE9kD9CewQdoT2CjNAeQaMe8bogrMrZ6GKwCuf7+6P2s5/F7d57E9bcbDY8nBt5ioKCY2Vu9HfuXLOamrRVVGRcOH/ppWlbuzZtDQ1pSySyoT4uPu1vhoeH7MiRTtu9e6d1dLR5+6JBF87rwrOLFi22FSvWWElJqQvxg4jQHgAQFoT2CAVCeyB/hPYIOkJ7BBmhPYJEzU495XfujNqXv5xw5W7S6YgL7gcHI+4isip5k07nnjCFestv3Ji2DRtS3pC2Vauy4bxq18fjx5e7IbAMBu1r0umU7du327Zte836+49634/GvfVWYMuXr7TFi5daTc1Cb70V54LmYK44QnsAQFgQ2iMUCO2B/BHaI+gI7RFkhPa4WHTBWIXw+/ZF7dChqLW1RVzAqXBet59+OmZdXdHjQk/1jJ87N+N6yq9bl7aqqox3nHqspM38+Rmrq9OQdn9V7gbBp3D7wIG9tmPHNjt6tNf1qK+trbf6+sXugrNz55bkxgwuQnsAQFgQ2iMUCO2B/BHaI+gI7RFkhPa4ENQzfmAg4u3/zGtj2XBeF4htaYnYE0/E7YUXsheTzWSOTxH9cjfl5eohr/9HbP78lF1xRdJuuSVpK1dmbN68jLePzT0Bgad9i79/0f5Hg3R1dVhz8yE7cuSIu9CsetkrrA9qOZypCO0BAGFBaI9QILQH8kdoj6AjtEeQEdrjQlAN+kceidsTT8TsxRdjNj6eLXMzMaF9YsRrd7rY7M8niCp3s2VLyt7+dvWsj9qCBXHvOeNWUJD02mzalblRpkv4OHMkk0lvHU54+5i0t+9JeOuywN2v+3Qh2nGvYRQUFHrfP4JdDmcqQnsAQFgQ2iMUCO2B/BHaI+gI7RFkhPaYTmo2upBse3vE1aPXcPRoxPt8jtju3dE3SuFonMlNTOF7aWnGVqzIXiRW5W1Uh37BgowtXpyxzZv1N25lZQnXRsfHkxyPzjAKsEdGhl2P+iNHulxoXFNT663rem8/lK1vpP2OBu2XZkpY7yO0BwCEBaE9QoHQHsgfoT2CjtAeQUZoj3yop7x6yKvsjYJ59Z4fGzNX6ubJJ+P21FMxa2uLuvF80Wg2oFdt+uLibE/5kpKM1dRk7Nprk3bFFSl3MVl1wNa4ouPRoqKEGwjtZ55kcsJrHyPW2dlhjY37XRmcoqIiW7t2g7euN3vrN+72RTMZoT0AICwI7REKhPZA/gjtEXSE9ggyQnucKzUR9ajfsUMBfcz7G7PDh7MXjh0d1b5OYX7EBfaTm5Nq1N98c8quuSbpwnnVpFe9+kQie5FZDfq/H9gLof3MpX1JV1enNTc3WmPjAXehWZXIUb36NWvW2/r1l7gAXyHyTEZoDwAIC0J7hAKhPZA/QnsEHaE9gozQHmdKTWJkxKy5OXvR2JaWqLW1RdygsjfqUd/Xd3wKqF708+dnXG36tWvTVlmZsbKyjLu9bFna6uvT3nFmdrxTIbSfeVKplKtR39HRZq2th629/bD19PRYIhG38vIFrixOXd1iq65e6N2XcPuimYzQHgAQFoT2CAVCeyB/hPYIOkJ7BBmhPU5GZW78kjcqgaOLyao+/csvR+3hh+P22msx6+09lvqpo7R6y6v0zZw52dI3iYRfkz5lN9+cdDXry8pyTzgLhPYzh/YdCuyHh4esu7vLdu/eaZ2d7e7/hYVFVlVV7bWJBlu2bKWVlJS68Hg2ILQHAIQFoT1CgdAeyB+hPYKO0B5BRmiPE9Hqb2yM2quvRq2pKWp79mR71/v16wcGFOJHvLaSe4JHZW2qqzN2001Ju+qqlK1fn3ZBvmrTK8RXmK8Lzp6uV/2JENrPHArs+/p6XCmcAwf2eW2l35XDKfAawsqVq23RogbXu77Qawyxc2kMAUVoDwAIC0J7hAKhPZA/QnsEHaE9gozQPty0mltbI7ZrV8wOHoxYf382iNf93d1Ra2mJWE9PxDo6ItbeHn3jMVHeunRp2vWir6vLuNr0Kn2zenW29E1tbcbt86YDof3MMTo6anv37nIXnG1vb3PBfEVFpdce6q2+frHNn7/A5syZmxt79iC0BwCEBaE9QoHQHsgfoT2CjtAeQUZoHy5arapLrwvEKqBPJs1efz1mDz8cs+eei1lHR9Q7Ns2NPInfWz4eV+in8jfZ0jdXXpmyu+5K2oYNaSsvP39thtB+5lAZnFdffdEOH27x1tWgC+lVCkdDcXGxC/FnI0J7AEBYENojFAjtgfwR2iPoCO0RZIT24aFVqvr0O3ZE7fHH4y6o98N7lbsZGoq4wP5Eq76hIW2XXKLe82kX0G/ZkvI+f7MlccrLs0H++cxiCe1njlQqab29PdbW1urK5CisV3BfXDzH7W80zEaE9gCAsCC0RygQ2gP5I7RH0BHaI8gI7WcvlbLp7o5Yc3PUGhsj1tkZtb6+iLW1Rd6oUT82li2Ho32TX5O+vj5tNTUZW7AgYyUlGRfOV1bq/mwJnLq6tLu4rJ5zoRDaB48CafWqHx0dcbcVzCcSBW7fMTEx4X3WDbjHFiyodPXrZ2tY7yO0BwCEBaE9QoHQHsgfoT2CjtAeQUZoP3tolY2NqTxJxNvPaDA7cCBqL78cs+efj9r+/THr6sqmdAri1TNePeQV1peVZYP5lStTrkf96tUpW7Ik4+5TSZyLHe4R2geLQvmRkWHr6Giz/v6jbn+xcuUarx2VeW1rdpa/OR1CewBAWBDaIxQI7YH8Edoj6AjtEWSE9rODVpdK3zQ2Ru2ll2L21FMx27cv6nraK8QfGlKgn61hLwrr58/P2Lp1abvuupRt3Zq0kpJs3friYrOiItWxD0ZgL4T2waEgurOzw5qaDnpDo7c+Br31UmSXXXaVu9hsSUlpbsxwIbQHAIQFoT1CgdAeyB+hPYKO0B5BRmg/Myl8b2+PuGBeg8reTExEXEjf1BSx/fujrlf96OixVE6BvEreqCb98uVpW7QobQsXZmzFirStXJl2Ab164AcRof3Fl0qlXLmb9vZWa2097P6qZr1K4lRV1dgll1zq/a321lFx7hnhQmgPAAgLQnuEAqE9kD9CewQdoT2CjNB+5tAqGRkxd+HYnp6IbdsWtZ/9LO561be2Rr31lhvRo/C9tDTjhrlzs/eVl2fcBWXvvDNpmzenXF36mYLQ/uLRvkAXlx0cHLTu7i7btWuHHTnS6bXFEW99FFp19UKvLS21ZcuWe22txNunBPTMz3lGaA8ACAtCe4QCoT2QP0J7BB2hPYKM0H5m0OqYmDAX1D/8cNyefjruetRna9erl312HJ/K29x2W9JuvDFpV16ZciG+etIXFJi7mKzK4+j2TEFof/EosO/u7rbGxv128OA+F96r171K4qiO/aJFS1wP+4KCQm89hbOevRDaAwDCgtAeoUBoD+SP0B5BR2iPICO0DyaF8ENDEduxI+ouJtvWlq1Hrx71u3Zl7xsYOJa4qczN2rUpV/ZGPeoV2qte/apVaVu2LO32PTMZof3FMTDQ73rVt7Q0u3I4vb0qh5OwysoqV7++rm6xzZ8/3/uuMCf3jPAitAcAhAWhPUKB0B7IH6E9go7QHkFGaH9xaTGn09mSN/7FYlXmZmQkYt3dZg88kO1Vv3Pnz5ccUembioqMJRJmGzak7OabU3bddUmrq8veN5sQ2l8cCur37dtj+/fv8drmqHe8VeS1uUpbtmylN6zw1keRdxwW3t71kxHaAwDCgtAeoUBoD+SP0B5BR2iPICO0v7jUe35gwOyhh+L2wgsx27Mn6gJ8hfd6TLcHB837bPv5dO2mm5L24Q9PWH199gKzCvFLSrKB/WwL4wjtL44jR7rs0KGDtmPHa167SnhtbYktX77S5s9f4K2LYncM5rW27MghR2gPAAgLQnuEAqE9kD9CewQdoT2CjND+4hgfN3vuuWxI39wcdT3pDx2KWkdHxPWyn3xRWVH9+WuuSbryN5WVGbcvWb06bddem3LlcGZSffpzQWh/YahWvfYJCnRlZGTY+vp6ranpkHespYvO1rie9qpfr/FwDKE9ACAsCO0RCoT2QP4I7RF0hPYIMkL7C0O95hXUqwe9yuB0dkbt61+P25NPxm3fvmxAqpxUveTVW96/UKwuHqv9xty5GfvlX55w5W+WLs2G9hrCgtD+/NG2nvQaqMrfjI6qBE6h1wZL3b5BFDwPDg64nvbUrj85QnsAQFgQ2iMUCO2B/BHaI+gI7RFkhPYXRk9PxA4diriA/vnnYy6s130qfaMgXxTW19RkbOvWlKtR39CQdjXrCwt1PGbutsJ7/T9sCO3PH/Wu7+xst+bmRlcOp75+sa1du9GF9H6P+6k98PHzCO0BAGFBaI9QILQH8kdoj6AjtEeQEdpPLy22iQlzpW4U0jc1ZWvU9/VFXEjf2RmxxsaoHTiQDT+LirL16K+6KmUrVqRdaK+/uphsRUXaWy/Z3vdhR2g//VKppHfcNGJtbYettfWwdXS0ect20BoaltmmTVusvHy+1/Zmed2laURoDwAIC0J7hAKhPZA/QnsEHaE9gozQPn8K6YeHI9bbq3r0umisuYvKanj55dgbdep96jWfSGSsrMyspiZtq1al7YMfnLBLLknZvHm5kXAcQvvpo21b5XBU8ubIkU7btWuHdXd3ufI4hYVFtmTJUq9NrnX16/V/nBlCewBAWBDaIxQI7YH8Edoj6AjtEWSE9vlrbY3YK6/E7FvfStj+/VHvOEkhvnnLMuLCfNWz132+srKM1den7ZZbUq6H/fr12TI4qmOvQB8/j9B++iiwV1jf2HjADh7c77XRQW9Zpr1lO8dWr15rixYtsaqqGksk4t7+gXI4Z4rQHgAQFoT2CAVCeyB/hPYIOkJ7BBmh/dlTCH/wYNT1pD9yJGLt7RFracn+v6vr+BRMJcArKzO2cmU2nC8pMSstzdj8+Rlbsybt6tZXV7OsT4fQPn8KkPv7j3pttNNaW5uto6Pd+vp6rKCg0GujVVZXt8gbFlt5ebm3nItzz8KZIrQHAIQFoT1CgdAeyB+hPYKO0B5BRmh/auohn0qp5E3ExsZ00Vizo0cj9sQTMfv2txOuNv3AQDb50vat+vOFhRmbNy9jRUW6bbZsWcpdXPaOO5IuwNf9ODuE9vlReDw6OmLNzYds37491t7e6rXrpAvnKyurvTa6wpYuXe611yIX5uLsEdoDAMKC0B6hQGgP5I/QHkFHaI8gI7Q/NdWnV0i/Y0f24rG6wOyrr8asqSlbw35sLOJCfW3bqlOvXvMrV6bt7W9P2tq1aRfeK7gvKVEN+4y3rLO973F2CO3zMz4+bo2N+105HAX3ExMTtmBBhS1e3OACe110lsA+P4T2AICwILRHKBDaA/kjtEfQEdojyAjtf55f+kYXkO3vz15ctq0tYl1dUevpUSmciLecjqVdq1en7U1vSrqSN6pNr+B+06a0LVyY9o6hciMhL4T2+VEd+66uDtu/f48dOnTQBfYLF9ZZbW29124rrKCgwO0LcO4I7QEAYUFoj1AgtAfyR2iPoCO0R5AR2mdL4KjszeBgxJW6efLJmH3zmwnbvTvqetlPpm1YveZLS7O16eWmm5L2sY9NWE0NIf35Qmh/5rTtplIpNyQSCRfO6j4F901Nja6n/ZIlS62qqtprw2W5ZyFfhPYAgLAgtEcoENoD+SO0R9AR2iPIwh7aazYV2O/dG7WnnorZI4/Ebc+eqCt9ozr2Kn3j0/ZbUJCxa65J2c03a0i6+1T2RrXqKX1z/hDanzmF9X19vTYwcNRqauq84/jsmSRt0+PjY157H3OlcOJeg43FYu4x5I/QHgAQFoT2CAVCeyB/hPYIOkJ7BFnYQvtk0rzPiojt2hW1/fuj1twc8Y7FzDo7s/9X7/q+vmNJlkrfbN2atLKybGCvYH758rStWZMdCL0uDEL701NP+pGRIWttbXWlcEZGhm3FilVWXb3QSkpKc2PhfCG0BwCEBaE9QoHQHsgfoT2CjtAeQTbbQ3vNhnrSDw9nS98MDJirS68e9SqD88orx3oaa/tUyZu5czPesY+5gF696X/1VyeoT3+REdqfnLbVZHLCa9v9LqzftWuHdXcfcdv2+vWbbOnS5VZTU5sbG+cLoT0AICwI7REKhPZA/gjtEXSE9giy2R7aj4+bNTZG7cUXo/bYY3F3kVldXFYB/uBgNsz3FRRkQ/orr0zZxo0pd1HZqqrsxWUTCX3e5EbEBUdof3ITExPW2dluhw4d8Nr6Aa9ND7vtd+7cErvkki22aNESKy9fkBsb5wuhPQAgLAjtEQqE9kD+CO0RdIT2CLLZFtqr1M1rr8VcXfqWloh33GLW3R2xpqaou+/IkYiNj2eTqjlzsqH8hg1pq69Pu3BeJW+WLUtbXV3aWybmwnpcfIT2P0+B8NGjfS6wb21tcX/7+vq84/Ziq6ys9tpwvTcssnnzyl0Ne5xfhPYAgLAgtEcoENoD+SO0R9AR2iPIZnJor0lUSK8Lxqr3/Oioes6b3Xtv3PWqf/XV4y+yqXI3qktfVGQ2b17Gamoyrj79nXdO2CWXpG3hwoz3mZIbGYFCaH9MJpP2jseT3nIYspaWQ3bgwD5XFieVUgmnYquurrGlS1e4IZFIuHAW5x+hPQAgLAjtEQqE9kD+CO0RdIT2CLKZGtpr8lT6pqMjYnv3xuyBB+K2Z082vO/qyv6dXPpGuWVlZdoWL872pr/zzqQL7FWnvqws43rd06s+uAjtjxkbG7W+vl7btWu71/7bvLZ+1IX4FRVVtmTJMmtoWGbl5dne9dq+cWEQ2gMAwoLQHqFAaA/kj9AeQUdojyCbSaG9JmloyFyZm+eei79xUdnOzqht3x71/qq3fcSb/uy4CuGvvjppK1akXRkcXWRWJXDUw14lcXSb0GpmILQ/Znh4yLq6Ou2ll57z2n+3WzY1NXWuHM7ChfU2f/4CK9AFGnBBEdoDAMKC0B6hQGgP5I/QHkFHaI8gC3por8lQCRxdOFa16VWT/tFHY/b1ryesry9qY2PZ8bRtqfxNYWHG5s/PlsBR7/lf/uUJu+66lKtTH4tlx8PMQ2h/zMjIsLcddNorr7zoLYshKyubZ2vXbrCamoXedlySGwsXGqE9ACAsCO0RCoT2QP4I7RF0hPYIsqCH9uo1f/iwgvq4ffvbcTt6NGK9vVHXw14XmfUnU2G9es4rnH/Pe5K2fn3aSkqy9+mvOh4TUM1cYQ7ttS1qO/UpCFaJHNWzj0SiNm/efCstLXW966PR46/jgAuH0B4AEBaE9ggFQnsgf4T2CDpCewRZ0EL7oaFsb/r9+yPW3By19vao9fWZ7d4dtRdfjNn4eLb8jWrUL16cdvXp169PeZ8D5srfVFZm7PLL01Zbm3ZBPWaHMIb2ExMTrld9R0e7dyxe7LXt6lwwH3Vh8ODggHc75i2TIm/5xNy2jIuH0B4AEBaE9ggFQnsgf4T2CDpCewTZxQ7t1Vt+ZEQXjs3+VV36gwej9uSTMXv11ai7yKxo21H5G100Vj3nS0rMLr00ZTfdlLQ3vznpAnqVv8HsFKbQXtueAntdYLarq8PbBnZbefl8W7VqrVVUVLrgHsFDaA8ACAtCe4QCoT2QP0J7BB2hPYLsYob2eguVuXnllag99FDcduyIudB+fFzbScSGh83GxrKpUkFBtlb9nXcm7dprU+5CsnPmZHvXK8jXtqUBs1OYQnsF9u3trdbYeMAOHTroHdeMeG28zOrrl9jGjVts3rx5uTERJIT2AICwILRHKBDaA/kjtEfQEdojyC5GaK/yNtu2Re2BB+Le+6kMTsR27oxZW1vE/V/Uq16BfHV1xtauTdnixRmrqUm7sH758rTV1bH9hEkYQvuUt2EcPdrryuG0trZYZ2eH9ff32Zw5c622tt4aGpbZokVLvOPyOblnIEgI7QEAYUFoj1AgtAfyR2iPoCO0R5BdqNBeQb0C+b4+BfNm990Xt898psB7n2xqpG2jqChjpaVm8+Zl3O2amoytXJm2W27JXlhWAT7CaTaH9gp2k8mkN18D1tx8yPbv32vd3Ue8bSPtAvqamlpbunS5C+0TiYS3rURzz0SQENoDAMKC0B6hQGgP5I/QHkFHaI8guxChvV5qYCBizz8fte99L2EHDkStqSlqHR3HEiPVo1+3Lluj/i1vSXrToxD/WJBfXJxxve8RTrM5tB8ZGbHe3h7bvXu762U/MNDvzVvKXXi2oWG5LV7cYPPmlXvHOvoMIWUNKkJ7AEBYENojFAjtgfwR2iPoCO0RZOcjtNdTJybMtm/PhvNHjkSsqyviLiqr+vX6vy46q+1B9ejVi37r1qTV12dszZqUbdyYdheWjdKhGDmzMbRXT3oF9m1th+3gwQPW0dHq6tfH4wlbuLDOlcTRoMCei88GH6E9ACAsCO0RCoT2QP4I7RF0hPYIsukK7UdH1bYj7u/oaMQGBsx+8pO4vfRSzBobo+4CswrqRduBwvqFCzNWW5u2N785aR/5yIQ3HdnHgKlmY2iv3vT9/Udt167ttm3bq+4+1a+vqKi0NWs2WFVVjbddznX3I/gI7QEAYUFoj1AgtAfyR2iPoCO0R5BNR2ivUffujdpjj8Vs9+6oHToUtdbWqPX3R2x42GxsLOIdP+i4Jzt+LJax229P2qc+Ne69r9n8+RmrqMi47QM4kdnZ0z7jbRdJ27dvt23f/pqrV19Xt8iWL1/pbRelrne9glXMDIT2AICwILRHKBDaA/kjtEfQEdojyM41tNeFZdWD/oUXYq70jW7v2ZOtU9/dHXGBvU896G+4IekuKquLzCqHVEmcW29NusfIJXE6syG0n5iYcIPC+Fgs5rY9bWe66GxHR5sL7cvLF1hFRYW3TWQfx8xBaA8ACAtCe4QCoT2QP0J7BB2hPYLsbEP74eGI9fZmLyz79NMx+9a3ErZvX9SOHj2W/hQWmpWWZmzOnIy7rYvIfuIT47Z1a8rq6mj3OHszObTXtjQxMe5K4QwMDNi8efO87a3E2zaK3OMKdlOplAvy6Vk/cxHaAwDCgtAeoUBoD+SP0B5BR2iPIDvb0P7ll2P23e/G7fXXY9bUFLGenogrf6Oe9z71qFfP+iuuSFlDQ8b1rq+qylhJScYSidxIwFmYyaG9AvvDh1vs0KGDrkd9ff0ib7tYbosWLcmNkQ326Vk/sxHaAwDCgtAeoUBoD+SP0B5BR2iPIDuT0H5szFxPegX2TzwRs0ceiVtra8RryxFvH2wukF++PG3r1qWstNRs0aK0rVqVtoaGtKtVX5TtUAycs5kY2qv3fG9vjwvqW1tbrKurw5v2IRfar169zlasWO22P8wOhPYAgLAgtEcoENoD+SO0R9AR2iPIThbaj41lXCivsF696dvbI3bPPQl78cWotbVlwx6VwFm4MGNr1qTsuutSduutKaupSXvHDbkXB6bJTArtFdQmkxOuFE5TU6Pt37/X+vp6vO0rbXPmzLXa2npbtmylLV263G1/mB0I7QEAYUFoj1AgtAfyR2iPoCO0R5CdLLRvbIzYM89E7Yc/TNj+/VHveMWstzfiatrrdmFhxm66KeVq1VdXZ2zBgoyVlWW819J+OffiwDSZSaH98PCw9fQcsd27d1hHR7s3vQMuvK2urrFly1ZYff0Sb1uZ521D/ARlNiG0BwCEBaE9QoHQHsgfoT2CjtAeQTY5tB8cVFg/bo8/HrXXXovawYNRV7v+yJFjyU5lZcbVrL/kkmzv+uuvT3rHCebCeuB8mQmh/fHlcJqtvb3Nm84xSyQKbOHCOqurW2S1tXUusNd9mF0I7QEAYUFoj1AgtAfyR2iPoCO0R5BlMhHvcz1qw8OF1txs9uqrSfunf0rYtm3HussXFpq7iKx60q9dq7A+bXfemXQ164ELIeihvfbno6MjtnfvLjtwYJ+1tR32jp0T3nZTYpWVVbZmzQarqqr2jqnn5J6B2YbQHgAQFoT2CAVCeyB/hPYIOkJ7BNnQUMQ6OqL25S8X2nPPRa2z01zP+pGR3AgeXWRWPepvuy3lLjCrWvbz5mWsgM7CuECCHtqrhv3Ro33eNvSUC+yTyaRVVla7uvVLl67w9v8llkgkXFCK2YnQHgAQFoT2CAVCeyB/hPYIOkJ7BM34uFl/f8SVwNmzJ2YHDkTtqafiduhQxMbGsuOoDM6KFWnbsCHtLjSrsH7durSrXU/Qgwst6KG9SuMMDw/Zzp3brK+v1+336+rqraam1ttmKrz/KyBlw5nNCO0BAGFBaI9QILQH8kdoj6AjtEcQ6OKxuoisLibb02PW2Rmx++5L2PPPx6yxMdv7V2Vw1Itew5o1adu6NWV33JEtg0O4g4spSKG99t3jOvNlGe8YJOYdI8fdfl7B/ZEjXa5MjraX6uqF3vQWZ5+EWY/QHgAQFoT2CAVCeyB/hPYIOkJ7BMHhwxF7+eWY3XNPwvbsiXqf52Z9fREX5Pu963WB2ZtuStkttyRdL3vVsacMDoIgKKG99tsTExPW0nLIvX9ZWZmVly/wtpEC95jK4mQy2Ws9qKY95XDCg9AeABAWhPYIBUJ7IH+E9gg6QntcDGpe6lXf3Byx1tao7doVtZdeirngXr3sfXPnZqyqymzr1oht2ZKytWvHbfXqlM2fT/tEcFzs0F7761Qq6W1Tvdbe3uptUy0unJ83r9zbZjZ4f+cT0IccoT0AICwI7REKhPZA/gjtEXSE9riQ1Gte9eqPHo3YwYMRe+WVmG3bptA+5v0/GyoWFakHfTawr6nJ2KpVGfv4x2O2cWNKr0D7ROBczNBewevExLi3XfVbU9NB279/r3e7z5ummC1YUGlXX32dVVXVeP+P556BMCK0BwCEBaE9QoHQHsgfoT2CjtAeF9LevVF75JGYN8TdBWZHRiLeYN6+8VgZnPXr0/aWt0zYVVelbMkSszlzIt7fAm9fmvHGo30ieC5maD80NGTd3V22e/cO6+xsd/9XPXtdZHbFitW2dOlyb/9e4vb1CC9CewBAWBDaIxQI7YH8Edoj6AjtcT6pNn1ra8R27Ii5uvUK7bdvj7m69SqP41u4MGPr16ds+fK0rVuXtk2bUrZsWcbKy1V7W+2zyLVJBaK0TwTNxQjtVZ++t7fb2tvbXDmcjo421+O+oKDQamvrra5ukfe3zkpLy7xtKJF7FsKK0B4AEBaE9ggFQnsgf4T2CDpCe0w3vwROd3fExsfNtm+P2v33x+3112PW0aH71ObMXUhWtekTCfWuT9nttyft2mtTVleX8fad2ddS+yS0R9BdyNBebX98fMwGBvqtsfGANTU1usBewbwC+qqqalfHvqKiypueotyzEHaE9gCAsCC0RygQ2gP5I7RH0BHaYzql02b790ftoYfi9rWvJVwgpPI3CvFVCmdiIjteeXnGBfTve9+E62VfUZGxsrKM1w4zVlCQHUcI7TETXMjQPpVKWXPzIVcO58iRLhseHnTbQ01NnTU0LLOlS5fZnDlzXYiv4BMQQnsAQFgQ2iMUCO2B/BHaI+gI7ZGvVMrs1Vejtnt3zJqbo9bVFbGdO6P23HOx3BhZal9r1qTs5ptTtmBBxrudtssvT9m8eccH9ZMR2mMmuJChvYJW9bDfvv1VF9oXFhZZTc1CVw6nunqhzZ+/wB17eFtP9gmAh9AeABAWhPYIBUJ7IH+E9gg6QnucCzWPoaGIDQyYK4Pz/e/H7dFH4/bqq8eCerWn4uKMlZZme9ZHoxm76aaU/fZvj7te9ScL6icjtMdMcD5D+8ltXduDtLUdtv3797rQfsGCClu+fJUri1NYWOgeB6YitAcAhAWhPUKB0B7IH6E9go7QHudCveuffjpmP/1p3B54IG59fRGv7ZgNDx9LWVS3fssW9axP2tvelnT/V1hfXZ1xt88kkCG0x0xwvkJ7tXMFqxoUYsa04XjGxsa8bW3IO64Ycj3tS0vnWSKRcNsLcCKE9gCAsCC0RygQ2gP5I7RH0BHa40yl02YHD0Zt166obdsWswMHIu72zp3HetdHo2abN6ds9eq0NTSkbfHijK1dm7ZNm1KufZ1tCENoj5lgukN7te9kMmm9vd3W1dXpbQdR16N+4cLaNx5X4JpKJV24qfr1wKkQ2gMAwoLQHqFAaA/kj9AeQUdoj9PRhWQHByOuDI7fu/7+++O5R7Ofx1VVKoOTsaIis7vumrAbb0y5XvZ6TMO5IrTHTDCdoX06nfKeP2H9/X126NBBO3hwvwvlV6xYZRs3bs6FmXlsVAglQnsAQFgQ2iMUCO2B/BHaI+gI7XEq6l2v3vSqV/+978Wttzfihv7+Y2mKatP/+q+P2/XXJ622NuMuLKs69nPm5N+GCO0xE0xnaD84OOB61+/Zs8P9HR4edqVvVq1aa5s3X+ZtV3O99zv26xbgTBDaAwDCgtAeoUBoD+SP0B5BR2iPExkdNdu/P+p61u/dmy2Ho4vMJpPmfeaa114ytn592pYtS9uiRWnXs37VqrSrWT+dCO0xE+Qb2qs9q9RNd/cRa29vs9bWFuvsbPe2twnvNYuttrbelixZ5m1rS6ygIBtoAmeD0B4AEBaE9ggFQnsgf4T2CDpCe0ymsF696NvaIq53/Ve/mrCurojpArNqH5WVupBs2vWof/Obk3b11SkX3p8vhPaYCfIJ7RWc6sKyAwP9dvDgXmtubvK2uQ7Xu76sbJ63vdXYmjUbbMGCSu94ojD3LODsENoDAMKC0B6hQGgP5I/QHkFHaI/J9uyJ2oMPxuyxx+K2e3fM1bFX73qVyUkkzH7t18btppuS1tCQrWGvHvfFxbknnweE9pgJzjW0VzseHR2xlpYm27dvj7e9dblyON4jVle3yNvOlrke9sXFc1yIr+0BOBeE9gCAsCC0RygQ2gP5I7RH0BHah5tWc3NzxF56KWZtbVFXEmfnzqjt2xd1tetVhWPTppStXp225cvTdsMN2TI45eUXpn0Q2mMmONfQfmJi3F1o9tChA3b4cIv7f2lpmdXU1LrQXr3sy8sXuO0AyAehPQAgLAjtEQqE9kD+CO0RdIT24aTOvArlh4Yi9uKLMbvnnrht357tWe9TT/q6uozdddeE3XRTyq64InXBQxRCe8wE5xraq5f9yy8/b83Nh6y/v99r53Nt8eKltmLFaquoqLCCAsrhYHoQ2gMAwoLQHqFAaA/kj9AeQUdoHz5ata+9FrVvfzvhLjCrnvYK8EdHs6VwfCqD86lPjbsLzS5YkL347IVGaI+Z4FxDe118tqOjw5qaGr2/rbZ69TrXy1697ePxuGv/wHQgtAcAhAWhPX5OKqVwe9AOHDhg+/fvt76+PveFcs6cOVZXV2crVqzwvvQucgcgZ0oHUhMTE3bo0CE7ePCgdXV1eV+oR93rFhcXu9ddsmSJGwoKCnLPmj6E9kD+CO0RdIT24aDVefhwxF5+OWYtLdkSOOphrwvODg4eS0ZWrEjb9dcnrawsWxbnttuSVlSkz9vcCBcYoT1mgtOF9mqvKn0zPj7uHasmraSk1IXyul/H9keP9roL0dbULPS+O5S4x4DpRGgPAAgLQnscR81Bgf2uXbvsySeftBdeeOGN0F4/c21oaLAbbrjBrrnmGps/f/4ZH4jrIP7w4cPuNZ9//nnr7Oy0kZERd4BV5H2DXrZsmW3evNluuukmq6qqssLC6f0JLaE9kD9CewQdof3spVU4PByxnh71ojcX2P/7v8fttddi1tWVTUMUxqsMTlVVxttfmV13XdL+43+csIULsxeZvdgI7TETnCq0V8ceBfZ9fdlgXrcXL27w2nSpCyZ9atNq78D5QGgPAAgLQnscR71m1Lv+H/7hH+zIkSMumL/iiivcwUZ7e7s99dRTLrh/05veZLfffruVl5fnnnlqra2t9tWvftW2bdtmY2Njdu2117pwXhobG23nzp0u2H/Pe95jV199tS1fvtw9Nl0I7YH8Edoj6AjtZy/v0MFdYFZlcHRh2dbWiPX1RVyQrzI4Wt+6oOzNNyft135t3NSjft4884410pZIaP+Ve6GLiNAeM8GpQnsF9R0dbbZ37y7XqSeRiNtll11ltbX13jHsHDcOcL4R2gMAwiIAX2EQJArmFayrNE51dbUL5q+77jrbunWr+6ve8OqJ/9xzz1l3d7cL+U9H42jc1157zX0xvfTSS11o7w+33XabK7mj8fTemgYAABBuCmBaWiL2gx/E7Z/+qcC+8pWEPfFEzNWwb2qKWn9/xIXxq1en7UMfGrdPfGLc3vveCdu4MW3r1qVd/Xr9cC8IgT0wU+nYXT3q29oO2759e2z37p3W0dFuw8NDgQtJAQAAZhO+xuA4LS0tLjhX/fn169e7QH3VqlW2cuVKF9jfcsstpjI5Kp/T1tbmHbAP5555cnqt/v5+N/6CBQtcT/qNGze63vQa/P+r177ev6enJ/dMAAAQNgoCUylzNeqffTZmX/tawu6+u8DuuSdhjY1R17u+pCTjHUMonE+53vUf//iEK4Vz220pgnpgmqTTKRsdHfGOzbvt4MH9rod9U9NBb/vUtSLmvVG3Phajbj0AAMB04ysNjqNa86o9rwvD1tTUmC4S69eo1G0F+eqBr3r0uqCsetCfjn6uqEFUA1/16qfWudT95+MCtAAAYGZRYD8wYPYv/5Kwf/iHAnvuuZirZT/Z5s0p+4u/GLVPf3rUfuM3xm3p0rR3nEK3X2C6qIe9jvebmhrt+eeftv3791hfX4/FYjGrrV3kfSfYZFu2XGEVFZWWUA0qAAAATCtCexxHPeJ7e3u9A/AKmzdv3huBvShYV2943a8DdgX8A/pWfRoK4/Wc+vp6Gxoasu3bt7vnqsyOBoX/qmuv11KZHL/WPQAACIcjR7K96r/4xYR9+tMF9nd/V2gPPRR39etVBkd161esSNvHPjZu/+k/jduHPzxhl12WsvXr01ZXl3E17HUhWgD5GxkZdr+Q3blzu+3du9u6ujptbGzUO56fb6tXr7dVq9Z4x/WLrbS0zAX2XHQWAABg+nEhWhzn7rvvtn//93939evvvPNOV7pmqn/+53+273//+96X5cvcOKpLfzo68P/GN75hu3fvdicC3vzmN1ttba17TPXzn376aVcW5/3vf7973UWLFrnHposuoJVM6kK0Y2/0+g+W7MUT58wpcCdEdOEvTS+bJ4JE225BQfbCXyMjE+5CtMHcnhBWCo50gbrshWgj7qLeXOgzWLQqNCiIHxpSOJgN5A8ejNoTT0TtgQeyJXB8xcVm8+dnXC/6m25KuV71VVUZ7/Ny5q1TtUld5FPtU21Sn/U6PqF9Ijiyx6MDA33esXuLvfTSS+74XMemJSVltmTJUlu5crWVl8/nF7K4aPQ5H48fuxDtyMi4+6z3Pl2yIwREUVGB99mVcMfPnNcCAJwLQnsc5+///u/tu9/9rt1xxx0uWL/88stzjxzz5S9/2e677z7XK/5tb3ub3XDDDblHTm5sbMw6OjrsoYceskcffdSOHDnyRtinmvfr1q1z4f/NN99slZWV0/5FwA/th4fH3e2g0YGcDkB1cBePq16vDj5VVojNE8GhNppIxNzJJQX24+PJXOCUGwG4yLL70qhro5L9Ip+mjQaI1oWuYf/ggzF75pmovf56tif9wEDEBgcj7rZ3yPCGTZvS9u53J23LlrTraa/APh7Xes6NMINomv32qcPv4eHsiU/aJ4LCPx7t7u6yQ4cOeNvn6972OO5+gbt27QZbuLDWSkpKXYgfifCDbVwc2dA+asXFBd73u7R3TJr9fhe0fWlRkcrCEtoDAM4doT2O83/+z/+xe+65x4XxCu0vvfTS3CPHfOUrX3Gh/bJly9x4N954Y+6Rkzt69Ki9+OKL9uSTT7qL2Kpcjmrki+ri6+Bfvevf/va3u5MBumDtdFIz18GcemMEscmr950O5tRrRLd1giF78MnmieDwe4kquFcb9cNQ2imCwt+Xqo16/3tjn08bvfhUp/6FF8x27NAv7CLe34j3N2qHD0dsdDTb296nQwDvUMA2bza7/PKMXXllyhYvzlhp6cxej9n2mT35qTaZ/UUd+1AEh78PVTlLBfd79+61aFQ17GtdYD93ri46Sx0qXFxqp35HEn1fCuq+VN/rdHJB0wsAwLkgtMdxJve0v/32212pmqnOtqf9+Pi4K4HzL//yL663/fz5812Pel3oVs1P9ewff/xxa2pqcicK9NimTZtyz54eep8gHsxNpuO57EFdJDe9bJoIHv+Lkt9GaaYIGvalwaCQfnw8Yl1d2TI4CuW/+U31sDd78cXcSDkK40tKzBsy3v7FrKHB7LrrzN7xDrM1a3RtnNyIs4DaZrZ9sg/FxZfyNlT94nViYtzi8YQVFRW90UZTqaQdPnzY2/4Krbq6OtdugWBQewz68ag/jQAAnCtCexzHr2m/detWF9xPR037lpYWe/bZZ93zrrjiCvuFX/gFW758+Rs97VU6R2VzHnnkEVc25wMf+IC95z3vcY9NFzXz7M8nJ9ztINJBXfYnlCoNMOF9WSJsQrDoy4d6DKmM0/i4vuRnfxECBIUyJbXToqKE/pfb51N+5GLo7zdraoraP/xDwl5+OerWQU9P9v7h4dxIHoX0N96Ysje9KWXXXJNy4f3cuQrwzcrLVV4gu15nA82HyiSoferz3T8moX3iYlDbO3q0zzo62q2trdUqK6tt7dp1lkjEraAg4f2N2sDAsPucj8XiuWcBF58+5/XLT+1L1cveL9cYNAUF2pbiBPcAgHNGaI/jqPSNAnmF6upFf9NNN+UeyR7cqzeOgv0f/OAHLtS/9dZbbcuWLbkxTmz79u0ukNeFaBXGf/SjH7XS0mw9TJ/K5tx///322GOP2Yc+9CH7yEc+4h7XQdl08H866V/0LWj8L/K6WJF+SqnppKY9gkZfOvTlw69p759cAoLC79Wmi9PJ8LD2pZwAvVBUq1516R9+OG47d0attzfifa7HrKnp+M9yBfW33Za0VavS3rrK2OrVaVu5MuMde6St0Ft1s7X6RjZo0kXnsxei9a+zQ/vEheQfz3d1dVh7e6u1tR12ZSxra+tsw4ZLrKKi0srK5rpAVMejnKBH0OhzXp1ItC/V97uRkWBeH0TbkAZq2gMAzhWhPY7zve99z374wx+afi77zne+09WY14GG6AC/r6/PvvCFL7gQXsH6dddd58rknMpLL71kDz74oN177732wQ9+0D7+8Y9bIpFwX159L7zwguttr3EU2n/sYx/7uXHyoS8b+tIxODgayC8emk31GNEFlbKh/aj7ZQBfkhAk+pJUWBh3gagu8KngntAeQeKHomqj2q8ODhLan2+6prxK33R0RO3IEfOGiP3t3xba888fS9514diioozNn5/xPud0zQGzT31qzG64IWXl5eFZN2qf8bjaZ5Frk9kT9LRPXDjpdMr77B61/v4+27t3tx0+3GK9vd2uBE59/SJbtWqtLV682NtWy98I7YPaixnhpeNR1bPXZ72+32VPgAYvtFdnLH23I7QHAJwrLvuP46hmZV1dnath2d7e7g7sdRAkur1z507r7Oz0DkCK3YVoKyoq3GOnonHLysrcbfXk6erq8r7gT7rinMe/v7Cw0I0/nYE9AAA4P7xDA2ttjdjf/E2BffKTxfYHf1BkO3Ycf3g5b17GNm1K2+/+7rh9/vMjdvfdIy6wn+kXlgVmEpUKGx4etkOHDtpzzz1jBw/ud+F9PB63+vol3nH9Kve3sLAo9wwAAABcTLE/8eRuA663l3rUv/7667keCxkXnquH/f79+11veNWdVy8cXTC2srLSlbGRHTt2uAvKqme9nqMLzYpeR18S9Jp6bdWwV4+DkZER6+3ttb1797ryOLt373YnDK666ipbtWqVe+50Uc8L9RJSb6EgdmjT+Qm/14iWzcREtldTEKcV4ZXtJRp1JXL0c2T9GoQ2iiBRG9W+VG1U+9Xx8RRt9DzR+fxXXonao4/G7cc/jru/Bw5EveOFiPcZFrFFi9J2661Ju+WWlPc3ZVu3Jl3N+uXLM1ZdnTHVqs/9kC80JrdPUQ9R2icuhJGRYe/4vcsaG/e50P7IkU7XgWbevPm2dOkKb1jmbZcLraSkxP3yU7/61KA2qnKNtFMEifalaqfal+r7UnZfGrxGqu91GjS9OiYBAOBsEdrjOH4vdwX06vne2trqSuWo57162auMTVVVlbv47KZNm2yurhaXo3r03/3ud91FZxW+63FR73kdrDQ2NlpHR4e7MK1es6enx5qbm70v/a+4wF89+a+//nq75JJL3HtMJx3HEdoD+dF2TGiPIJscimq/Smg//fRDuf7+iPdZHrX77ovbvfcm7Mc/TtjRo9o/6DgiY7W1Ge84IWUf/OCEve1tSderft26tM2bF76gfrLJ7VMI7XG+KcgcHx9zgX1T00FXEqenp9u1xbKyedbQsNTWrFlvNTULbc6c7DG9jkMJ7RFkar+E9gCAMKCmPY6j5jA4OGi7du2yJ554woX0Kl2j+xXQL1myxPvyfYML7efPn+8d0Ge/eMq3v/1tu+eee1wYr3r3v/RLv+Tu919TPeqffvppe/nll13PffW412M6UaDX3bhxo9144422cKG+OMxxz50u/gEdNe2Bc6ewiZr2CLLsF3lq2p9PXV0Re/LJmH31qwlrbFQd+4gND2fTiAULMrZiRdo+/OEJu/rqlFVWqkd9xoX5yLZPatrjQlJv+paWQ64UzqFDB9yxd1FRsVVUVNmaNetc7/q5c9W7Phssio5H/QtoUtMeQeR3dKKmPQBgtiO0x89RL3iF7Optr0EBu5qJgvT6+np34dlFixa5A5DJ1Fteg8rebNmy5Y2e9qLXVIkc9bbXoLI4+uIgCu0V1KvkTkNDwxs986cToT2QP0J7BB2h/fSamDDv8yhiL70Uc6VvensjNjBg3rFB1J59NubC+jlzMlZXl7bLLku7wH7hwrQrg7Nokcrr5V4IDqE9LjQdf3d1ddiePbts796dVl4+3wX1dXWLvL+17tjeL3PpI7RH0BHaAwDCgtAeoUBoD+SP0B5BR2ifPy0qDSp3o171LS0R+853Ei6kb24+/mR9RUXGVq5M2+WXp+w975lwJXDoVX9yhPY43xRcavB7zqttqZOMetortK+vX+yGmppa9/iJENoj6AjtAQBhQWiPUCC0B/JHaI+gI7TPXyplph/C/ehHcXvssbg9/3zM9bBXj/vx8dxIHv3Y7sMfHrfbbkvZxo0pmz8/e3FZgomTI7TH+aR2NDo64n7Zqnr1ukaVKMzU/boYrUrjFBQUvvHYiRDaI+gI7QEAYUFoj1AgtAfyR2iPoCO0z09HR8R27IjaU0/Fbdu2qO3dG7Wmpmzv+rlzM1ZVlbGGhrQrfVNfn3YXm129Ou3ux+kR2uN8yGTS3jHuhHV2dlhXV6e33+u3ZctW2oIFlW9cI0ptTONFIgoPT50eEtoj6AjtAQBhQWiPUCC0B/JHaI+gI7Q/e+pZPzAQsc7OiO3eHbWHH47b176W7YWrUje6kGx5ecYF9atWpeyKK9J2ySUpW79eAaAbDWeI0B7TTTXr1Yv+6NFe27Nnt7W2tnifz0O2efMVtnTpcqusrMqNeeYI7RF0hPYAgLAgtEcoENoD+SO0R9AR2p89lb557LGYfe5zBS687+uLWE9PNl1Qzfo1a9KuXv2WLdkSOOq4W1yc8QY3Cs4CoT2mk0LKwcEBa2pqtH37dtvRo302Njbq7QPjtn79Jlu2bIUtXFiXG/vMEdoj6AjtAQBhQWiPUCC0B/JHaI+gI7Q/cyp788wzMTt0KGKvvBKzRx+Ne8tKn5fZz6Sbb07aZZel3IVmL700ZfX1GSsoyD0Z54TQHtNleHjIent77PDhFmtvP2xdXR3u/nnzym3hwnpbtGiJ62VfUlLq7j8bhPYIOkJ7AEBYENojFAjtgfwR2iPoCO1PTReYHRyMuB71Cuy/8pWE7d8fdb3tRT3pS0o0mH3yk+N2441Jq65m2U0XQnvkQ+1EdelHR0dd/frm5kPW2LjfdOHZRCJuZWXl1tCwzFauXOPC+lNdbPZUCO0RdIT2AICwILRHKBDaA/kjtEfQEdqfnBZBY2PUnnhCvepjtn17zNrbIzY2FvGWUfZz6F3vmrCbbkrali1pq6nJWGlpxvtMyr0A8kZoj3xk69cP2969u62lpclddHZ8fMw7dpxjVVXVtnr1Ou9vjc2ZM9fbD8ZcezsXhPYIOkJ7AEBYENojFAjtgfwR2iPoCO1/nnrW6yKzTz8ds9dei9m+fVHbsydqR45kw/qysoytXp22669P2hVXpGzt2rS76CwBw/QjtEc+RkZGrKfniLcdv2wdHW0usK+oqHJ162tr6626OhvYKyDMB6E9go7QHgAQFvkd1QEAACCQRkbMmpsj9vjjMfviFxP2pS8l7Gc/i1lXV8TmzMnY0qVpu+SSlL31rRP2qU+N2y23pGzxYgJ7IIhSqaSNjY25i80qBCwvr3AXm121aq37q5I4+Qb2AAAACA562iMU6GkP5I+e9gg6etofo1nesSNqDzwQt3/914R1d0e87Tabxiuwv+qqlP3Kr0zY4sVpW7gwY5WV2bCewP78oac98pFOqzzOqO3du8trNymbP7/CKioqve15jteuzq1+/YnQ0x5BR097AEBYENojFAjtgfwR2iPowhzaaxZV7ubFF2O2d2/U2tqi1toasd27o/bCCzFv2832rFdYr4vLqgzOtdembN68jPdY7kVwXhHa40wofJyYmLAjRzrdxWQVzsfjcdd+9FhPT7fbv6mWfWFhkbfPi+WeOT0I7RF0hPYAgLAgtEcoENoD+SO0R9CFMbTXrPX0RKy/P+LNr9m3v52wxx6L2c6d2SBPy0EVM5YtS9nNN6fswx+esLq67EVmcWER2uN0VAJHtev7+vrswIG9rhf90qXLbd68ckskCnJjnV+E9gg6QnsAQFhQ+BAAAGAGUkCh3vU/+lHc/uIvCu03fqPY7rknYQcPHju8Uyfc4uKM/eIvJl1g39CQduVxAASLQseBgQEX1j/33JPedrzPG/bb7t07bWhoKDcWAAAAwoKe9ggFetoD+aOnPYIuTD3tt22L2q5dMdu3L2rPPx+zPXui1tGR7cqnkH7Bgoxt2pR2JXFUr/6WW5K2cmXaiorcKLgI6GmPkxkaGnRlbw4fbrb29lZXGicSiVp1dY0tW7bS9bbXhWYvBHraI+joaQ8ACAtCe4QCoT2QP0J7BF0YQvvh4Yi7qOz3vhe3hx6K29NPHyuDo171VVUZq6/PhvVvf3vSLr00ZbW1bKdBQGiPybTeFTSOjo5YZ2e7HTp00JqaGr3P12FXCqe8fL41NCyzlSvXeG2mxGs78dwzzy9CewQdoT0AICwI7REKhPZA/gjtEXRhCO1ffTVmX/1q3F54IW6NjRHv8yKbBOhCs7qo7K//+oS96U0p19Ne/1cpnETCjYKLjNAek6VSChuHbc+enXb4cJMdOdJl4+PjXvuYazU1tbZq1RqrrKz2tuG5udDvwqR+hPYIOkJ7AEBYENojFAjtgfwR2iPoZmto39UVsR07oq4UzmuvxeyZZ2LW2ZkN7DWfb3tb0jZsSHnznbEbb0zZ8uVpb1vNPRmBQWgP0foeHx/ztutOa2lpstbWFjt6tM87Tp2wqqpqW7iwzmpr691tXYhWZXIuJEJ7BB2hPQAgLAjtEQqE9kD+CO0RdLMptE+nzfvcMuvsVFAftQcfjNnPfha35uZsgKfe86WlGauuztgf/dGY3XRT0vv8cA8hoAjtIZlM2lv3g7Z372579dWXvO183GsXCSsrK7MVK9bYokWLraKiyrWXi4HQHkFHaA8ACIsL23UDAAAApzUyErHW1qj9zd8U2J/+aaH95CcJ6+g4dthWVZW2t7wlaV/4wohddVXKVM8ewEwQsYKCIissLDLVri8unmtLliy1K6+81lasWGXl5QsuWmAPAACA4CC0BwAACJCDB6P28MMxu/vuAnviiZg1Nkatpydi4+NmCxdm7M47k/bLvzxh73rXhK1dm7aysgy9+ICAUg/gZFK91dPu/9lfXMStoqLS1qxZbxs3bnYXm62uXmiqZ3+hLjgLAACAYKM8DkKB8jhA/iiPg6Cb6eVxhocj1t0dsZ/9LGYPPhi3H/4wG94VFWVs/nxdVNZs06a0veMdE3bZZSmrrWX7m0kojxM+CutHRka8bXvIXVC2qKjQ9a4X1bBXbXv9X0G9SmgEAeVxEHSUxwEAhAWhPUKB0B7IH6E9gm4mh/aaxFdfjdlXvxp3f9W7/ujR7Lf89etT9p73TNjmzWlraMhYebkC/Iyprj1mDkL7cFGI2NfXa01NB+3QoUZXq76+foktXFjrHtd616B2oSEoCO0RdIT2AICwoDwOAADARTI6atbeHrFvfzthX/xiwl1sdt++Y4H9HXck7UMfmrBbb03Zli0K7dM2bx6BPRBUCuIHBwesufmQ7d693Q4c2GdHjnR623mrt133vHGSRkF9NswjzQMAAMDPI7QHAAC4gFIp/0KzEdu5M2bPPhuzL30pYd/4RsLVsx8ailhpacZWr07b+943Ye9/f9LWr8/WrgcQTArjU97GPTQ0aB0dbbZv327bs2eXdXV1uHA+lUpaMpl6I7QHAAAAToXQHgAA4AIaHIzY3r0R+8IXCuwP/qDQ/uIvCm3nzmOHZNFoxq64ImWf+9yIbd2acqVwAASbAnv1sN+5c5u9/vordujQQRsZGba5c0tsyZKltnnz5bZs2XIX4AMAAACnQ017hAI17YH8UdMeQacyE0GtaT8xod71Zg8+mLDt26PugrMvvRSz5uaIuwCtVFdnbNOmlK1YkbarrkrZW96S9OZH2557GDOc2ic17Wef7LocciVwWltb3NDff9T1rK+qqrHa2no3VFZWecd5c1w7CDJq2iPoqGkPAAgLQnuEAqE9kD9CewRdEEN7vbV61nd1RVxA/7//d6E9/XQs96hZQYG5UjgaNm5M21vfOmHXXJOyRYvYtmYbQvvZR+sumUxaS0uTHTy4z9WvV3hY4G3YZWVltmrVWquvX2wLFlTmnhF8hPYIOkJ7AEBYENojFAjtgfwR2iPoghba623TabPHH4/ZT38at4ceiruLzqpmvW/p0rTdcEPSXWh23brsRWbnzs24MB+zC6H97KPAXiVxnn32SdfDfnx8zObMmWuLFi1xgX15+XwrKir21ns894zgI7RH0BHaAwDCgtAeoUBoD+SP0B5BF4TQXiF9Mmn2wgsx27Mnah0dql8ftd27Y96QrXNTUaGLzKZs7dq0rVmTtlWr0i6wr6xke5rNCO1nHwWFqlv/6qsvuQvO6v91dYtcOZyamoWWSGQDu5mE0B5BR2gPAAgLQnuEAqE9kD9CewTdxQ7tFdb39WXL4HzjGwn72c/itm9fNrBTR9uiooyVl2dcQH/LLUlvSNmyZWn3OGY/QvuZTz3rtb4UwmWDuIi3DlPW2tpsR4/2uceXLl1hZWXz3OMzEaE9go7QHgAQFoT2CAVCeyB/hPYIuosd2uviso88ErO//dtC6+mJ2MBAxMbGso9le9en7b3vnbArrkhZVVW2jn1hYfZxzH6E9jObQsGeniMupC8qKvLWY4m3PhNu/U1M6PNQgb5523Shtx86dt2KmYbQHkFHaA8ACAtCe4QCoT2QP0J7BN3FCu0HB83Vqn/00fgbteulpCRjCxem7dJL0y6wX7QobZdfnrL6+owlEm4UhAih/cyk9aO69d3dXXb4cIt3fDbubdultnz5aps3r9wFcrMJoT2CjtAeABAWs+soEwAA4ALq7Y242vWPPRa3b34zYT/9abaHrerTqwzOjTem7Fd+Zdw+8Ylxe897VDqDwB6YCRTWq/e8Avv29lZvO99le/fusv3791lzc5OrZc8JFwAAAJwvhPYAAABnSVldOm324IMxu/vuAvvc5wpceJ9OZ7vT3XXXhP3u747bJz85bhs2pK2gwN0NYIZQffqBgQHbseN1e/31V6y5+ZCNjo5YcXGxVVZWuTI4+vUEAAAAcD4Q2gMAAJwlXWD27/++wL73vYQ9/3zMWlqilkxGXBmcj350wu64I2WbN2dL4cydq5/z554IINDUe35goN+F9Nu2vWpNTY3W19fr3Z+2urpFtnLlGnex2TlzSgjtAQAAcN7wFRIAAOAsHD4csccei9nf/V2Bq2Pf1ha1wsKMNTSoHE7SlcK56qqUu/gsgJkjmZx4oxzO/v17bOfObdbb2+MuLKve9StXrrZVq9bYokVLXI97QnsAAACcL4T2AAAAZ8AvifOFL2TL4QwPRyyV0sXmMq5H/a/92rgb6uvT7j4AM4cuZNnT0+2C+tdee9n1sE95G/icOXNt2bIVdtVVW62hYbmVlpblngEAAACcP4T2AAAAp3HgQNR+8pO4ffrTBfbII3E7fFj1680F9DfckHK966+/PmWLF2essJByOMBMNDo6aj09R6y//6jrXV9bW2dr1qyz5ctXWWVltRUXz/Huj+fGBgAAAM4fvlICAACcgHrWDwxEXP36J56I2Te/mbBPf7rQdu+OugvLzp+fscsuS9kv/MKEq2O/cmXaYrHckwHMKCp1E41GXSg/d+5cq6qqdmH9mjXrrb5+sbfNF7jHAQAAgAuBI08AAIATUOmbl16K2u/+bqF9/vMF9uSTxxL5qqq03XJL0j7wgaTdeqs3IoAZRxed1SAK7SsqKu2SSy61LVuusE2bLnU17OfO5YKzAAAAuPAI7QEAACZR2ZuJCbOf/jRu3/tewl57LWZNTVE7ejQb3Kl3/TvekbT3vjdpmzalXI97ADNDJpN25W8aGw/YoUMHXDkcX2Fhkbc9V1htbb3raZ8th8PPZwAAAHDhEdoDAADkJJNmPT0R2749at/9btzuvz9uQ0MRV/amsjJja9ak7S1vSdq73z1ht96atJoaAntgJlCP+qS3gQ8M9Ftra4vt3r3DG3Zae3uru+CsHlf5G5XB0cVmFdgDAAAAFwuhPQAAQI4C+4cfjttv/3axu+BsX1+2d70uOKva9V/4woh94AMTtmpV2t0PYGaYmJhwPey3bXvNG161lpYmN3R2dtjg4IClUsncmAAAAMDFR2gPAABCr60tYvfdF7cvfznhetjv2RO13t6ILViQcT3q3/e+CbvrrqStXZu26uqMFRfnnggg0NSDXmF9c3OjC+ubmw/Z0aN9esTblmtcGRwuMgsAAICg4egUAACE2pEjEXvppZh97WsJ+/KXC1wPe12bct68jG3YkLL3vnfChfZbt6ZMuR7XpASCT2G9eterHE5b22Hbt2+P7dy5zQX2iUTCKiurbdWqtbZ48VJXCicapXY9AAAAgoPQHgAAhJbC+e9/P25f+lLCnn8+5nrX+669NmXvfGfSbrkl5XrXA5g50um0dXd32fbtr9nrr7/iSuHoIrQlJSW2fPlKu/rqrbZkyVLv/6W5ZwAAAADBQWgPAABC54UXYvbVrybs058ucGVxtm+PWX+/LjibsU2bUvaf/tO4611/1VUpmz8/YwUFuScCCDzVp1cZHPWub2o6aL29Pd62HbP6+sW2Zs16W7ZspVVUVFpxcbG7HwAAAAgaQnsAABAKR49GrLk5Yrt3R+1HP4rbP/9zwv7X/yq0p56KW3d3xJW9Wbo0bW9+c9I+9akxe8tbkrZiBRecBWaaVCptXV0drixOb2+vK4dTXb3Q255X2+rV66yubpF3X4G3zfNVCAAAAMHEkSoAAAiFn/0sZn/zNwX2a79WbN/6VsIOHjx2GKRa9QUFGfvQhybsV35lwoqKsvcBmHnUe76mptZdaHbOnDm2du0Gu+SSS11ZnDlz5lqEC1MAAAAg4CIZXaUJmOXSaV2MLGWDg6PudtDou2MsFrXi4gKLx2M2NDRqyWQ6kNOK8IpGI1ZYGLe5cwttZGTcRkcnLJWijSI4FMTFYhHXRrVfHRwcs97ejO3aFbXHHovZq6/GXC/7xsbj03hdYHbdupRVVWXsrW9N2po19K7H9FP7jMfVPovcRVKHhsbcPpRD8fyodn0yOeENSe8zqsgF9tnlO2g9Pd1uWLiwzsrLy62oqDj3LJyMjkeLihJuUBsdH09yPIpA0fFoIhFzn/X6fjc8PO72A0HblRYXJ9x3u2g06o5JAAA4W4T2CAVCeyB/hPYIusmh/ehoxFpaxmzv3og98EDM7r67wNun5kb0VFZmrLQ0W6v+Yx8bt5tvTllDA2E9zh9C++ml5aba9UNDQy6gHxsby/WsP9aTXkGeBgX5/n04NUJ7BB2hPQAgLAjtEQqE9kD+CO0RdJNDe/Wu//KXk/bsszHbsydqXV3Hf2P+6Ecn7JZbki6oVw97P8AHzhdC++k1Pj5m/f1HvW19hx050umW42WXXWW1tXXetlyYGysb7hPYnzlCewQdoT0AICyo1goAAGYN9ab/znfMPvtZ9bCP27ZtxwL7Sy9N2S/+4oT9P//PuN1114RdcUXK1q5NW0UFgT0wUyic6+vrtUOHDtr27a9aS8shVwJneHjQRkdHbGIimRszi8AeAAAAMxGhPQAAmBUGB83274/Yv/xLxP7pnyIusD96NGJz5mRcj/rbb0/ar/7quP3X/zrm6tgrrAcwM6jH/Pj4uA0M9Ftra7Pt27fb9bLv7++3RCJh8+aVWzwe15jZJwAAAAAzGKE9AACY8dTD/rXXovb7v19gr756/OHNunVp+4M/GLN3vCNpq1al+Zk6MAOlUilXBue111627dtfs9bWFhfkl5XNsxUrVtlVV221urpFVlw8J/cMAAAAYOYitAcAADOWatimUmb33Re3r3wlYS+9FLPeXl1/wVyt+ve+d8LVr7/66pQtWpS2OeR5wIySTCZd7/oDB/banj07XTmcvr4+SyQKbPHiBluzZp0tW7bSFiyosKKiYlc/GgAAAJjpOKoFAAAzkgL7/v6I7dgRta9/PWH33JOwvr6Iq0+/eHHGrrwybb/yKxP2vvdN2MKFGSsqyj0RwIwxNjZq3d1HXGB/4MA+d/HZAm8jr6lZaKtWrbXVq9d523edxeMJ6tcDAABg1iC0BwAAM5J62L/wQtR+67eK7fnnY7l7zTZuNHv/+9P2Z382bps2pXP3ApiJhoYGXQ37o0f7XImcuXNLbN26Td62faktWbLMlcMhrAcAAMBsQ2gPAABmlIkJs6NHze69N27f+EbCdu+O2sBAxJXDufnmlL33vRl761sztmxZ2ubOzT0JwIykUL66usYNDQ3LbOPGze5vRUWlFRUVUQ4HAAAAsxJHuQAAYMYYGzPr7IzYK6/E7GtfS9gPfhB3ZXJKSzO2dm3a3v3uCXvnO9N25ZXGBWeBGSSTSVsyOWEjI8Pedu5t6DklJSWuR/3SpSts9eq1tn79JquqqrbCQupdAQAAYPYitAcAADNGa2vU7r8/bv/v/1vkLjqbTmeT+csvT9nb3560O+9Mu/r1AGaW8fFx6+3ttX37dtvhw83etp0tbRWJRC2RSNiSJUuttnaRuwAtvesBAAAw23HECwAAAu/o0Yi9+mrUvv/9uN13X8L27Yva4GDEamuzvevf8Y6kbd2asgULMu5CtABmBoXzvb091th4wLZvf8X2799rhw83WVdXxxs97hXcq2d9YWEh9esBAAAQCoT2AAAgsFT6prU1Yi+/HLUHHojbd7+bsCefjLn7KyoydtllKfvQhybsjjuStmZNmpI4wAyR8TZi9a7v7z9qLS1Ntnfvbtu1a4cL63XRWQ0qlwMAAACEEaE9AAAIJAXzqZTZP/5jgf3e7xXZv/5rgTU2Hjt0eetbky6wv+SStJWXUxIHmEmSyaR1drbZq6++aDt2vG7t7a3u/vLy+bZwYa3V1tZTtx4AAAChRWgPAAACZ3zcbPv2qP3v/11gP/1p3A4ciFp7e8RGR80aGtL2kY9M2FvekrSNG9PuIrTxeO6JAAJtYmLC+vv7bP/+3bZnzy5XCke97VX6pqFhma1evc4WL15qc+bMsVgslnsWAAAAEC6E9gAAIFDUw76lJWqPPBK3v/mbQtu1K+rq1Kte/dKlabv++pT9+q+P27XXpqyqih72wEyRDeyP2uHDLa4UzsGD+21gYMD1qF+4sM4F9itXrrHq6oUWi8WpXw8AAIDQIrQHAACBkU4r2DO75564ffObcfd/qa5O2+23T9gf/dGYfepT41Zfn7biYgJ7YKbQBWe7u7ts795d9tJLz9mRI52WyaStpKTU1q/fZBs3brFFi5Z42/UcwnoAAACEHqE9AAAIBJXE2bMnav/yLwl77LG4NTVFXa97XWD21luT9q53Je2qq1K2eHHaCgu9gxiOYoAZJRqNWSqVssHBQW8bLrb6+iUurG9oWGoLFlS4HvdRNmwAAACA0D6oMpmM65E0NjZmw8PDbtAFu3Q/AACzjT7eDh2KurD+n/6pwLZtU2AfsZqajL3pTUl30dmbbkpZdTWfg8BM4B/Lerfc/9V7XnXqy8rmWXl5udXV1duKFatcL/vKyipX0x4AAABAFqF9QOlLzsjIiLW0tNju3bvd0Nvba+PqhggAwCyiXE8fb//6rwn7whcS1tYWtdHRiC1ZkrYPfnDc9bC/4oq0UTEDmDnS6ZS3XY/lgvtjof2SJUvtmmuut0svvdLdjsdVu56vJAAAAMBkkQxdtwNldHTUDh06ZHv37rWDBw9ad3e3C+/LysrszW9+s61cudL1TlJ4/8orr9iBAwdszZo13peeJVZVVZV7FUyVTmdsYkI/xx51t4NGQVQsFrXi4gLvy2vMhoZGLZlMB3JaEV7RaMQKC+M2d26ht18a9/ZXE5ZK0UaRH5XA0YVmX3opaj/6Udx27465XvcbNqTcBWcV2Ovis/Pnn76tKRSMxSKujWq/Ojg45toohzoIArXPeFzts8i1yaGh2dk+FdL39vZ4x7BH7OjRHlu8eKm3/S5wpW9EvxxNJicskSjwtteYuw/BoePRoqKEG9RGx8eTHI8iUHQ8mkjE3Ge9vt8ND4+7/U7QdqXFxQn33U4lv3RMAgDA2aJbS4CoFE5HR4c9+eSTdu+999o999xjjzzyiD388MP26KOPul73KpOjL3cTExP28ssv27e//W174oknrLW1NfcqAAAEm/dxZ0eORGz37qj3GRaz73wnbn/7t4W2a1fMVCGjtjZjN96YsjvvTNqWLakzCuwBXFw6PlXP+v7+PmtuPuRt3zvs9ddfsba2w97x61BuLHM964uKignsAQAAgFMgtA8QhfIK4O+77z7Xw/7SSy+1d73rXbZhw4bjemHpbL1+XlxbW2vV1dW2b98+a29vzz0KAECwNTdH7fvfj9snPlFsn/lMgT36aNxyFTSsoSFtv/qr43bXXRN2ySWUxAFmCnUoaW9vs5deet527dpuHR2trld9T0+3HT16NDcWAAAAgDNBaB8gjY2Nrve8fj69efNme/vb325bt261+vr63BhZ2Z//x2z+/PlWWVlpXV1dfBkCAATaxITZ3r1R+9KXEvYv/5Kwe+9NuLI4CvD7+rLJ/Pr1KbvllqTdemvSVqzIWEkJPeyBoJuYGPe24V7bt2+37dmz01pbW2xgoN/1pm9oWG61tYvcxWcBAAAAnDlC+wA5fPiwq2W/aNEiu+666+ymm25y9epVw/5ESkpK3GP9/f02NHTsZ8cAAARFMmne51TE9u+P2qOPxuzuuxP2b/+WsKefjrne9fPmZbzPvbT3eZd2Yf3ttydtw4a0ux9AcOlXoCrtqMD+8OEm17u+sfGAK4VTXFxstbX13na9zpYuXeZq2gMAAAA4c4T2AaLgXTXrGxoaXA/60ykoKLDCwkJ38Vr9JBkAgKDp6YnYs89G7W//tsA+//kCa22N2sjIsZo3W7em7D//53H7x38csY9/fMI2b6YkDhB0CuxTqZS1tbXYjh2vu5I43d1dbttVr/oNGy6xjRu3WF3dItfjXr8SBQAAAHDmCO0DRF9oVK8+e4X503+5UVivoD+RSLiLegEAEBS6FMtPfhK3u+8usK99LWHPPBOzw4ejNjYWcT3rb7staf/lv4zb+98/Yddfn7K1a9PuArSUxAGCTz3su7uP2KFDjd523eIdjw7anDlzvW27wTZs2GyLFy91vesLCgrdcS0AAACAs8NRdIDop8S6wGxfX58NDg5aOp0+7gK0Pt2nnvVHjhyxjo4OKy0ttblz5+YeBQDg4hocjLj69d/6VsL+6Z8S9sMfJlwP+7lzM7Z8edquvTZl733vhP3u747ZnXcmbdkyetcDM0kyOeFt5wPW03PERkdHvG271JXDWblyta1bt9EqKirdL0IBAAAAnBtC+wCpqqqyhQsX2o4dO+zgwYOuJ/2JQvtkMukuPrtz507bvXu3q4Gv5wIAcLHpY+u116L2X/5LkatbPz5+LI1fvz5tf/EXo/bbvz1uN9+cMv1IjLAemHmKi+d4x6y1VltbZ0uXLreNGze7cjiLFi2xWCx2Rr8YBQAAAHBysT/x5G7jIlNtUPWu37Nnj7u4bHd3t+tN/+qrr1pLS4vV1NS4cjj79++3xx9/3N2v57z5zW/2vihttAULuMjXyShESqczNj6edLeDRt9to9GIJRIx9zPyiYmkm94gTivCSyFMPB61goK4JZMpb9CvgXIPAh61h0cfjdv3v59wF51Vj/uiooz3+ZVxPerf+c6kvelNKfd//UBsunO9bJm5iGujeu3x8RRtFIExuX3KxMTMaJ86Nu3r6/G2p7Fc7/lsOcd4POYNCVcGp7Ky2srLy73HC918YuZSG82u25hro6kUn/UIFu1jYrHs8ai+L2X3pcFrpPpep0HTy24RAHAuIt4HHIdhAaGL0B44cMC+9KUvuZ72+pKkXvSHDh2ytrY2F8yrhI564Ou+kpIS27Bhg330ox91F6/VRWlxYv4B3eDgqLsdNDqQ08FncXGB+5I0NDTqAtEgTivCS1/kCwvjNnduoY2MjHv7ognvyzxtFKpvbTYwELEjRyL22c8W2MMPx90FaOfMyXifYxm75JKUfeQjE3bllancM86P7Bf5iGuj2q8ODo65NsqhDoJA7TMeV/sscm1yaCjY7TOTSdv4+Lh3fDpkLS1NLqDXhWVVklG3MTvpeLSoKOEGtVF1eOF4FEHid3TSZ72+3w0Pj7vvzUHblRYXJ9x3u+z16nJ3AgBwFgjtA0QHGyMjI9bU1GTPPvusGxTOqxSOetgrsFcwr7BeIf3WrVvtmmuusSVLlrjH6Nl0coT2QP4I7XEy+/ZF7bHHYvav/1pgbW0RF+Ank2ZXX51yF5x9xzuSVlWl3vXnt70Q2iPIZlJor2lSz/q2tsO2d+9u6+7u8vb/RVZfv9hWr15n5eXzc2NitiG0R9AR2gMAwoLQPmB0wKFeTQruVQans7PTlcrx69srtC8rK3O171esWOECe91HYH9qhPZA/gjtMZn3cWUtLVF78smY7dwZtddei9kzz8Tc/aWlGauvz9h73jNht9yStI0bL8yFZgntEWQzJbTXcejQ0IAdPtxira0t1t7eamNjY64MzvLlq7zjz1U2b155bmzMNoT2CDpCewBAWBDaB8jg4KAL5+fMmeNqhsZ1hT6P7tOXJa0qBfRFRUXui58uSJv92fKwd0BQ7B24zHXj4+cR2gP5I7SHpFIK9cw6O6P21FMx+7//N2GHDkXt6NH/n737gI/rPM9E/0xF7713gATYiySqUlRvVrVVLNuyEzvedbLX2bTrTTY3N7tpdzfJXjnFWfvaliO5S6JVLFmiOiX2TpDovfdept7zvjMjUhRVSADEGczz//2OAEyBAOKbc873zHveLzAjlYr6sjIfNm704oEH3Fi71qe3XwoM7cnMzB7ay88h1fXj42Ma1Dc01GF0dMS43Wf8zPHaGqe8vEr718t5J61MDO3J7BjaExFRpLAGP5IJnDhxAjt37sTp06eNCdN48FZogC8tcRISEj5QVT82NqaPffbZZ3Hy5Em9jYiIaClNT1u0Hc7/+/868T//pxONjVbIgrMh993nxp/8yTy+9jUXyssvXWBPRBdPAnspBunq6kRt7XEcPXoIo6PDGjZJK5w1azbolpWVo+eiRERERES0tBjam0hbWxv27t2Lzs5OrboPkQmTzWbTTT4PkT738lh5jrTTISIiWkqy0OzBg1b84AdO7N5tM45BVszOWuB0+rFmjRe/93su3H67R6vrpT0Oi3GJzM/jcWvP+rq6WjQ11WtLnOnpKa2uLywsRk3NehQUFGp4L4UkZ5+LEhERERHR0uBZt4nIgrNNTU3GxGlY2+F8Elm0VnreS+97eQ4REdFScLuh7W9OnrTilVfs+MlPHGhrkxYKQE6OH6tX+3DTTR78H//HPLZu9SIxka0UiMJBqMJ+aGgQp0+fRFdXu7ZdTEhI1EVnpR3OqlU1SElJg8PhCD6LiIiIiIiWGkP7MCbBvlTbS8UTq56IiGgpSI/Y4WGLLjj7xBNOPPecA7LYrCgq8uErX3HhT/90Hl/+shuytIrNFriPiMKDtF30er2YnZ3RrzMyMrF+/SZUV6/TPvZyjhlqzUhERERERJcGF6JdJrKAbH9/v1bKj46O6m0vvvgi9uzZg+uvv96YKFUjJydHbz9XqCqqrq5Oe9nL93nkkUd0o/PjQrREC8eFaCPLzIxcAWbB3r12rbDv6LDi2DEbenoC4d1113mM45UX117rQUGBH0lJyz8WuBAtmZlZFqKV/9/ZIbycU/b396KlpUnPRZKTU41z0DzExyewuj4CcSFaMjsuREtERJGCof0ymZycxJEjR3STljhC2tz09PSgsLAQaWlpuvjs+chJiYT+EvjLJcwVFRW49957cdNNNwUfQediaE+0cAztI4eE9RLS19VZ8eSTDhw6dKZ8PjbWj6wsv/avv+UWD9LTJQAM3rnMGNqTmS13aC/nj2637Lvn4HRGaSBvt9v1PrltampSb4uKika09L6iiMTQnsyOoT0REUUKhvbLRKrr33jjDbz55psa3AsJ4GXSFBMTowt9ycKz55IJX2DSZ0diYiKKi4txyy23YO3atcjLyws+is7F0J5o4RjaRwY5K/jOdxx4+WU7urutuvjszMyZ2eaWLV5885vzqK72ITvbb+yzgneYAEN7MrPlDO3l/zE/P6eLzLa2NiE3twBZWdlITU3X+yXwki10nsm2i5GLoT2ZHUN7IiKKFAztl4ksItvS0vJ+db3Yu3cvamtrsWHDBg3jpdr+XKHJlAT6UomfkZGBVatWGZOuVFZFfQyG9kQLx9B+ZZOzAWl9s3evDT//uQMHD9qMfaZFb8/L8+Gqq7zGMSew6OyNN3qMY5AfTmfwySYROD4ytCdzkvG5HKG9rIE0NTWhgb1sAwP9SE/PQElJOaqqqvXnIgphaE9mx9CeiIgiBUN7E3nqqafw6quv4q677sLmzZs1uKfFwdCeaOEY2q9cciYgFfUS2P9//58D9fU2jI3J39uPtDQ/Lr/ci698xY2yMh9SUsz7N2doT2Z2qUN7+b4u1zxGR0fQ29uNpqZ643UdWEcpKSkF5eVV2LBhs/5cDO4phKE9mR1DeyIiihQM7U1kZGQEExMTxkQqyTgJidMWObQ4GNoTLRxD+5VJzgK8XuBHP3LgxRcdOHrUavx9JVj0o6TEhy98wY1rr/Vq73oJ8c3UDudcDO3JzC5laC/f0+Nxo62tBR0dreju7tQWjIH2iklYvXoN8vIKdNFZorMxtCezY2hPRESRgg0rTURa3Eh1fUpKCgN7IiJaci4XcPq0FY8/7sTzz9tRW2uFtMSRsP6mmzx47DE3rrnGi8JCn4b4Zg7siShAFpsdGhowXtsn0dzcgN7eHkxPTyMhIRFFRaWoqVmnPe3j4xODzyAiIiIiIrNhpb3JSJWA9B6VRWml773b7Q5WDnz8n0kCf9no/FhpT7RwrLRfeZqbrXjpJTv+5/90Gn9PqVKH9qq/4w4PbrvNjR07vHpbuGClPZnZUlfay/eRc8aRkSG0t7eisbHO+H9M6X0xMbEoLCw2thIUFBTpzyIb0blYaU9mx0p7IiKKFAztTUaCelmc9siRIzhx4gT6+vq0OkrC+4/7Uz366KN48MEHg1/RuRjaEy0cQ/uVRQ4pf/VXTjzzjAM9PVZjfwPk5vqwbZsXn/2sB1u2eJGQ4A+riSZDezKzpQ7tvV6vnkcePLgXXV3tmJmZ1rAoMzMbZWWVyMrKQWJiIpzOqOAziD6MoT2ZHUN7IiKKFGyPYyLS0/7kyZN47rnn8M4776Cjo0MnYKOjo/q5x+PRCZ8E+N3d3e8H+vHx8caJdXTwuxAREX00mdR2dVnwy1/asW+f/f3AXlrgXHmlF/fd50F1tReJieEV2BNFusCbAjY4nQ5ERUUjNjYOpaUVqKxcjfz8QiQlJTOwJyIiIiIKEwztTUSC+L179+L111/XQD43NxebNm1CXl6ehvI1NTW44oordKusrEROTg6ys7OxZcsWFBQUBL8LERHRh8lis9PTQGenBXv22PDEEw40Ngaqv2Ji/Fi/3osbb/Rgxw6PcWxhVSWR2UllqRR3hNooSjWnrIkkFfUS0kvf+qqqapSWlmtg73A4gs8kIiIiIiKzY2hvItIW59ChQ3rp8u23347f+73fw913342ysjLExMRg3bp1uOOOO/CVr3wFf/AHf4DNmzdjbm4OCQkJej8REdFHmZiw4NQpK779bSf+8R+jUFtr09tkgdmyMh9uvdWD7du9sPLMgMj0JKSXc8DZ2Rn9KMG9sFisGtbX1Kw3zhMvQ0ZGFhwOp95HREREREThg1NzE5E2OIODgyguLtZKeqmez8zMRGxsLGw2m36UxWbz8/OxevVqVFdXa7V9W1sb+vv7g9+FiIgoYH4e6Ouz4Omn7Xj8cSd++EMn3nnHjtZWK6anLUhO9mvv+i9/2W189CElhS1xiMxufn4OQ0ODaGg4jdraE2hubsDU1JQG+dIiR67OlIKOxMQkrbyX24iIiIiIKLwwtDcRqZSan59HYWEh0tPT9TJnu92ugb1MxKSnvVwGLbdLH/uioiJ9bH19vbbWISIiCpmasqCjw4r9+6UVjhP//M9O/OIXDrS0WBEV5TeOIT5s3uzFzTd78PDDbpSU+BjYE5lYoLp+FsPDw2hvbzHO/2pRV1eL1tYmTE9P6v1CQvrQRkRERERE4YmhvYlIGC/9RiWkl4mWfC3VUlFRUfq1LDoroX6I3C73T0xMYHZ2NngrERERcPy4FT/5iQN/8zdROHHig4f7ykof/vRP5/HHfzyPz3zGYxx3gncQkSlJ+xuXy4W2thbU1h41tuMYHx+D3y9vtln0fp/PG3w0ERERERGFO4b2JiJ96aWCXsJ5qboXoap6aY3T2tqKgYEBnZhJxb1UWkmFfagin4iIaGTEgvfes+Gll+x4440zrXDS0vy49loPvvIVl7G5ccUVXlRU+JCezpY4RGbmcs1jcLAfp0+fQEtLI/r6ejEzM62LyxYVlaCycjUSEhL1fJCIiIiIiFYGnt2bSFJSkvaslzB+fHz8/cuc09LSkJWVpQvVnjp1Co2NjbrJ5y0tLUhJSdHnEhFRZJP3e9varHjhBTt27bKjttYKWZ8yM9OPjRu9uOceN77+dTceesiN7Gw/oqODTyQi05ECDSniCLXDOXnyGLq7u7SnfWJiMvLzi1BeXoWKilUa4FutvGSGiIiIiGilYGhvIhLMS4/69vZ29PX16WRNgvuysjJs3rwZQ0ND+PnPf47/8l/+C/70T/8UTz/9NMbGxrBlyxaUlJQEvwsREUWqzk4r9u6V0N6Brq4zh/gHH3Tjj/5oHrfd5kVOji94KxGZmVTTd3V14Nixg6irO4Xp6SlthZOVlWucF16G1atrjM9zWGFPRERERLQCWfyhcm5adr29vWhra9Nt1apVWL9+vU7ERkdHtTXOrl27NNCXKnyZtCUmJmrIf91116G8vFwXr10M8mbB1NSUVvFLdb+8MSDDRFr05Obm6psI+fn5FzVJlH6s8v0aGhr095XP5f/ndDr1ioHQ95YrDhaTz+eH2y2/15x+bjbSmsJmsyImxgm73WZMzOfg8Uh/Wr48yTysVguiouyIi4vC7KwLc3Nu4/XLMWoGnZ0WbYXT0GDV/vX799uN/TZQXOzDTTd5cOedHqxd6zX248EnrFBybLTZLDpGZb86NTWvY5SnOmQGMj7tdhmf0Tomp6c/enzKbX19PTh9uhY9PZ1aXR8TE4ucnHzjXEy2PP2a7RFpscn5aHS0QzcZoy6Xh+ejZCpyPupw2PRYL/O7mRmXMUZ9et5jJjExDp3byZxZzkmIiIguFEP7MCGXR3d2dqKpqQldXV168M/Ly9MKewnuZUFamQwulAwHCezr6urw7rvv4uDBg++H9nFxcSgqKsK1116LK664QkP2TztZlOfLyVRPTw/q6+uxe/dufXNCLvn2eDy6qG5OTg6uuuoqXH755aioqAg+c3EwtCdaOIb25tTba8Fbb9nxz//sQHe31djPBY4FeXk+3HCDB3/0Ry5jf+2H06k3r2gM7cnMLiS0l3OmQJX9YUxMjGtxQ2ZmNiorVyE9PQMORwS8oGlZMLQns2NoT0REkYKhfZiQExG3263hvXwUDodDt3M/XwiphJfq+n/913/VdjwSzEv7HTnZkJY97733ngb3V199NW6++WYkJycHn/nxJJiXNwOee+45vWJAJp+lpaX6poP83JOTk5ifn9f/34YNG1BVVRV85uJgaE+0cAztzUeO4H/1V1HYudOOgQGLsQ+3GPuNwH3/+T+7cO+9bmNf6zP2K4H9zErH0J7M7EJCeyHtcIaHh3QR2ujoGBQUFBnnCTHG93Do9yJaCgztyewY2hMRUaSw/YUh+DmZWGCiZzdOoKN1s9lsGBgYwMmTJ/H222/r/dK6ZqG6u7tx5MgRvPnmm8bksAA33ngjNm7cqEG9BOrT09Ma5o+MjKCmpgbx8fH6s3wSCeUPHDiAQ4cO6efbt2/XNwOkDZBcKSBV9rJlZ2cjIyNDW/EsJjmJkwmHTDzMmN3IiVzoBFRO7NzuwATJjD8rRa7AfsgKp9MOj8erbyxxjC6f/n6Lsa+24/nnHaittRl/D4vuSyoqfPjiF9249VaPfi4V9nJ7JJAxKvtSGaPyO7tcsjZM8E6iZXb2+BQSNklgPzc3i9HREUxNTcLr9WhAL+T8Ss75YmLikJycgsTEJOM2GdtMf2jpyBiVAhLZZIx6vTzWk7nIPlDeXJJ9qcyXQvtSs5F5nWzy83K3TUREF4MrVy0zqQqQ6vaJiQltFTM4OKihuATbcnvoBEQ+Su93uV16wUtPeKl6f/7553VxWgnvF4O03pHvJdX81dXVGtpLqxrpmS899nfs2AFpkyPtc+TnmJmZCT7zo8nPLi123nnnHf0d5fvdcsst2mJHKu3lzYHKykqsW7dO3whYrN78REQrkRwWJLA/cMCGn/7UgdbWwGRQ3j/Nz/dh+3YP/uAP5rFxoxdRUcEnEZGpyLmRnAPOzs4a532DaGtrQUtLk/Ha7tPgXu6X0F761mdkZGpoz7CeiIiIiChyMLRfZhLMS1AvAfwLL7yAX/7ylxrESy95aUcTaoUjEzsJ7KVS/cknn8Tf/u3f4oc//KF+LdXusijtYpDqfam2l6r9rKwsvQxbKr+FfC5BfmZmpk4yZXFcCeE/ibTGkcVzT506pRVjUrkvlfScfBIRXRgJ7L1eGMcBB/7+753Yt89m7IetGtjHxfnxW7/lxn/4Dy4sQrc0IlpCEsq73S7jXKoJJ08eM86RTqCh4ZT2sZdCDjl3IiIiIiKiyMX2OMskVDUv4fxvfvMb7N+/H7W1tbrQrCzQ2t7erqG9hNzSkka+fvXVV3VxWKlyl7Bf2spIixlZvFWq1BejQl1+jqNHj2poL99TKuFDJLyXXvRSiS8/p7SzkcVwpaXNx5HAXh4vvezlscXFxdo3X/5fe/bswbFjx/SNAnkjQN58kDZAix3oS9DF9jhECyOvS7bHWT5zczD2/1Y89ZQDr7xiR0OD1Tg+yDoDfqxe7cOjj7px000elJb6dZ8SiWSMsj0OmZWMT9l8PrcWScj5XEdHG4aGBoxzoBnjHCgZWVnSKjDPOB9wvF80QXQpsT0OmZ3sR9keh4iIIgEXol0mElBLkP30009raC9BtUzQ5FJoCfSl7Yy0obnjjjuQmpqqPeRfe+01XYhWvpaKdwnspWWNBOESpi+G73znO3j22Wdx5ZVX4tZbb8Xll18evOeM733ve/jVr36FTZs26WO2bdsWvOf85A0HuZJAFreVHvbyZoBMVOVNCakmk99d3iRYs2YNbrvtNuTn5+vvvpjkhE5CRlmUUK5aMJ/A4omxsU4dA7Lwl/y8fHmSmQTeuAss/DU7Kwtju036elpZpOB2ft6ibXAkrP/7v4+CyyV/j0BLnPJyn7HvlJY4LuPvE9n7jFBoH1iI1mLsS+eMYyoXoiVzkP2l1+s2xuWEtsM5fvyEntfJmI2NjUNpaTkKCoqNc6J8fTxDHrr0AuejsghtVFRgIdpQIQmRWYTeWAotRDs769JjPWCucRod7YQsRivnz9yfExHRxWBov0ykwuoXv/iF9nmXz6+//nrt6y6LvUr/91DFu7SkkRBfSFuarVu36iZBvVSlS5sZCfslnFgM3/72t/HMM89oz/mbbroJmzdvDt5zxhNPPKEtfMrKyvRNhWuvvTZ4z/lJ/335PX/wgx9ALveW6nz5XWVx26SkJA3vjx8/rm9MSM98+beQYH8xhUL7mRmXKSce8ueTE1A5uZNKZvk5pbKJkyQyExmjUjEkby5JYC9XrsgY5VFkaRmHBDQ2WvGjH9nx+ut27Wcv/+bR0TCOGT78/u+7jX2xF1lZkVthHxLYl1p1jIrARJ5VomQGfi1U6OvrQVNTg3Hu16cFGnIOl5Mj50WrdSH++PgEvU3CU6JLLXQ+KoF9VJRdz0clFOX5KJlJILS3GvNkpzG/8xnnpIH5ndmO9dHRdn0tMbQnIqKLxdB+mXR0dOAf/uEfNLCWAP7ee+/VtjFSYS6TOAnsd+/ejX379mklemlpKW644QasXbtWw24J65fisunHH39cq/8ljJfQXvrPn+tHP/qRhvbSOkced9111wXvOT+pqn/rrbf0efLmwurVq3H33Xfr8+X3lTcp3n77bRw4cEAf/8ADD+DOO+8MnuAszhmODHM5mTPr5ZPye8qvKlUj8rm8wRA4+eTLk8xDxqZcjizBvYzRUBjKcbp0jF2jcRyw4PRpC/butaGtLbBPrK4G1q8HNm/248Ybvais5BUPIrQvlTFqfPX+Pp9jlJaTjD9pA9jZ2Wls7RgcHNCCjISEBBQWFumC/FJdL4UacrUd0XIJ7UPlWC9j8cyxnvtQMg8Zp6FCEpkvBa5ONt/5aKDN1OLNZ4mIKPIwtF8mLS0t+Na3vqWLyEroLSG1tL0J6erq0sD+n//5n7XySgL7+++/H2lpacFHLI2zK+1vvvlmbYFzrguttK+vr38/tJe++9u3b8cXvvCFD/wu8rtKz/6XXnoJjzzyCB577DGdvC7WGxMyzM14Mnc2OZ8LnNRJFS1DJjKn0EQpNEY5TBefdByamrKgt9eCf/1X4MUXpc1Y4Haprk9N9ePuu/3GcQO48cZAixw6g/tSMhsJ6I8cOYzTp6WHfTuioqKM13GaXnkorQHlSspAdT3R8gvtQ2VjAQmZVTicj4Z+RiIioovF0H6ZSD/7P/iDP9D+7RLYy2Ky0u4mRC6hlgVa/9t/+2/aB14q8aUtjoT8SynU015+HgnuF6OnvbxBIVcNfPe730VVVRVuv/123HjjjR/4fWVhWllkVx4jbwRIqL+Yk1gZ5oHLJ92mnXzISV3gEkoL5ufdxiSfEyUyF5l8SMWQtHFyudy8ZH6JzMzA2Gfa8Dd/40RXlyzmLT3tA/dVVfnw0EMeXHOND5WVfmM/Kn+XwH0U+LeQcSr9mI3Pgvt8tseh5SW97FtamtDQUG+c7zRqi8Di4hLk5hYYYzVGr6iUcUtkBnIe6nDYdQ0b2YcGFp3nTpTMQ/aXcjWIHOulyj7UrtFsZKFc2RjcExHRxWJov0waGxvxzW9+U6vVJZCXRWXlMukQaZFz8uRJ/Pmf/7n2d3/wwQe1rYy0xVlKUg0vgby045HwXKriQ2SouN1uDfZfeOEFDfXlCoANGzYEH3F+0gJIevRLOyB5A+Izn/kMrrnmmg/8vtIuaM+ePXplgbTl+fznP69vaCzWAruhSydlQS0zntTJXF2uKpDFiuRSSvk52dOezEYmHTL5CPW0D725RItDjsZSTf/aazY8/7wdv/ylw9jnBvYPdjuMfaPH2Cd7cPnlPmP/6EdSEv/tzxWqapPF6cTMjOxL+QYoXVqBBWe9ejy3WKw6/sbHxzA42I+BgX7j3K8YaWkZiI6O0+M8hyeZiYSh0s9eAtHAQrR8g57MRY7zUkQSGxul87vZWbfud822L5XXkGzsaU9ERBfL9heG4Od0Ccmiqy+//LJWm5eXl2vbGOFyuXSbnZ3VsFvaykjFuYTdEnLLCUnoMWdvYjH6oLa2tmprnunpae05X1FRoSGIkEVkx8fH8d5772n1vFTjy89+dlufjzI5OanPk99XevfLmwJyeXjI0NCQ/r8PHTqk/8/169fr77tYvV3lJE6Cm/n5MwtnmmkT8u8sE3w5sZOKEfl5zfizcovcTchkXoJ7mcSHJvLneyy3C9skrJ+aktZoVjz1lAO/+Y3d2A9L+OxHRoYfRUU+fO1rbtxzj0cXnI2K4r/7+TYhhyzpcysfz+zz+e/FbWk3GWdyjjYzM2u8lif1vMdmkwrLwPoKTmeUcQ6UpOd0+fm5uqaPyyX7UHk+xyc382yh81HZZIxKpT2P9dzMtAmZL8n5qMyXAvtS841ReWMhcD4SWCuCiIjoQi3+SqZ0QaQNTltbm1bVHz9+/P1NvpaWMRLIy0Kt0k7nxIkTH3jM2dvAwEDwOy6MTCZzc3N1wTR502Bubk4noUI+P336tP6/pN+8hPqfpse+XB0gj5MFd+V7tLe36+91Ngnt5XaRlJSkj5fLxYmIIoHsEk+dsuJ//A8n3n3XhvFx6dMKrFnjwxe+4Mbjj89h2zYv2L+eyJwkeJ+fnzfO3Rpw6NB+HDiwB8PDg1pxLwJBqANxcfEa5hMREREREX0cVtovk1Cl/fDwsIbyEljX1dXh1KlT72+ygGtnZ6dOAuVxUt0uofnZjwltycnJ2mpnoWTSKS1w5A2CwGWGfp1oys8obyLs2rVLA/aCggJcf/31eoVAqBpefo63334bhw8f1udkZWXp7fK5TFrlDQp5bk9Pj1aYyf9HKvrlTQvpZy//T6nav+KKK1BdXR28lHBxyhIk/JIKDKlgl8/NRn7NQA/RQKW9233migAiswiEToHKJrkcOdDnNngnXRTpVT8yYtHK+l/9yoE9e2zGftJi7NOBq67y4pZbPLjuOi9Wr/YhJiawr6CPJmM01MZJ/q2k+o5jlJba3NwsBgcHjPO0RuO8rc14DQ9iZmYaaWnpGtJLlb04sw8NrNcjVytxfJLZBFqPBCrtZYxKu0aOUzIT2ZeGrvyU+VJgX2q+QSrzOlbaExHRQjC0XyZy2fTBgwf149TUlDHZG0R/f//7m3wtIXd0dLQ+XtrSnPuY0CaV79JSRnrfL5RU0MvirxLQy/9PAnYJ3KXyXt4wkJ85IyNDF59du3athu8h0srnmWeewb59+7RaX+4PkZMVeax8P+nnL2G9/E4S4stVBRLYy+979dVXY+PGjcjJydHnLBY5j2NoT7QwZwInhvaLQf7thoctOHLEhh/+0ImXX7YbxwRZRBWoqfHi4Yfd2L7di/JyefM0+CT6WDJGGdrTpSLnR/Pzc8brWK4WlMKKWuNcZlyP3zExsUhPz9RWf7LYrDh7fAqG9mRGDO3J7GRfytCeiIgiAReiXSYSUMvirBLaLwZZpFb63i+UDAd5E0Gq/nfv3q0hvYTrcruE7oWFhbj22ms1tE9JSTFO6M9c4v2LX/wCTz/9tF5F8Nhjj+GRRx4J3hNYlE2uGDh69KiG+vJRrh6QanvpbS/fV0L+G2+8UQN7efNgMYVO6KampN2P+Ya8nMjJyWdMjFMnSdPTc+/3ECUyC5nIy+J0ssjn7KxLF6PlQrQXT1rivPeeDf/9v0ehvd2qLXHElVd6tML+s5/1IDHRb0xK9Wb6FAIT+cBCtLJfnZriQrS0NGRMTUyMobu7C62tTRgaGtAWgLKAfnZ2HiorVyMjI1PPnULtcGR82u0yPqP1+YFF5zk+yVzkfDS0gKaMUSl44fkomUmo0EmO9TK/m5lx6VzTbLvSmBiHzu0CV48HbyQiIroADO2XiYTVEm7L4q6LQRZ4lWquxSCVYxLcS7W9bNIaR4aJ9KbPy8vTNjz5+fl6AnK2UKseWUR3w4YNH6i0D5GgXha6lR798maA9LaX0F6CegnuZYHa0NUFi4mhPdHCMbRfHFNTFmM/aMGBAza8845NW+PMz1uQmenH1q1eXHONB1u2eFFd7TP+zYNPok+FoT0tNb/fp+du/f196OvrQU9Pl1baS2AUH5+A3Nx8Y8vT4F7OZ85eUJ+hPYUDhvZkdgztiYgoUjC0p4jA0J5o4RjaL9zsLNDaasVbb9nwzDMOHDsWCPSSkvwa1P/2b7uxZo0XWVn8d70YDO1pqblc89oC59Spk+jq6sD4+CikZ31KSipycqSwoRKpqedfTJ+hPYUDhvZkdgztiYgoUrCGj4iI6BJpbLRqZf33v+9EQ8OZQ/C2bV7cfbcHmzd7kZrKcITIrCSwb2ysR29vF6amJrWSvrCwGDU167B27QYN78+uriciIiIiIroYDO2JiIiWmHRCkyVMdu+24dVX7ejqsmJ21oKcHD/uv9+Nu+7y4LLLvNrD3uEIPomITEda+qWlpSEuLl571ldXr9Xqeqmyl/Y4spi/VNQTEREREREtBEN7IiKiJTYxYcHx4za89ZYdBw/a4PUCGRmBljhf/KIbO3Z4UFrKHvZEZiEta6Tdgqy9I+sQhUhYX1BQjPz8QpSUlGPNmvXG10VITEwKPoKIiIiIiGjhGA8QEREtsbo6K/7sz6I1sA+59143fud3XFizxqc97YnIPCSwn5+f18Vmh4YGg7dKL2UroqKiUVlZbWyrkZCQeN7+9URERERERAvB0J6IiGgJ+HzA/Dzw4ot2PPmkQ3vYT05akJDgR3W1Dxs3+rBqlQ/x8X4w8yMyCz9mZ2fQ29uNkyePor7+FNrbWzA8PKhV94BFg/vY2FjdbDY72+EQEREREdGiY2hPRES0yPz+QEucU6es+MlP7HjmGTtCHTbS0/3aDqeyMtDDnnkfkTl4vR7MzMxgYKAfra1NGtq3tTWjv78XY2OjxmtYQnsiIiIiIqKlx9CeiIhokUlAf/SoFX/4h9HYu9cOn+9MMp+f78cXvuBGebkveAsRLTfpYT8xMYHm5kYcP37Y+Nig7XEcDqe2wElISILdzlWiiYiIiIjo0mBoT0REtEg8HmByEnj9dTuefdaBujqbVtzHxflRUeHDgw+68cgjbuTn+xATE3wSES2bwGKz8+jqakdjY52G9YODA/B6fUhLSzdet6tQUlKGhIQE9q4nIiIiIqJLhqG9yUill8fjweTkJPr7+9HR0YHW1lb9KLfJffIYr9eLqakpjIyMYHZ2Vr8mIqLlIz3sR0ctOH7cpu1wfvMbu4b40sO+pMSHa6/14CtfceH++91wsGCXaNkF2uFMY2hoAE1NDRraSy97kZqahqKiUlRVVaOwsAQxMdK//sxC0kREREREREvJ4pcEmExDQnm5PPvo0aM4fPgw2tvb9eukpCTcf//9WL16NdLS0rTn6rFjx/T+tWvXoqCgACkpKcHvQufy+fxwu+WNjjn93Gykp7XNZkVMjBN2uw3T03PGWPCZ8melyGW1WhAVZUdcXBRmZ12Ym3PD6+UYDZmasuDdd23427+NQne3Rb+W0F7C+ptu8uDWW73IyPAjNpb/ZktFFgS12eTKhijdr05NzesY5akOnUvGxPj4mFbY19efxuTkhFbcyxgqLa1AUVEJcnLyjH1etIb1i7HYrHwPu13GZ7T+/6enOT7JfOR8NDraoZuMUZfLw/NRMhU5H3U4bHqsl/ndzIzLGKM+Y18afIBJxMQ4dG4ni5cvwiGEiIgiECvtTUQq5qWifufOnfj1r3+NQ4cOabV9Z2cnmpqaMDY2ZpyYuHXS53A4MDg4qOH+wYMH0dPTE/wuRER0Kc3MAK2tFjz7rB0//akDDQ1WY39tQWamHw884MZ993lw3XVeFBT4GNgTmYgUSkxPT2NkZAg+n1fb4VRXr0NZWSWysnIQFxevLXEWI7AnIiIiIiK6EAztTWR4eBjHjx/Hc889hxMnTui78oWFhVplL2G9tMCRaiy5PTo6Wr8eGBjQ4L67O3A5NxERXTqTkxa0tlqxe7cdP/6xAy++aNdFaKWH/erVXnzpS27ceqsHq1b5jH138ElEZApSQS8LzUZHxyA1NV3b4axduwF5eQW6+CwREREREdFyYYRgInV1dXjrrbc0oN+xYwf+6I/+CF/+8pe1/c35Lp3OyMjQtjgS3EsVPhERXVoHDtjw5JMOfPvbTpw+feaQWlPjw9VXe1FV5UNiIqvriZabnEcF2icEXo9SPZ+YmIjCwmJs3LgFW7du0/71oep6IiIiIiKi5cTQ3kRCC88WFxdjzZo1qKysRF5eHuLj44OP+CC5PTk5WReolR73RER0aUg1vbxXeuCAFe+8Yzf23VZjP2zRFjhf+pILDz/sxjXXeHQRWuZ/RMvJb7w2p3WB2draY9oKR4ojhM1m1+A+P78Q6emZGtgvVv96IiIiIiKihWBobyKy4Oz4+DhKS0s1rI+KitJWOB9F+to7nU7Mzc29PwElIqKlNT8vb7JacOSIDQcP2rSHvc8H7WF/+eVefO1rLtxzjxvr1vlgswWfRESXXKBn/Yzxeu1Dc3MDjh8/gp6ebg3xQ5zOKCQnp37iORcREREREdGlxNmJyUh1l1yWLZVen8TlcunitTLJ5ESTiOjSkKr6l1+24//6v6Jx+PCZffVDD7nxjW+4UFDgR0xM8EYiWhbSBmdiYhwNDadx/PhhNDU1YHp6Ct3dnRgY6As+ioiIiIiIyJyY9JpIXFyctryRHvVScf9xpC/r4OAgOjs79dLuj2qhQ0REi0MWnT11yqqLzb7wgh1NTVa9LT3djx07PFplX1bmQ1SUcXDl0ZVoWcj50fz8HDo62jSwb21twtDQoIb4aWkZyMzMMs6bkoOPJiIiIiIiMifGCiaSlpaG7OxsDeLb2towPDyslfRer1cnm/Jxfn5ee9j39vaiqakJXV1dyM/PR3p6evC7EBHRYhsft6Cx0YrXXrNpYP/ee3Z4PEBSkh/V1V7cd59bF52NjpYrpoJPIqJLKtAOZ0qLHxob63Tr7+/VqxjT0tJRXFymW0ZGZvAZRERERERE5sTQ3kSkl/3GjRt1Qdq33noLL774IlpaWjA1NaWVY7LYrIT1hw4dwhNPPKGPkRB/69atKCkpCX4XIiJaTH4/8M47Nnz/+w784AdODe9Drr7agwcfdGPHDi+ys33BW4noUpPihvHxMTQ3N2Lv3nfQ2dmuhQ+y9k9paTnWrt2A1atrkJiYxJaCRERERERkehZjkuMPfk7LbGxMJpvNeO6557SCXirrMzIy0NjYqF+vX78eycnJWknW3t6OhIQEVFVV4e6770ZxcbF+Tefn8/nhdnsxNTWnn5uNVObabFbExDhht9swPT1n/J19pvxZKXJZrRZERdkRFxeF2VkX5ubcxn5q5Y5ROTp2d1vw5pt2vPWWDUeP2tDZGVh0trjYh9tv9+Cyy7yoqfFqH3vmgMtPKqptNouOUdmvTk3N6xjlqc7KJmv8TE9Pat/6rq4ODA72G8dSh3HOlILc3DxjK9BK+7i45W0lGFi3SMZntI7J6WmOTzIfOR+NjnboJmPU5fLwfJRMRc5HHQ6bHutlfjcz4zLGqE/P28wkJsahczt5o1jOSYiIiC4UQ3uTmZ6exokTJ7SKfv/+/ZiYmNDJqAT4Qg76UjUmAf1VV12F7du3o7q6GrGxsXo/nR9De6KFi7TQfmTEgnffteEf/sGpi89OT1uM/S+Qmuoz9r1e/Nf/OoekJBiv2eATaNkxtI9MMzPTGB4exOHD+zEw0G+MAbvxOk1HYWExKitXITo6xnidLv8LlaE9hQOG9mR2DO2JiChSMLQ3GTnhkMu5R0dHtU2OtMeRBWclvJc/lYT1Un1fVlam/e9TUlKMk4EYPRmgj8bQnmjhIi20f+YZO55/Xqrs7cbvazFen37k5fnx0EMu3HhjYNFZmy3w+iVzYGgfmQJr/szhwIH3MDIyoi1wSksrtHe9FDVYLBKYLP8LlaE9hQOG9mR2DO2JiChSMLQ3qdCis7IYrSw8Ozc3p5O66OhoxMfH68Kz8rlNEiP6RAztiRYuUkL74WELjh+34umnHVpp39trRVqaH2vWeHHLLR5s2xYI7KXqnsyFoX1kkDV+5O8rFfTyN5e/rwQ20hpnbm7WOJbGGudJGfrRDGF9CEN7CgcM7cnsGNoTEVGkYGhvIlJdPz4+bhzcYzSQl01a4ZhpwhmuGNoTLVwkhPZDQxYcO2bFzp0O7N1rQ3t74Cqmq67y4s473Xj0Ubfxb6A3kQkxtF/ZZE0fqagfHBzQECQtLcM4V4oy/uaB1jcS2gizXn3I0J7CAUN7MjuG9kREFCnYU8VEXn/9dfzN3/wNfvzjH2PPnj26+Kz0sycioktj5047Hn/ciV277FphH3LDDR7cdZeH1fVEy0QCmbGxEZw+XYujRw/i+PHDaG5ugKwFFCLBiFkDeyIiIiIiogvBmY2JSEscqbQ/cOAAnn/+eTz11FN44okn9HO5rbOz8wOTUyIiWhyy0Ox3v+vAyy/bUVtr00Vo5T3T4mIffvd3XbjmGg8yMvyslCK6xOTcSFretLe3oqHhNNramjE8PISpqUnMzs5o9T0REREREdFKY/sLQ/BzWmbSHkcWnJVF1Hp7e9HU1IT6+nqtuJf7pK+92+3WajOpwJePcql14JI7JkkfRy6XlEt75RJfM16FLn++0KWe8vd0uwOXIvOKeTKTQGsHK5xOOzwer7ZwWgljdGLCgn37bPgf/yMKDQ1WzMxY9DWZne3H9dd78Sd/4kJ+vt94bQafQKYVOCZadIzK39Dl8nI/GsYkkJ+ZmcbQ0KAG9h0dbRgbGzOOlQ4kJ6doe5zU1DRERUk7JPOfB509PoW0deD4JLORMSqtGmWTMer1roxjPa0csi+VNk6yL5X5UmBfar5BKvM62eTnDYNDFBERmRB72pvI1NSUVtrLx/b2djQ2NhqT1AatsJcg3263IyUlBTk5OaiursaqVatQXl6OrKwsncDSRwud0LGnPdHFk4n8SutpL0dAaYXzwgt2bY0zNxeYVdntfvzhH7pw//0e5OX5NLDnhMv8AhN59rRfCeRvJmF9Z2cbmprqjePilL6hLQvwV1SsQmFhsXH+kw2nU3rah8ei/DI+2dOezI497cnsQoVO7GlPREQrHUN7k5E/h5x0SEg/MDCAvr6+9zepvpeKe2mRIyF9amqqBvbZ2dnYunUr1q5dG/wudC6G9kQLt9JC++FhC44ft+LFFx147z0bWlqsxv7Uh8pKH7Zs8eL22z2oqZErmoJPINNjaB/+5G8lAf3Q0AC6u7uM858e/VzC+ZSUVOTk5CMvL18r7GNj44LPCg8M7SkcMLQns2NoT0REkYKhfRiQy8OlbY5U3tfV1aG2thanTp3SUH9+fh7Jycn46le/ikcffTT4DDoXQ3uihVtJof3oaCCwf+YZB/bssaGzU15/flx1lRe33ebBAw+4wUVnww9D+/An5zy9vT04ffqE8bHb2M/MamAvrXCkul6q7KOjo42/c3hU15+NoT2FA4b2ZHYM7YmIKFKwQ28YkIlpYmIi1qxZg1tuuQWPPPII7rnnHm2RIycB0t91ZmYm+GgiIvokr71mxw9+4NTWOD09VmMf68fatV585jNu3HSTx5gMBh9IRJeUrNkzMTFmvC67NLCPj09ASUkZ1q/fiIqKKsTExOi5DxERERER0UrGWY+JSeWVVJwNDQ1phf2ePXuwa9cuvPLKKzh27Jj2v5cWOatXr0ZmZmbwWURE9FGmpiyor7fqwrNHjti0RY6xt0VJiQ8PP+zGli0+pKX5WRFFtExk/Z6EhETk5RWgrKxCK+vLy6uQkZGt7XACFYt8gRIRERER0crG9jgmIn8KubRPWt7Mzc1p9bz0r29ra9MFaaU9TldXl/a7l572sihtXl6eLki7bds2rFu3Lvid6Fxsj0O0cOHeHsfrBdrbrXj1VRueftqBo0cD7TUksL/1Vg++9a15REfrTRSm2B4nnAQKE+bnXcY5jd34u8kWeE0GetoP6fEwLi4Oycmpenu4Y3scCgdsj0Nmx/Y4REQUKRjam4jXK6HyFJqamlBfX6/V9c3NzRrSS4gfFRWF/Px8lJWVaVBfWFioFfbS2zU+Pl4vGafzY2hPtHDhHtpPTFjwzjs2/Pf/HoXeXosxyQvMoP7wD+fxuc+5jX2q3/gd9SYKUwztw4fP58Xw8BDa2lqRkZGpC8smJiYF7/MZx0C3/j0l7JBAfyVgaE/hgKE9mR1DeyIiihQM7U1k//79ePfdd9HX12dMZIc1wJeqM2mBI+F8Tk4OsrOzdZPPpdI+NjY2+Gz6OAztiRYuXEP7yUkLOjos2hLn7bftePVVu7E/gLEflYVnPfj85924/HKv8doLPoHCFkN785MCBbmisK+vW/vW9/X1Ijk5BQUFRdoKR/6Gsq1EDO0pHDC0J7NjaE9ERJGCob2JfP/738ePfvQjDeqTkpI0nJeKeulZX1FRgdzcXDidzuCj6UIwtCdauHAM7efmgJYWK157zYZf/cqB48cD7TcSEvwa1P+n/+RCZaUPqal8ra0EDO3Nze12G8e3KYyODqOu7hT6+3uN1+gsEhOTtX/9li1XBMMNhvZEy4WhPZkdQ3siIooUDO1NRBaYlUp7CepLSko0pJfWN7JJaxwJ7FfqRHapMbQnWrhwDO1Pn7bi9dft+OEPHRgYsBg/d2Afun27B7ff7sE993gQH+9nlf0KwdDevORvMDDQj46ONjQ312NmZtr428gVLg5UVVWjuLgUOTl5K/o8h6E9hQOG9mR2DO2JiChSsHuviVRWVuK2227TRWVramre71mfmJiooT0DeyKiT0cWnZ2eBnbvtuHll+3o7rZqYJ+f78MXv+jCZz/rMfa1Xq24Z2BPtHQkSJmcnEBrazMaGk6jvb0FY2OjsFptxjlONtasWY+iohKkpKTyPIeIiIiIiCiIlfbLwOPx6CXiwuFwwB5MjOQ2ue9inP196MNYaU+0cOFSaT87C4yMWNDZacXjjzuxa1dg3ygtcK6+2oM//uN55OX5jd9Db6YVhJX2ZuLXY5iszyP965ubGzAw0GfsN+aN/YgT6elZKCwsRmXlKuMcxmn83QKtq1YyVtpTOGClPZkdK+2JiChSMLRfBgMDA7oJqaSXTZx9+4U6+/vQhzG0J1q4cAnta2uteOstG37+cye6uiyYmAjMlB56yI2773ZrhX10tPw+ejOtIAztzcPn88LlcuH48SPo7GzT6nopTEhMTNJFZ6W6Pi0tw3gtxujfLRKq7BnaUzhgaE9mx9CeiIgiBUP7ZbBr1y68/vrr+vmOHTt0k4P52bdfqJtuugnXX3998Cs6F0N7ooUze2g/MwP091vw3HMOvPqqHYcP24zXEZCe7sfGjV488IAbV13l1a8Z2K9MDO3NQwIUj8dtvA73o729VVvkZGXlaN/63NwCbYcja/ZEQlgfwtCewgFDezI7hvZERBQpGFssg+7ubuzbtw/79+9HV1dX8CTDr5+Hbv+0W+jx8j2JiCKVdBzr67NqD/tXXrEb+8VAYC8tcdatCwT2W7d6kZnJwJ5oKch5TGgTElLIIrOJiclaUZ+enony8ipth5Obm4eYmECFPREREREREX0YK+2XwenTp1FXV6efr1q1SjeZuJ59+4VavXq1fh86P1baEy2cmSvtu7stePttG7797Sj09lqM11AgDHz4YTfuusujlfay6KzTqTfTCsVK++Xj9Xq1CEF62dtsdg3t5d99enrK2FfIMc1jvAYTtbo+EvrXnw8r7SkcsNKezI6V9kREFCkY2i+DiYkJTE5O6ueJiYnGJDZBPz/79gt19vehD2NoT7RwZgztpZpeFp7dudOBF16wY/duu1bdZ2f7ceWVHg3sL7vMi7Q0VthHAob2l56E8fPz8+jt7TJei7PGPiJKW+BIQC8kSAldUShhvYQXkYqhPYUDhvZkdgztiYgoUjC0NxEJ7WdmZhAfH6+TXofDEbzn/Nxut1avTU9PGyctcQztPwZDe6KFM1toL4H9yIgFDQ1W/NM/OfH663a9XVriSFD/O7/jQlWVT3vYU2RgaH9pyXnI1NSk8TocRn19rX4eH5+ADRu2IDs7N6ID+vNhaE/hgKE9mR1DeyIiihScTZmI9Kb/4Q9/iCNHjhgT4JHgrR9teHhYH/uDH/wABw4cCN5KRBQZJiYs2LfPhj//8yhjH3im3cbNN3vwxS+6sHatD8nJDBqIloIEzUNDA2hoOG2cv7yL3t4evVpwfHwMs7MzkEVoiYiIiIiI6OIwtDcRWYj26NGj6Onp0Yr7TyKXoff29r7/HCKiSDA3J/tLi7bD+cUvHKivt2Fy0oKkJD+2bPHiyiu9WLfOh/h4P+yB4nsiWiRSzSjBfFNTAxoa6tDR0apf240XW2ZmFiorVxuvxWRYrZHZt56IiIiIiGgxMLQ3EWmP09fXh6mpKb3k/JNIa5yxsTH09/frc4iIVjpZYLajw4o9e2z45S8dePnlQA97qahftcqHW291Y8MGLzIz2cOeaDFJZb30r5+YGEdPTzfq6k6ipaURo6MjiI6O0cC+tLQCa9ZsQGpquob4REREREREdHEYaZiU9D39JFKNPz4+rgu7yUZEtNKdOGHV6vp//Mco/Tzkuus8+PKXXXjgAQ+Ki33BW4losbjdLq2or609brz2jqC/vxcu1zwSE5NQVbUa69ZtRGlpOZzOQP9eIiIiIiIiunhciHaZzM/Po7u7W7ehoSG97dVXX8WhQ4dw5ZVXGhPgKmRlZent5wpVuzU0NKC+vl6r7B966CE8+OCDwUfQubgQLdHCLedCtNK/vrXVguefd+D11204fdpm/L+B3FwfrrnGixtv9GDTJi/y8lhhH8m4EO3SkH+/4eFBbYfT1dWByclx41YLsrNzkJOTZ7wO85GcnKIV9/TRuBAthQMuREtmx4VoiYgoUjC0XybSCmffvn26nT59Wm+TvvSyuGxmZiYSExONg/z5J7/yJ5PQX76HWLduHT7zmc/guuuu06/pwxjaEy3ccoX20hKnudmCV16x49e/tuPUKZvxOgEyMny4/HIvfud3XCgp8XPRWdJQlKH94pN/PwnrDx7ci8nJCf13lr71VVXVGtgnJCQGH0kfh6E9hQOG9mR2DO2JiChSsB5xmcgETfrWy2Ky09PTusnXcsLhcrk+cPu5m9wnB//i4mJs374dDzzwAGpqaoLfmYhoZTl1yqqLzv7kJw40N1sRFeVHVpYPX/+6C9/6lgtVVT4kJDBQIFoqEjZLJf2aNetRUFCMsrJKXHHFNfp5bGxc8FFERERERES0WFhpv0xkEdmOjg50dnbqQrJiz549qK2txcaNGzWQT0tL09vPFajUkmrXOKSnp6O8vBwJCQlwOBzBR9C5WGlPtHCXutJ+bMyC+norfvMbO955x2bsH23G6wLGPs+HBx904ZZbvLr4LFEIK+0XTtrvzc3N6kc5r4iLiw/eHig0GBsb1XOQjIws49/apv/m9Omw0p7CASvtyexYaU9ERJGCob2J7Ny5E7t378aNN96ItWvXIi8vL3gPLRRDe6KFu5Sh/eioBadPBwL7116zo6EhcGFYZqYfO3Z48Od/Pq/tcKRNDlEIQ/uFkSv9pqYmtX+9LDIbH5+A/PyiYODAxGGhGNpTOGBoT2bH0J6IiCIFQ3sTGRsbMybLU1o1L/3snU5n8B5aKIb2RAt3KUP7X/7SgRdftOPQIZtW3M/NBW7/xjdceOABNyorfRrYcxJEZ2Nof/Hk36inpwsdHa1obW3Wr/PyCrBx41ZtgcOr+RaOoT2FA4b2ZHYM7YmIKFKwp/0ykEVkJycndZOqthAJ6pOSkvTAfvZjPs129vchIgpXXV0W/OAHDjz3nB2HD9swMBAI7AsKfPjKV1y46SYPysoY2BMtFq/Xqy1vGhvr0NBQh46OdoyPj8Hv90Ha37AFDhERERER0aXHSvtlIH3sZRMFBQXIz8/XCfHZt1+owsJC/T50fqy0J1q4pa60Hxqy4O23bfi7v4tCX5/F+H8EgsLsbD+uu86DP/zDeWRl+REdrTcTfQgr7T89CeUlsJc3/nt7u1BfX4exsWHjWOk2XufRxusuxzi3KNFFZ6WHvRQU0MKw0p7CASvtyexYaU9ERJGCof0y+Pd//3c89dRTOnl75JFH8PDDD2sl25NPPvn+7Rfqi1/8on4fOj+G9kQLt9Sh/Xe/68Qzz9hRW2uFy2Uxxn/g9j/6o3l89rMe5OYGKuyZHdJHYWj/6ckVfRMT46irq9W2OPK5hB4pKSkoLi5Dfn6h8XkaoqOjL+q8hD6MoT2FA4b2ZHYM7YmIKFIw+lgGqampKCsr000+D02GZaIcuv1CN3kuEVE4kp71e/fasH+/VRecnZ8PBPaFhT589asu7NjhRVGRD7LMBwN7ooUbHR1Be3sLTp48iq6uDkxNTWhQV1hYhMrK1Rrap6WlQ9r2MbAnIiIiIiK69FhpvwxaWlp0E6WlpSgpKdFJcXNzM1pbW/X2C50kh74PnR8r7YkWbikq7cfHLTh92ooXXrDjjTfsaGwMpPLSEmf7dg/+5E/mkZ7uN/6/ejPRx5JjJyvtP578W7S2NhnnHI1oaqo3/r3siI2NRXJyClatqkFOTp7x7xcffDQtJhmfrLQns2OlPZkdK+2JiChSMLRfBnJJumwiKipKN3H27Rfq7O9DH8bQnmjhliK0f/FFO379azt277ZjdDSw6KyQljif+5wHOTk+Y2IWeI0QfRKG9p9M/i0krG9ubkBrazPS0zNQUFCE8vJVGtbLuQT71y8NhvYUDhjak9kxtCciokjB0D7MBE5I/PpR+uBzYv3pMLQnWrjFDO0loK+rs+Lppx146y0bOjutxngPtMS5/XYP7r3Xgw0bvJzk0AVhaH9+8vvLv03I0NAg+vt70d3dqQvOZmZmIyMjKxgs8EW3VBjaUzhgaE9mx9CeiIgiBRNfE3G5XJiYmMDw8LBx8jETvDXA6/VifHwcXV1daGhoQH19Pdra2jA4OGicrLg54SOisCE97CWwf/55O/bssaG9PRDYZ2X5ceWVXvzu77qwdi0De6KFkvOK6ekp49xizDhXcAVvhfarLy4uRXX1Wq2wz8rK0UIABvZERERERETmwEp7E5EQvrGxET09PVi7di02bdoUvEdCrjHs3r0b7733Hk6ePKkhfX5+PtavX4+77rrLmHBnwW63Bx9N52KlPdHCLVal/XPPBVrivPdeoCVOqCvYf/7P8/jsZz1abS+7M+aHdKFYaR8gv69sssjswECf8TobNs4rNiAzM0cr/oRUJXo8Hj134FV7lwYr7SkcsNKezI6V9kREFCk4SzOR9vZ27Nu3Tz9OTU0FbwUmJyd1gdo33nhDq+xlchcXF2dMxAf08fv370d3d3fw0URE5tTRYcW//ZtTW+IcOGAz9mEWuFxAUZEPX/uaCzfe6NXP2cOe6OJ5vR6MjY0a5wuntXd9W1szent7tCXO9PRk8FESeljhdAbCBCIiIiIiIjIXztRMRIL3EydO6GK0Z1+iLu1y6urqcPToUb18fdu2bbj++uuRk5ODvr4+7N27V4N+IiKzkpY4hw9b8S//4sCuXfb3e9jLQrNXX+3BN77hwrp1Xq2wJ6ILJ1WG0i5vfHzMOJ/oQG3tcbS1tWBkZMS414+5uTlju7jF7omIiIiIiOjSYmhvItLHfnp6GmlpaYiPjw/eCm2XIz3sJbC/4oor8KUvfQn33Xcfbr75ZlRXV6OjowP9/f3BRxMRmYtcrvzOOza8+KJdw3uPJ3iH4fOfd+P3f9+F9HS/VtgT0cWR/vXDw0M4ceKosR3DyMiQ8VpzIyUlBTU161FUVKqfExERERERkfkxtDcR6S0rVXJRUVFwnJVeyWKznZ2dyMzMNCbdRVphn5GRgdzcXO1lLwvUSthPRGQ2XV0WPPGEAzt3OnDkiA0ul8XYb/lwzTUefPObLtx8sxcFBYHAni1xiC6ctMyTgL61tQm1tcfQ3d1pnBNMwW53oLCwBFVV1RrYJyUl6W1ERERERERkfgztTSTUEkeCe6/XqxNxqZyT0F761xcWFmpYH+o/K+F+bGysttOR5xARmcnEhAUnTtjw3e868dprNnR1WbX9TXW1D3ff7dGFZ9ev9zKsJ7pI8ma/BPRdXZ3av76+/pR+HRMTg6ysHFRWrkJ5+Sqkp2fA6YwKPouIiIiIiIjMjqG9icgkWzapqpc+9hLY9/b26jY7O6tV9unp6cFHBy6Fl5Y6drtdW+cQEZnJ/v02vPKK3diHWTA3Z0F0tB95eT7cfrsHd9zhgdMZfCARXZTJyXHU19dqYN/f36u3paamo6JiFS6//Crk5uYbr7tovZ2IiIiIiIjCB0N7E5G2N8XFxWhra8OuXbvw05/+FD/72c+0n31CQoIxCa/QSvsQaYsj4b70v5eKeyKi5eb1Ak1NVjz+uBM//rFDg/vZWYsuOpuf78eXvuTCFVd4kZbmR/CiISK6SNLuJiEhUa/Ai4mJRWlphVbXFxdL//pUREVFv391HhEREREREYUPzuRMRNrfrF+/Hj6fD4cPH8YzzzyDV155BRMTExrYl5aeWUROHiOh/cjIiPa6l161RETLRRablQVmpYf922/b8L/+lxMvvGBHY6NVg/ysLD+2bvXi0Uc9qKz0BZ9FRBfC6/Vo+7wQuTovJyffOA/IRn5+IVavrkFZWaV+LWF9qO0eERERERERhReG9iYi7W927NiB++67D1u3bkV2djZWrVqFO+64Aw8++OD7/ewlsJd2OZOTkzp5r66u1ip9IqLlIoG99LB/4gknvv1tJ2ZmPhgWfv7zLvyn/+RCbKw/eAsRfVqyxo0c++VN/MnJieCtgM1mN15TcVi7dj02btxinAvkITo6JngvERERERERhSuLMRFkgmIisqis9LTv7+/Xybn0q8/Ly0N+fj7i4uK0d31ogdrTp0+jvb1dK/Tl/rNb59AH+Xx+uN1eTE3N6edmI8WQNpu0N3Aaf3Mbpqfn4PH4TPmzUuSyWi2IirIb+6IozM66MDcni2b7jfFqQUODFS+9ZNce9qdOBd4PTk/3o7zch8sv92of+3XrvMY417uIloRUlttsFh2jsl+dmprXMRrOpzqy2OzExDj6+nowOjqi7fCkml7a4TgcDn1M6PdjZb25yd/HbpfxGa1/s+np8B+ftPLI+Wh0tEM3GaMul4fno2Qqcj7qcNj0WC/zu5kZl76xbbZdaUyMQ+d2gSvfgjcSERFdAIb2JiZ/GpmsSzV96HJ4Ce1lkzCfk/NPj6E90cKdL7T3ePwa0r/8sv39CntZYDYx0a8h/Y4dHnzhC25jbAe/CdESWkmhvQQQ0g5HWuH19HSivv6UvpmflpaBTZu2Ij09k+vZhBmG9hQOGNqT2TG0JyKiSMH2OCYmgf3Q0BBaW1u1ql42+Vxuk/uIiJaTTI7k/cSdOx3aFmduLjAjycry4Z573PjqV124914PoqL0ZiK6APPzcxgY6MeJE0dw8uQxjI6O6hv4EvzKR7+fa0MQERERERGtVKy0NxlpeyOtcZqbm9HU1KQB/dTUlLbNEVFRUYiPj9dWOOXl5SgrK0NWVtb7l8jT+bHSnmjhzq20b2nxYtcuK37yEwf27w/0vdmyxYurr/biuusCC85mZHAM06UT7pX28nPKNjIyhIGBPnR3d+nH2dkZPc7LorO5ufnIyyswfsd4OOWyFgobrLSncMBKezI7VtoTEVGkYGhvIm63W0P6/fv34+2338bRo0c1xJcDvbTEEYHqOr9O3jdv3oxrrrkGl112GVJTUxncfwyG9kQLd3ZoPz7uxltv+fCXf+lAc7MVk5OBtjj/8T/O4/77PSgt9RljOvhEoksknEN7qZx3udyYmZlGa2sTOjvbNLSXY3t8fIJxnE9DVVUNsrNzwMVmwxNDewoHDO3J7BjaExFRpGBobyLd3d04cuQInnzySQwODiIhIQFr1qxBbm4uEhMT9TGB3rY9OHnypFbgZ2dn49FHH8WGDRuQk5Ojj6EPY2hPtHBnh/Z1dW688IIff/d3ToyNWYzJvR8FBX5885vzuOMOjwb4nKDQpRbOob20w+nr69Xe9cPDcpXdpHHcchnH9jwUFhajtLQcsbFxcDgCAQCFH4b2FA4Y2pPZMbQnIqJIwVmfibS1teHAgQO60FxNTQ0++9nP4rbbbsP27dtx5ZVX6nb99dfj9ttv1/tWr16NsbEx7Nu3D+3t7cHvQkS0dGRCZMyLsHu3Db/+tV0r7KWvfV6eH1/4ggtr1/q0hz0nJ0QXZnp6Wtvi9PZ2G59PGhP9GJSXV6GiYpWG9snJKdoij4E9ERERERHRyseZn4l0dHRoBb20urn22mvxwAMPaFBfXV2N0tJS3eRzuU1Ce2mNk5ycjBMnTuhziYiW2vQ0UF8PvPKKDW++aYPLBaSl+bFhgxcPPeRBRQUXxyS6GLLAvLTHkWpB6Vcv/etXr15jHPsrkJGRBYtFTtn4bhgREREREVEkYGhvIpOTk9ryRiroCwsLdYE5uZT6XHKb3FdUVIRVq1ZpZb48j4hoqZ08CXz968CbbwZvMNx1lxtf+IJbW+QQ0cWRN+ylor6iogqbNl2Gdes2IitL+tdHBx9BREREREREkYKhvYlIdZ1sdrtdt/MF9iGBvqh2XaAu9DwioqV0/LgVu3ZZceyYBSMjQHy8H9XVPmza5ENVley7gg8koo8ki86Pjo6gsbEO4+NjkAXmhd3u0BY4ZWWVyM3N18/lDXq2wyEiIiIiIoo8nAmaiPSqlW10dFR71c/Pz593cTK5Te6Tx8hjpQpPnkdEtBQ8HlkE24J33rHhtdfsmJ0N9KzPzPRj+3YPVq3yITnZr7cR0fnJm+sul0sD+87Odpw6dUIXnp2ZmQk+Qhati9GFZxMSEvVNeSIiIiIiIopMDO1NRC6NT0tLw7Fjx3Tr7u7WCf655Laenh59jPTAz8zM1OcSES2F0VEL3nvPptupU1YN8ePi/BrWf/7zblRW8kofok8yNzeL/v4enDhxRLfBwX60tDQax/PO4COIiIiIiIiIAmx/YQh+TstMFqGTrbGxESMjI+jr69NwXhaZla2lpQWnTp3CoUOH8M477+D48eMa4O/YsQMbNmxARkZG8DvRueSCBZ/Pb/x7efRzs5EKZavVAofDpq0Q3G6P/rxm/FkpskgRcH29DT/+sQPHjtkwPBwop7/tNi/uv9+DjRu9iInRm4iWnbSOk32p0ykt5uRNbu+y7kflyjjZhoYG0NXVbhzHm9Df36sBvtMZpVX1mZnZSExMCj6DVrKzx6dwu5d3fBKdj4xRu92mm4xRr9fHcUqmIvtSm82q+1KZLwX2peYbpDKvk01+XjknISIiulAW4wDH0zCTkMVkJbB/4oknUF9fj+npaa2gT05ORnx8/PuPkbY4w8PDSEhI0EVrv/SlL6GsrAxxcXH6GPqw0And1NScfm42ciInJ58xMU6dJE1Pz8HjkbUK+PKk5SFHBqmob2qy4pVX7Phf/8tpjEuLBvTZ2cCf/dk87rnHbUzmOUbJPAITeYtxPIzS/erU1LyO0eU41Qm1w5mZmdaK+o6ONvT19RgTeKcev9PSMlBVVa2LzbLFXWSQ8Wm3y/iM1jE5Pb1845Poo8j5aHS0QzcZo1LwwvNRMpNQoZMc62V+NzPj0mOu2XalMTEOndtJQRZDeyIiuhgM7U1ETjakt61U1R88eFAr6js7OzWkn5ub08dIv9ukpCQUFhZiy5Yt2Lx5MwoKChAbG6snBHR+DO2JLox05pK2OP/yL07s3OlAf7/FGI/AunXAH/4hsGnTPHJyGNqTuZgptJ+dndWQvr7+FEZGho39+qRxHHIjL6/AOIaXoKSkzNjnx+pis/Jz08rH0J7CAUN7MjuG9kREFCkY2puE/BlkMi+bnHRIaxwJ7AcHB7W6PtTbXqrxpOpeWuEUFRUhNzdXb+OE/+MxtCe6MD09Frz+uh0/+5kD+/bZ9LZ163y45RY/vv51GxIT541JCEN7MhczhPYej1sD+46OVnR1daK3t9u4zWPs32OQlZVtHLcLtCVOamqa/rw8fkcOhvYUDhjak9kxtCciokjB0H6ZSWW9hPKySTuc+fl5ndhL5byE81JV73A4OKlfIIb2RJ/e1JQFhw9btcr+5EkbxsYsSEz04+GH3bj3XuCqqxzG+HRhbo6hPZmLGUJ7uTJufHwUhw7tQ09Pl+7H4+MTkJubp+1wUlJSER3NhSAiEUN7CgcM7cnsGNoTEVGkYGi/jOSf/tixY9i9e7e2wxkdHdVKe7vdjvz8fKxduxa33347srOz2e92gRjaE316771nw0sv2fHLXzowPm5BTo4Pt97qwV13eXHZZRZkZERhbo6hPZmPGUJ7r9ejb8Dv3bsbfX3d2v6msrJa2+LIgrM2m10n8BR5GNpTOGBoT2bH0J6IiCIFZ43LRCb0LS0txqR+L9566y39XKrtxeTkJBoaGjTM37Vrl95HRLTU3G5gZMSi7XB277ZpYG+x+JGb68PNN3tQWekzJkiBN5mIKEBa38gb7qHg1Wq16RvthYXFWL16LWpq1iM/vwhJSSmQRWgZ2BMREREREdEn4cxxmUhbHKmyP3z4sC48m5OTgw0bNmDbtm3YtGmTtsWRnvavvvoq6urqtHqAiGipeL2BwP7IERv27rWhttYGjwfIzfVj7VofNm/2IT2dlXZEIXJcljfgR0dHMDY2anw+Z7yOvFpNLdX0BQVFGtpXVdVoSxy5io6IiIiIiIjo02Bov0wktJfAfnx8HGvWrME3vvEN/N7v/R5++7d/G7//+7+Phx56CDU1Nejt7UV3d7c+nsE9ES2VyUng0CEb/vqvnTh4MLDwrPjMZzx47DE3YmIY2BOdTRablZ71R48exJEj+9HZ2WHcNhO8F9oWR7bAZfG8PIWIiIiIiIg+PYb2y0QupZdAXhadld71FRUVKCws1Ir7UD97qbwXEuyPjY1pBR8R0WKTrh5vvmnHz3/uQEODDZOTFqSl+XHDDR5cdpkXRUU+sKMHUWAtGnkDvb+/D83NDairqzWO5d0YHh4ybuvF3Nxs8JHSRsrKVjhERERERER0UTibXCYSwE9MTCAhIQHl5eWIjY39wOReFp+tqqrSvrhSzSd97hnaE9Fim5sDenosePllO379azvm54GkJD9Wr/bi/vvd+lHWwWahMEW6QDucOW2H09bWjIaG02htbYLL5dJ2OLIArSzWyEVFiYiIiIiIaKEY2i8TmfzPzc3pJfPnBvZCLqmX2+V+eawsdMcggIgWk+xSurqs+N73nNrDPuTKK7148EE3rr3Wi+xs7neIhFTRd3d3Ye/e3Whqqsfo6LAeo7Ozc7BqVQ02btyqvevZCoeIiIiIiIgWiqH9Mgr1qLfZbB+a5MvXoT64EtYzsCeixbZ7tw1PPunAG2/Y0dtrQUKCH+vWeXH11R5cfrlXW+Q4ncEHE0Uoqa4fGhpAY2O9sZ3GwECfXgEXF5eAqqpqVFSsQn5+ofH6SYTD4Qg+i4iIiIiIiOjiMbRfZjLxHxwcRGdnJzo6Ot7furq60N/fr73vp6en0dfX96HHnL1J33siok8i7/9NT1vQ2GjFzp0O/PSnDtTVWY19kQU5OYE+9hLYFxf7YTtTfE8UkXw+L6amJtHW1oqGhlPG8bYNHo8b8fHxyM8vQE3NehQVlSI1NY0V9kRERERERLRoLH6WcC+LxsZGfPOb39Re9bm5uUhKSoLdbg/eG6jCl/tOnTql98nitHFxcVqVfy4JCu68807ceuutwVvoXNJn2O2W8GVOPzcbyXpsNitiYpzGOLBhenoOHo/PlD8rhTePBzh40Ia//MsotLZaMT5u0dukDc4113jw+7/vMvZJPsTGBp9wFqvVgqgou7EvkrU2XJibc8Pr5Rgl85Djoc1m0TEq+9WpqXkdoxd7qjM7O6OB/YED72lLOzlOJyenoLJytfE6ydfqepvHwOAAANxWSURBVDkuc8FZ+jRkfNrtMj6jdUxOTy9sfBItBTkfjY526CZj1OUKrNdBZBZyPupw2PRYL/O7mRmXzp3NtiuNiXHo3C5w9XzwRiIiogvAWeYykYl/ZmamBvESBAwPD2NgYOD9TarvpcI+LS3NONjHYGpqCkNDQx94TGiTinx5LBHRR5F1rI3dCF55xY6nnnLg5Embsd+x6CQiPd2Pm27y4N57PSgoOH9gTxSJZIFZWV9GetVL7/ri4lLU1KzTdjhJScnaDoeBPRERERERES02VtovEwnan3rqKQ3dF8PNN9+MHTt2BL+ic7HSniLd5KQF7e0WfPvbTrz4ot14PViQmOhHVpYfJSU+/NZvubB9uzf46PNjpT2Z3UIq7aUVjrSkC1TOn6men5gYR3d3h1bwSWW9BPZshUMXg5X2FA5YaU9mx0p7IiKKFAztl4kEAyMjI/BIX4pFkJiYiISEhOBXdC6G9hTpmput+PGP7XjtNTtOn7bpxOaOOzy45RYPNm3yaj97WYj24zC0J7O72NA+EKBOoa+vV1vSySKzUmEvvF4J8136mpFA38nVmekiMbSncMDQnsyOoT0REUUKhvYUERjaUyTr7bVgzx4b/vf/dqKlxaqTmspKHz77WTeuv96D/PxPt+gsQ3syuwsN7eV2megPDvajr68HPT1dSExMRnZ2LkpLy/X7yUa0GBjaUzhgaE9mx9CeiIgiBRuxEhGtUMb8xZhsA7W1VuzebcPp01aMjVm0h/3NN3tw+eVeFBV9usCeaKWRdjhzc7MYHR1Ga2szGhrq0N7eio6ONgwNDWgAQERERERERLQcGNoTEa1Q8/NSZW/Fq6/a8dJLDuPrQJlPWlogtC8sZChJkWt2dgZdXR3Ys+cdNDc3YHx8VCuhU1PTjNdIulbGERERERERES0HtsehD5H+vVNTU2hpaUFzczPGxsb00m3p75ubm4uysjLk5+cvONDo7e3V719XV4fo6GgUFhZi8+bNiIuLCz5i8bA9DkWipiYrnnrKgV277GhstMLhAK691oPbbvPgnnvcxmtaLjEOPvhTYHscMrtP0x5nbm4OExNj6O7uMo5DsvUYt/qN58RrW5zc3HxkZmYhKSlFvx/RYmF7HAoHbI9DZsf2OEREFClsf2EIfk4UnEROo76+Hu+88w5ef/11HD16VIN1CfEHBwc1YE9LS0NUVNRFBffy/5ATq2PHjuHll1/G008/jaamJr1t3bp1xgnY4of2chInEw6ZeJhxbiwncqETUPk3dbsDEyQz/qwUHiYnLThwwIa///sodHfLG0J+7V3/5S+7cN99HuPrCwvsRSBwssLptMPj8eobSxyjZCYyRmVfKmNU9qsul/f9MSrHHgnsR0aG0NHRqtX1AwP9+rjExCTk5RWiunotMjNzEB+foN+LaDGdPT6FhE3ch5LZyBiVAhLZZIx6vTzWk7nIvlTeXJJ9qcyXAvtS8w1SmdfJJj8vTymIiOhi8Npv+gC3242uri78+7//O/bv34+kpCTcf//9+NznPqdV8A0NDXj11VfxxhtvaDX+xZBwXp578uRJ7Nu3T09knE5n8F4iWgwHDliN16ldW+SI3Fw/Hn3UhbVrfcbrLfBGEVGk8Pt98Ho9aGtrxokT8kZ0LcbHx/TYk5GRZbwuNmLNmvVITk7h8YiIiIiIiIiWHUN7+oC+vj4N06WqPjMzEzfffDOuvPJKXHXVVfpx/fr1GrhLoD88PAyXrHJ5geT5Bw4cwMDAAJKTk5Genq6td4ho4ebmgM5OC/butRuvU6mSC6Tzycl+bNvm1fCegT1FHqlys2B6ekpb48zMzGhAX1JSrtX10hInISERdrtDH0dERERERES0nBja0wdIlb2E9lJxX11djRtvvBEVFRUoLy/XwH7Hjh3avkba5UhPegk+LoR8X2mx8/bbb2vgL+1w5M0BablDRAvj8wHDwxLY2zSwl572IifHj8pKH8rK/EhM5DXuFBnOvVLeYpF1HZyIiYlDUlIyCgqKjePbKuP4VqVf22y24COJiIiIiIiIlhdDe/oAqX7v7u7WBWezsrIQExOjPdaFfC5BvoTss7OzaG1t1Wr7CzEyMqL962tra7Uv/jXXXLMkPeyJIpHxskRdnQ3/8i9ROH7cCrsdSEryaR/73/99l/FaY2BPkUP620pbHOMzrZ6XY1lRUQk2btyCrVuvRFVV4HjGynoiIiIiIiIyG4b2JiVV6GNjY9qmRgLu06dPa+AdakcjYYRUrc/Pz8PrXbzFdyYmJjA6OqqBuvSzP3uhWbvdru1s5HapSJSAf3JyMnjvJ5OfUXriHz58GDk5OSgrK9OP8n2J6OLJy9/jAV57zY6f/MSB5mYrpqYsyMz04a67PLjySi8KC33G6zb4BKIVSkJ6j/FiaG9vR319nfGxTRdXD5EFZtPTM5Gbm6eLz0rlPREREREREZHZMLQ3GQkbJDRva2vDsWPH8N577+HNN9/Eu+++q+1opMJdwm8J6iU0l6r1oaEhzEkj60Ug7W6k53xCQoJW1p8ttGCs9J+PiorSgF9+nk9Dft7x8XF986G+vh4bN25EZWXlByr5l5oUU8rvEPhors347/s/Y8CZr7lx+6TN5bKgv9+Cl16y47nn7NrXXnrY19T48MADHlRU+IzX2fmfe2Gb8Z/3yefmfD1xi8zN5/MaY38Ww8ODGtjLMbShod44Vo3rcVMe43DYjeNONOLj4/Xzc78HN25LvRn/lf+873yP4cZt+bYzx/WQM/dx42ae7WyBr813Tmr8V/5DRER00SzGRJb9EkxEqulfe+017N27VwNuCcUl8M7OzsZjjz2mYbe0rZGQ/he/+AXeeustXHfddbjiiitQVVUV/C4X79vf/jaeeeYZ3HLLLbjpppuwefPm4D1nPPHEE3j++ee1Uv6OO+7AtddeG7zno0lgf/DgQf3dpKXO7/7u76K0tFTfcJD/p/ze8vXXvvY1bVew2Hw+PzweL2ZmXPq52ciJndVqQXS0E3a7VX9Or9dnyp+VzKejw4Jf/cpmbHYcORIop//MZzy6XX+9FwkJWJQqexmjDocNsbFOYx/khsvl0THKowiZweTkOLq7u1BXV2scc8b0yjS5KmzbtmuM40s5oqK4dgotL3nzVAoVZB8qp98zM25jH+rjPpRMI3Q+GhXlMDa7no+63V6ej5KpyBiV+VJMjNOY3/mMc9LA/M5s+9LoaLu+lmS/HwjxiYiILgxDexPp6enBiRMn8Nxzz2lrHKlmT0lJ0Wp6ubz/P/7H/4jLLrsMeXl5WpH/85//HC+99JJ+fdttt2H79u3B73TxHn/8cTz99NMaxktoL28SnOtHP/qRhvYlJSX6OHnT4ONIGx9pVfDkk0/qmw0Szt93333agqejo+OShPYyzOVkTiYeZhzyocomu92mn8sbDIGTT7486eO1tADvvmsxXpdW1NdbjdeYBcXFwFe+4jNenz7k5vphsy3OOJKxabPJYp42HaPyxpIMUY5TWk7y5ra8AdzR0a6Lqff19ehYlVZuBQUFWLVqtXFcyWYrNlp2gWN94M1P2W/KfpT7UDKTwBiVN/qt+qbnmWM9xyiZh4zTUCGJzJfMui+VeZ28uSA/LxER0cVgaG8i0gLnN7/5jbbEWb16Na6++moUFhZqQL5///73Q/v8/Hx9/Ouvv66Pl5Di3nvvxQMPPKC3L8TZlfY333wzNm3aFLznjAuttJcw5ejRo/jXf/1XfRPgrrvuQkVFBaKjozXM/6d/+idtCSRvAnz1q1/VKwnEYp7gyDA348nc2eTXDfzOluDPy5cmfbJnn7XgF7+wGK/JwEK0xi4Dn/mMDw8/DFx+efBBiyg0UQqNUQ5TWi5SoSxvBA8OBlrFNTY26rHEZrMjLS0VxcUlWL9+vbZ7kzfBicxA9qGBYz33oWROofNR2VhAQmYVDuejoZ+RiIjoYjG0N5Gf/exnePbZZ3WxV6lylwp2aY3z/e9/X9vKnBvaHzhwQIP73bt347Of/Sy++MUv6u0L8Z3vfEd/hquuukqD+8vPk/p973vfw69+9SsN9G+99VZs27YteM/5yZsQb7zxhvayl99LniOBvZzIdHZ26v9TriwoLi7Gl7/85fcXp5UKn8Uiwzxw+aTbtJMPOakLXEJpwfy82/jbc6JEH02Ghs8H/N//twM/+pEd4+OBr7du9eHv/s6F8nI/kpKCD14k8pqViiFp4+RyuXnJPC0bOTbKVVwNDbLYbCv6+no1wJdwPiMjC+vXr0VeXj4cDjnWsMqNzEGGobRJiI526PE9dE7CQz2ZiZyHypofTqdNx6icP/N8lMxEjulyNYjsS6XKPtSu0WycTnkd2RncExHRRWNobyLf/e53tcr9yiuv1MBc+slLWxwJtV955ZUPhfayyJ6E4S+++CIefPBB/PZv/7bevhDS+kYCeWlVI1X0Z7fckaEiIYn8PC+88IL+jDfccAM2bNgQfMT5SVW+tPyRgF6q6aVCP0QWsz106JCGLfJmhVRFyu+4du1abZPjcDiCj1yY0KWT09PzpjypC03kY2Iceiml/JzsaU8fZ2TEYuwDrPi3f3Ni167AG1wbN3px660e/NZveZCY6DfGlN68aGTSIZOPUE/70JtLRJeSHIvGxmTB9hbjuNKO4eEhzM7OIC0tA9nZOdoSp7i4yHgNJBjj1MM3QMk0AkGTxdiHRumYDK2zw/FJZiJhqPSzl0BUzkf5Bj2ZjZyPShGJ7Etlfjc7a871QeQ1JBt72hMR0cVa5EiHFkICcdkkvI6NjQ3e+tHk5ESqDeXjYklMTERqaqouFiuB+tnfW/roy4Kycrv8fyVUl7YDn0ROVKRqXiarUm3/61//+v3tzTff1F7+g4ODaGtr0ysHjh8/ri0O5P+xmORETiYdZt1k0i4/Y2A7/2O4cZNtchJobLRg504bmpulIg5ISfHjuus8uPlmj7H/kNft+Z+70C0ULnGMclvObWpqyjhmtGpgL8empKRkFBWVoLJyFcrKKrWfvRx7zvdcbtyWczs7oOd+lJtZNxmmoe1893PjttxbaFdq5jF69v6eiIjoYjC0NxG5rF/axkgYIQvrfRIJz6VfvAT88rzFIEF8bm4uuru70dfXpxXwoeBePj99+jQGBgYQExOjVfOymOwnqamp0SsBvv71r+N3f/d3P7A9+uijqKys1N7969atw2OPPabV+9IiZ7Gq7IlWmlOnrHjlFTveeMOOnh4rUlN9xuvGg23bvCgt9WERO0sRmY68ARwfn4CysnKtrs/JycNll12lgb18zVY4REREREREFO4Y2puIBOCyCGtLS4su0Crh/dnV5qEgQqrxe3t7tWq9tbVVQ/ZPE55/GtJ6Z82aNRqYS0C/a9cuXdxPFvmTdjzSW19+rlWrVmmwfvYVAadOncLTTz+NJ598EidOnAjeCmRkZGhwv3XrVm19c/Ym7XDkZ5eqyOzsbO2TL615pIJfqiSJ6IzJSQuOH7car0sJ7G0YHLRifl5eY37cfrsHVVU+xMQE2i0RrQTyprEc86T9zdzcmTezY2JijWNfgTHmq3XLyck1jhuJxrHLGXwEERERERERUfhiKmoieXl5qKio0HYxEoDX1dXp59LXXsJ7qayXKncJ6g8ePKjB+MjIiAboEtwvBgnOJbSX4Ly/v1976ctCsqFNgvv4+HgN3CVsdzrPBCRnh/YnT54M3grExcW9X8Evbwqcvcn/T4J/ucpAHidfp6Sk6PdltSTRGfL+3cCABa+9Zjc2G44ft8HtDgT21dU+XH21Fzk5vAyXVg457klYPzw8aByP+jA6OqIhvlxuLseI1NQ0lJVVoKSkzDiOxMFmswefSURERERERBTebH9hCH5Oy0xCa9kaGhq0ul0WaJU+7xLeS495CTDkvnfffVcr4KUPvLSoue+++1BeXq7B90JJdbu02pE3EOT/J1X/R44c0RBeWvHI/+/666/HNddc837P4JDa2loN7mdmZnRxWllM9pNIj/z9+/drOyAJ62XxXfk3WGyhfocul+f9HohmIu9PyKJKDodN/03dbk+wF2LwARTxpI/90aM2fOc7TmO/YIXHE3hT64tfdOOxx9wa2C91Wxx5I00W/pLFaGXhL4/HfIt+0coxOTmhC80ePXoI3d2dxn7RhYyMbF0jJXTskTF59hu88nlowWS52eXycoySaZw9PoUs8MnxSWYTWOTTppuMUa+Xx3oyF9mXyoLJsi+V+VJgX2q+QSrzOtkC5yrBG4mIiC4AQ3sTkZY00iteKs/tdrtW2I+NjWlYLp9LT3mptpeP0j5m48aNuO6667QXvCwge3ZwcbHke8j/W76/fE9p11NcXIyqqiqtwJdQvbq6WiviJTg5mzxXWuHI/dL2Rp77acibBGVlZXrFQFFRkVZQLjY5j2NoT+Hs2DEbXn/djt27bZidtRivLz9uvdWDO+7wGq83r/G6CYyjpRTYPzC0p6Ujk25pgzMw0Ie2thZ0dLQax8ABeL0exMXFaxscOUade/wJkTHK0J7M6uzxKRjakxkxtCezk30pQ3siIooEFuMAx9MwE5E/h/TvlYp1qbSXvvXSEmdyclLvk9Y0EoZLwL1lyxYNyCXAkJMB+mihE7qpKVlY13xDXv58cvIZE+PUSdL09JwGomb8WenSknWgpTXO97/vwNNPO1Bba0NsrN94/Xvxe7/n0j72aWmXZpzIRD4qyo64uCjMzrowN+c2fjaOUVo4Ob7JJoH90NAg2tqatcpequ3lDe3k5FTk5xdi9eo12s/+oxYqD0zkLTpGZb86NTWvY5SnOmQGMj7tdhmf0Tomp6c5Psl85Hw0Otqhm4xRKXjh+SiZSajQSY71Mr+bmXEZY9R8by7FxEhBntP4ea16TkJERHShGNqbkPxJpF2MtJmRqnqPx2NM6gIL0spBX8IKqU6XinypzGdg/8kY2lO4MnYBGB624O//PgrPPGPXKnupsL/rLjduuMGLhAS/MWaCD15iDO1pqcgxzuWaR0NDHTo62rS6Xr6Ojo5BVlY2ysoqjY85xtiLD05+z3/cY2hPZsbQnsIBQ3syO4b2REQUKbgQrQnJpE4C+fT0dF2sVdrTSPsY2aSnvNwm98ljGNgTrVwy+ejutuIHP3Dg0KFAWxwJ6KurvVppn5h46QJ7oqUib1D39fXg5MmjWmE/PBwI7NPTMzWsr6qSlmy5iI9PgLTF4XGPiIiIiIiIVjpW2pvI1NQUpHf9xZC2OUuxgOtKwUp7CjeyZ+7vt+C11+z4i7+Iwvi4BdHRfmRm+vGtb83jvvs8Om4uJVba01Lo7+9Fa2szTp8+oVeW2WwyxuJQXl6FgoJiZGRkfuqgXh7HSnsyKxmfrLQns2OlPZkdK+2JiChSMLQ3kT179mDfvn3Bry7MlVdeicsuuyz4FZ2LoT2FE9krSy/7f/xHJ37yEwd6eqyQDlnFxT7ce68bd9zhwbp1xgMuMYb2tBTq60+hqakBnZ1txj4wVqvqV62qQXJyiob3dvv5+9efD0N7MjOG9hQOGNqT2TG0JyKiSMHQ3kSefvpp7Ny5M/jV+blcLuPkxK0TPFmAVvrby8f7778fd999d/BRdC6G9hROurst+M1v7PjlLx04eNCmtxnn+9i0yYs/+7N5rFrlQ2rqpR8bDO1pKUilfXd3py48m5GRpaF9Tk4enE6nsV8MjP9Pi6E9mRlDewoHDO3J7BjaExFRpGBPexORcEJC+I/aJJwX8/PzGB0dRW9vL/r6+jTEJ6KVQRaebWy04nvfc6K2NnCSb7z8kZfn0172a9YsT2BPtFBer8c4fs1henpK2+CESO/6khJZt6VSK+yLi0uNSW7MBQf2RERERERERCsFK+1NZGxsTLePI0GHBPZHjx7FoUOHMDk5iYceegibNm1CXl5e8FF0LlbaU7hoaLDi1VftePxxp/axl8A+Lc2Hr37VjbvvdiMnx2+MleCDLzFW2tNCjI6OYGRkCENDgygrqzDGdYZWHstpiM/n1SvJHA7ZB1786sqstCczY6U9hQNW2pPZsdKeiIgihe0vDMHPaZlFR0cjOTn5Y7eUlJT3N6m4l8VrY2NjkZ6ejqysrOB3onPJSZxMOGTiYca5sZzIhU5A5cTO7Q5MkDiPjxzyt5a+9S+/bMcLLzjQ3m6F0+nXVjgPPeTBDTd4UFbmN8ZH8AnLIBA4yc9lh8fj1TeWOEbp40gYOTs7g/7+PmNMN2sLnMHBfmMSG6fV9FFR0TquZL8nV5TJx4UIfC+LjlHZr7pcXo5RMo2zx6eQsInjk8xGxqgUkMgmY9Tr5bGezEX2pfLmkuxLZb4U2Jeab5DKvE42+XnlnISIiOhCsT1OmJGDvoT0VVVVWL16tYb3+/fvR3Nzc/ARRBRuZJ4xPQ3jdWzFO+/Y8N57NrhcQG6uH1de6cVjj7mN1/ulX3iW6GLJ5Fmq3mZmpjEw0I/Gxjo0NNSho6NdrxCbnJzQ+1hhTERERERERPRhDO3DWGJiolbf9/T0aMscIgpPsixFfb0Vf/u3Tuzff6b3zbXXenDXXR5ERzPYpPAi7W5mZ2c1qD9+/DDa2pq1l31sbAwKC4uQl5eP1NQ0fSOaiIiIiIiIiD6IoX0Yk9Y4w8PD2iZHKhqJKDwdOWLDr39tx+HDNgwNWZGc7MdVV3lw2WVelJX5lq2HPdHFmJ6eRk9PN06ePKph/fDwEFwuNzIyslBevgqVlauRmpoO6V9PRERERERERB/G0N5EpCpxZEQW6vvoTUL6gYEBdHV1aUucjo4O7QssGxGFF+kMIn3s9+2z4eWXHRgctMJu96O01Ic77/Rg7VqfBvjL2cee6NPyGoN5bm5We9a3tjZpaD84OKD3paSkoqSkXAP7wsISxMcnsMqeiIiIiIiI6CNY/GwoaxrHjx/HyZMng1+dn9vt1n7AEtY3NjZibGwMmzdvxl133YXrrrsu+Cg6V2iRoqmpOf3cbCS7kgWVYmKcuvDX9PScLvJpxp+VFo+0xZmasuCv/zoKP/2pHS6XxXg9e3HTTR589rNSmexHVFTwwSYgi9NFRdkRFxeF2VkX5ubc8Ho5RilA+tR3dXWgpaURAwN9xviYM8ZKPHJy8lBVVY3k5BTExsYZ+7jAIpxLIbA4nUXHqOxXp6bmdYzyVIfMQMan3S7jM1rH5PQ0xyeZj5yPRkc7dJMx6nJ5eD5KpiLno7LAqxzrZX43M+PSq87NtiuNiXHo3E4W2WedAhERXQyG9ibyzDPPYOfOncGvzk8mfHJSImGIVNfn5eVpWL9mzRrk5+cHH0XnYmhPZjM2ZkFjoxWvvWbHK6/YcfJkoJz+t37Lhc99zmO8pr3GhERvMg2G9vRxpGd9b283Tpw4itHRESQlJSM3N19D++zsXDidDmMMLW2vJ4b2ZGYM7SkcMLQns2NoT0REkYJNF0zk07THkT72Ijs7G5dffjnuuOMOXH311QzsicJMW5sFu3bZ8L//t0MD+6goP3JyfNiwwYv1680X2BOdy++XNxbPrKciPepTUtJ0y8zMPqsdTjGio6OXPLAnIiIiIiIiWilYaW8ioWD+40iVlrxbb7PZNASJjY3VTW6jj8ZKezITyTn/8R+d+PGPHejpsUL62ksf+4cecuPmmz2orjbnwtKstKezySLogLRwitav5XRC+tqPjY3qx4SEBDidUUvaDudcrLQnM2OlPYUDVtqT2bHSnoiIIgVDexOQP4GcaEif+v7+fqSlpSEjIwPJycnBR9BCMbQnsxgdtaC21orvfteJV1+1G39nYNMmL7Zv9+D22z0oLPTr4rNmxNCe5Hg1MzON4eFBjIwMa3V9cXGpBvehcN7jcetHu/3SXy7C0J7MjKE9hQOG9mR2DO2JiChSsDzbJKQqsb6+Hrt27UJtbe0nVtwTUfiZnLSgqcmKF16waz97OYFPS/Pj+us9uO++QIW9WQN7imyBN5e9kL71/f19aGg4bRyrjhvjuR7j42PGpDkQ1AsJ65cjsCciIiIiIiJaKRjam4BUXjkcDnR3d+Pw4cMYGhqCy+UK3ktEK8Xhw1Y884wdv/mNHZ2dVqSn+3HbbR5s2+ZFYaEPNrb8JpOSN5alwr6+/hSOHz+Mjo52TE1Naoscqbh3uaRVDhEREREREREtBob2JhG4ZNqul8+Njo5ieno6eA8RhbvxcQv27rVpO5zdu+3o77dC2oGnp/u0h31lpQ/R0YE2SURmI+F8d3cnTpw4hvb2Vg3pPR4PMjNzUFRUgrS0DERFRQUfTUREREREREQLxdDeRDIzM1FQUKCV9tLbfmpqSqsbiSh8yUu4r8+CX//ajjfftKO+3qp97KUtjoT1l1/uRVYWW+KQ2fg1mJfq+v7+XrS0NGo7nKGhQX1zOTU1DaWl5aioWIXs7BxER8cEn0dEREREREREC8XQ3kRWr16Nq666Cl1dXThw4ACOHTumFfeysA4RhafJSaC52YpXXrGjo+PMLvfOOz348pfdiIvzs8KeTEeOO9Kr/tSpEzhx4ihaW5vhdrsQGxuLgoIiXHHF1RraJyYm6ZViRERERERERLR4LH5ZXY4uOVm0T9rgSEucuLg4OJ1O7Nu3D6+88gr27NmjwUhRUZFW3ickJCA6OlqrG88VCkvWrVuHmpoa/Zw+zOfzG//mXkxNzennZiN/RpvNipgYpzEmbJienoPH4zPlz0oX5sUX7di5066h/eysBfn5Ptx+uwc33eTBhg0+4/XtN17bwQebnNVqQVSU7LOijN/Fhbk5N7xejtGVaHx8FF1dnairO6nhvUhJSUNOTp5u2dm5uhbL+Y5Ly0mOiTabRceo7FenpuZ1jPJUh8wg0ApRxme0jsnpaY5PMh85H42OdugmY9Tl8vB8lExFzkcdDpse62V+NzPj0mIDs+1KY2IcOreTc6XglJ2IiOiCMLRfJhMTE1pNL4G8hPNpaWn4+c9/jp/85CeYnZ01Tj5mdIE/m82mAb4E+xLwf1RF4yOPPILPfe5zwa/oXAzt6VJzuyUwtOCv/ioKP/2p3fjagvh4P66+2ou//us5bYljvKTDCkP7yNHX14u2tmattJd9kwT2RUWlWmWfkpL6kcei5cbQnsyMoT2FA4b2ZHYM7YmIKFKwPc4yGRkZwVNPPYWXXnoJbW1tGtBLtb2E+Onp6cjPz0dJSYkG+llZWUhMTNTgXgL8821S8UhE5jEyYtGFZ6U1jgT2MpHYvNmLG2/0IClJJsXBBxKZkPSsz8srQE5OLlavXot16zahoqKK7XCIiIiIiIiILgFW2i+TxsZGfPOb30R5eTnuu+8+bN68GZ2dnTh9+nTwERemuroaq1atCn5F52KlPV1KY2MWHD1qxQ9+4DQ+2tDbGwg5v/ENFx5+2I3SUl/YVdkLVtqvPFKZNjc3a4zZUSQlJeubwBaLVSt/A4vQ9iE+PsHY4o374oLPMi9W2pOZsdKewgEr7cnsWGlPRESRgqH9MgmF9mVlZRrab9myRUMRWhoM7elSOn7cipdftuPf/s2JyUmL8Xf1azucP/kTl/F6d4ftiTtD+5VDDv0ywZVgfnh4EB0d7SgsLEZmZlZYhPMfhaE9mRlDewoHDO3J7BjaExFRpGB7HCKiRXbggA27dtkxNxc4Qy8t9eO//td5bNvm4Uk7mYLH48HU1CTq6mpx+PBBNDc3oKHhNLq7O41Jry/4KCIiIiIiIiJaDgztTYD9gYlWBulj/+abNuzbZ0NrqxVeL7B1qxd33+3Gli1epKezUo2W3+TkBLq6OnDy5FG0t7didHRYQ3y73QGHw2k8gsckIiIiIiIiouXE0H6ZTU9Po7e3Fy0tLWhqarroTRa2JaLlI21wGhqsePZZO44ds+nXTidwzTUefOYzbmRk+PVrouUg7Tc8HrdW1/f29hjHnEacOnXCOHYMw263Iy0tXVvjJCenBJ9BRERERERERMuFPe2XSainfX9/P5KSkhAdHa397i6GVOp//vOfx4MPPhi8hc7Fnva01N54w4Zf/9qO3/zGjtFRq/H39CMvz2+8zl0a2ktgH+4X1bCnffjyer1aUd/c3Iieni79fH5+Xhefzc3NR2VlNRITk4x9UIwxdm3BZ4Uf9rQnM2NPewoH7GlPZsee9kREFClYab/MJBxxOp0a2ktYcjGbPFcqJYno0puasqC21oq337bjvffsGBqyYn4eyM724+GH3Vi71ouoqPAP7Ck8SVg/OzurbXDq60/pR6mul/BQwvqKilUoK6tEenoGYmNjwzqwJyIiIiIiIlopWGm/TEKV9vLOe3V1NfLy8jS8v1hbt27F5s2bg1/RuVhpT0thfNyClhYr3nnHhhdftOPoUZvxd4T2rpe2OH/+5/P6+UrJQVlpH37cbmmJM2WMzYPo6GjRAD86OgZpaRkoKSlDfn6hVtuvlLVVWGlPZsZKewoHrLQns2OlPRERRQqG9sskFNrn5+fj9ttvx/r1640Tj7jgvRdOnitVknR+DO1pKUhQLy1x9u+3YXDQYvzNLEhK8uG3fsuNe+7xoKDAZ/w9A3/flYChffiRBWZnZ2eMMfoeOjra9Dapri8qKkZaWqbx94wy9j0rp7qeoT2ZGUN7CgcM7cnsGNoTEVGkYHucZSaBifS0T09PR0ZGxkVvDOyJLh2XCxgYsGhl/b59NnR1WY0Jg7Qb8eHLX3bjxhs9KC72GROKlRPYU3iQ8O/sAFAmilFR0cjJkb71q7F27QatsE9Pz2I7HCIiIiIiIiKTYmhPRHSBJiYsOHzYiuPHrejosMLrDbTE2bLFq6H92rU+WLl3pUtIgnqv16OtcCYnJ+ByBarOJLSX1msFBYWorl6HNWs2IDs7F7IeChERERERERGZE2MlIqIL4PMBbW1WfPvbThw+fKZK+d573fgP/8GFxEQ/q+vpkvN43JiYmMCpU8dx7NghDAz0Ym5uNngvEBsbZ4zNBA3wJcgnIiIiIiIiIvPizJ2I6AI0NFixd68NTU02rbjPyvLjc59z44YbPCgvD/SwJ7qUJibG0dHRjpMnj2nf+p6ebrS1tWBqajL4COlRLIsk24N9VfmuEhEREREREZGZMbRfJlLtWFhYiJycHF1ElpWPROYmFfbSy/7IERveecemPeyjoqBB/Re/6MamTT5IxxHmoXQpSDsct9uNyclJDembmxtw6tQJjI6OGLe7tOpe7ucCl0REREREREThh0nxMpGw/lvf+hYee+wxVFdXIzo6OngPEZmRBPb9/VZtiXPwoE2/Liz0Yf16ry46m5DAcJQuHa/Xi9HRYZw4cQS1tcfQ2dkOn89rjMNEY1yWYPPmy5CWls6qeiIiIiIiIqIwxNB+mbDSnii8DAxY8eyzdhw7ZsXUlEUr6rdu9eKmmzxISvLDdqa9PdGSkcVmp6entP1Nff0pbYczNjZijD8r8vIKUVGxCmVlFUhNTUOUXApCRERERERERGGHSTER0Sdwu4Hubgt27rSjsdEKp9OPrCwfLr/ci23bvNomh2ip+Xw+zMzMoK+vxxiHdWhqasD4+CjsdgcyMrJRUVGlW25uPhwOJywWHuKJiIiIiIiIwhFn9EREn2BkxILOTotW28/OWpCR4cdnPuNBRYUPvEiGLhWXax79/b04cGAvenq64PG4ER0do9X169dvQnFxGeLjE9gSh4iIiIiIiCjMMW4iIvoE0hLn7bftmJoCYmP9KCnx4YYbPNrTnuhSsdns2lpN2t5IOJ+dnYs1a9Yb47EM6emZiImJMR7DPk1ERERERERE4Y6hPRHRR/B4gIkJiy48u3u3DfPzFmRn+1FT48PGjT6tuCdaCn6/3xh/Hl1wVj4XDocDiYnJKCgoNrYilJSUG2NxHbKycriYOREREREREdEKwtCeiOgjSGB/4IAVdXU2DA5a4fMB69Z5cfXV0seegT0tHbfbrf3qZ2am9fMQqbCvqqrG2rUbdMFZpzOKC5kTERERERERrTCc6RMRncfMDNDSElh8tq7Oqr3rs7L8WLPGh+pqHxyO4AOJFtnY2Cg6OlpRW3scDQ2n0dvbpRX3wm63Iz4+XsP7mJhYBvZEREREREREKxBn+0RE55BuJJ2dVuzda8Mrr9h1EdrkZD82b/ZizRov8vN9YOtwWkzSAkcq6icnJ3SR2aamepw+Xasf+/p64fP53m+TIwvNcrFZIiIiIiIiopWLoT0R0VkkF5U2OM89Z8d3v+vE5KQVUVFAZaUXv/M7Lqxfz8VnafFJ//rh4SEcPXoIp06dQHd3pzEOvbr4rGxnh/ZEREREREREtLIxtCciOktXlxX/+q9O7NplR2+vVRejlZY4O3Z4UFnpQ2Iig1NaPBLWT01NorW1GfX1tcb4a9de9tIGp7CwGKWl5cjNzYfNZmN1PREREREREVGEYGhPRBQkbcNbWy0a2h85YtMWOHFxflx2mRfbt3uRkOBnWxxaNG63CxMT49oOp7HxNJqaGvRrh8OBzMxsVFauQkVFFXJycjXEZ2hPREREREREFBkY2hMRBU1NySKgFm2PI+LjZeFZL9at86K01Ae7PXA70UJJq5uBgX7U15/CwYN70dvboy1wYmPjUFlZjfXrN6OgoNj4Op5hPREREREREVGEYWhPRBT09tt27Nxpx8xM4OusLD8eeMCDdet8iImRBUADtxMthAT2EtCPjAyhr69Hq+udTidyc/OwZs16FBeXIi0tA9HRMdoWh4iIiIiIiIgiC0N7Iop4s7NAW5sVL71kxwsvOIyvLdoKp7zchzvv9GiVPdFi8vt9cLlc71fXZ2XlGOOsAjU167Q1TpSsfkxEREREREREEYmhPRFFvNZWK/7qr5zYs+dMVfOmTV5cf70H0dHBG4gWibS7sdnsKCoqwbp1G7W6fu3aDSgpKYPD4YTVykMzERERERERUSRjMkBEEa2ry4Jjx2y68OzgoFUXmo2N9WP9eh8uv9wLp9MffCTRhZNWOKOjI+jp6UZfXy9m5bIOgwT3iYlJyM7ORWFhCdLS0rUdDvvXExERERERERFDeyKKWH4/UF9vw759NgwPBxagTUkJLD67caMXVVU+OBzBBxNdAAnrpf3N5OQEurs70NLSgNbWJu1fLy1xhNMZhYSERKSnZyAqipd0EBEREREREVEAQ3siikgS2Et2evSoFW+/bcPcnAXJyX5cfrkHf/mXLlx9tZcLz9JFc7vdGBoawOHDB3D69Ek0NdWjoeG03jY/P288gldwEBEREREREdH5MbQnoog0MwM0NFjR3GzFwIBVA3zpY3/77R6sWuVFUhJDVbpwHo9Hq+mlqr6+/pRW2Y+Pj8NqtekCs3Fx8bDbZe0EviNEREREREREROfH0J6IItL4uAXvvWdDe7sVXi8QHy9V9l5s3+5FVFTwQUQXQNrhjI+Pobu7S6vqm5sbMTU1ZYynKA3sKytXayscWWyWiIiIiIiIiOijMLQnoog0OGjB88/b0dRkRWKiH1u2eFFR4dOe9lbuGekCSZ/6/v5e1NWdxOHD+/RzaYETHx+PVatqsGHDZuTlFSA2NjbwBCIiIiIiIiKij8BoiogiTmurFYcO2dDSYsXkpAWpqX5cf70HpaU+2O1gL3u6IFNTk9qzXrbOzg5tjyMLy0pIv2bNehQVlRhjLB3R0dHaJoeIiIiIiIiI6OMwtCeiiCGLz7rdwLFjsvisXVvkSGscWYB22zYvcnN9wUcSfTp+Y1DNzMygra0FXV0S2I8hNjYO2dl5KC2tRHX1WmRkZMLpZEscIiIiIiIiIvp0GNoTUcRwuQJtcfbts+Hdd22Yn7doK5zoaD8yMvxg5xK6UBaLBVFRTqSlpSMmJhbJyalYs2bD+xX2drvDeAwPtURERERERET06TFJIKKIMTBgwbPP2nH4sE2r7H0+4OqrPbjnHg+SkowdIveI9Amkst7tdusWEh0dg/z8QlRVVWv/+kA7nDRthyOhPhERERERERHRhWBERUQRYWYG2sP+6acdaGiwQrqVZGf7cdttHtx7rwcxMf7gI4k+TMJ6l2se4+NjGB0d0b71sviskP71mZnZqKxcjaqq1UhPzzBui9L7iIiIiIiIiIguFEN7IooIjY1WbYvT22vF7KwFOTk+fPGLLmzZ4kVcnJ9V9vSxXC4XBgb6cfjwfhw8uNcYT3Vwu13vB/dSUS9969m7noiIiIiIiIgWijEVEa1o0sVkZMSCPXvseOMNOyYnLbDZ/MjK8uPqq70oLPQbXwcfTHQOaYMzPj6KlpZG1NefQk9PFwYH+zE2NoqZmWl4vZ7gIwPBPfvXExEREREREdFCMV0gohVtZsaCujor9uyx4dAhmy5Gm5npR2WlF1VVPiQnsy0OnV+oHU5XVwcaGk5rcC9Bvc1m04p6CfRDlfZERERERERERIuFoT0RrWh9fRb87GcOnDp1Zne3Y4cXDz7oQWwsA3v6MOlfL2F8b2+3MW5O4OjRQ9oaRyrpExISsXr1GqxduwEpKWlsh0NEREREREREi46hPRGtWE1NVrz7bqDCfnDQgowMP+6+240dOzyorPTB4Qg+kCjI43FjbGwEdXW1aGysR3d3hy46Gxsbi4KCIqxZsx6FhSVITk41xo+D7XCIiIiIiIiIaNExbSCiFcnvB44ds2LXLjs6OiyYm7MgN9eHhx9247LLvEhJ4eKz9GHT09Po7e1Bbe1xY9y0YnJyEnFx8cjJyUNZWSVWrVqD9PQMDeyJiIiIiIiIiJYCIysiWnGkzbj0rj950ob9+6WPvQXR0X6kp/tRUeHTwJ7ofPr6etDW1qyLz3q98uZOKtat24SamnVaaW+327VNDhERERERERHRUmFoT0QrzvCwBS+9ZMeJE1ZMTFg0xN+2zYu77/YgLQ2w24MPJDpHQkKSMUYytHd9cXEZVq2qQWFhkYb3UVHRDOyJiIiIiIiIaMkxtCeiFcXjAbq7rXjmGQcaGmyw2YD4eD+2b/fizjs9iIlhlT3J1Rg+7V8/NzenFfUhGRkZKC4u1ar6qqpqVFSsCi44GxV8BBERERERERHR0mJoT0QrytiYBW1tFtTWWrXiXgL7tWu9yM/3ITbWDxZKk3C55jE6Oor29hZMTk4Eb5WrMBxITU3XljjZ2blwOp2sriciIiIiIiKiS4qhPRGtKBLWv/uuDaOjFrjdQGamH/ff78Hq1T4uPEvGmHAbY2MYzc2NuthsQ0Mdenu7Nbj3++VNHYsuMhsfn6CBvZWDhoiIiIiIiIguMaYRRLQiSN/62Vng6FGbhvZzcxZdcLa62ofbbvOgpMR4AEUsCeTn5+cxNjaCzs52NDSc1k0C+5GRYczMzOhjiIiIiIiIiIiWG0N7IloRZmctaG21oqHBis5OK6RN+Q03ePDQQ25tkcMOJ5FLwnifz4vu7g6cPHkcx48fwdDQAGw2K5KTk40txRgj8WyDQ0RERERERESmwNCeiFaE/n4Lfv5zB44ft8HnsyA93Y+aGp/2s3c6gw+iiON2u7SS/vTpWjQ1NaCnp0tb4cTFxaOwsNgYI+uQlZWDqKgohvZEREREREREZAoM7Yko7LlcQGenBTt32tHYaEVcnB9VVV6Ulfm0p73NFnwgRQyfz2eMC5cuNivtcGprjxkf2zAzM6WBfW5uPsrLq4xxUoO0tHRdgJaIiIiIiIiIyAwY2hNR2Ovrs6Ctzap97KW3fWqqH7fc4kFpKfvYRyqXax4DA30a1p88eQzj42PaJic1NR0bN25FdfU65OYWwGazscKeiIiIiIiIiEyFoT0RhTVZO3TfPjteesmOmRmLVtVLaL9pkw9ZWVxYNFL5fH643W5MTU1idnYGMTGxKCoqxapVNcjPL9Q+9myJQ0RERERERERmxNCeiMKW2w0MD1vw3ns2vP66HXNzQHKyHwUFPq2yT0piaB+prFarhvIS1iclJSM3Nw+Vlau1JU5KSgqcXOiAiIiIiIiIiEyKoT0RhS0J7H/zGztaWs7syjZt8uKGG7yIjg7eQBFBetjLFiKhfEZGplbWb958ubFdgezs3GBYz+p6IiIiIiIiIjIvhvZEFJZmZ4GODquG9q2tFsTE+FFe7sMVV3ixebMXUVGsso8Estjs8PAgmprq0dzcYIyLWXi9Xq20dzicushsdnYOEhOT2A6HiIiIiIiIiMICQ3siCksDAxacPGnFvn029PVZtS3OVVd5cNllXpSV+WC3Bx9IK5IsKjs3N4fR0WG0t7fh9OmTaGiow9jYqPayD5H2OHFx8RriExERERERERGFA6YYRBSW9u+3aZW9VNyL7Gw/HnnEjerqMy1SaGWSwN7r9aCrqx0nTx5Dbe0xDAz0Y2JiXG+TxWeJiIiIiIiIiMIVQ3siCivT0xbU1lpx6JANp05Z4XZbtB3O7bd7UFrqR3w82+KsZKF2OFJZ39TUgN7ebmNMTBl/93htg5ORkYWYmJjgo4mIiIiIiIiIwg9DeyIKG34/MDJiwZtv2nH0qA2Dg1Y4nX5cfbUXd97pQVycH2xZvjLJIrPz8/PG338YHR1tWmHf1dWhPezj4xOQl1eI0tIKFBQUaTscIiIiIiIiIqJwxdCeiMKGzwf09Fjwy186UFdnRWysH5WVPlRVeZGf74PNFnwgrSjSDkfC+e7uTpw8eRS1tccxMTGhb9Ckp2dg06atqK5eg5ycXPauJyIiIiIiIqKwx3SDiMKGLD7b0mJFX58FMzMWpKf7tcJe+thHRYFV9iuU9Kjv7e1CQ8NpbYcjC9DGxcWhuLgMq1bVaJV9UlIKnM4oYwxwEBARERERERFReGNoT0Rho7nZimPHrHC5ALs9sPjsrbd6UFLCxWdXMqmyl7Y4UmkvPe0TExORl1eAysrVKC+vQlJSMhwOR/DRREREREREREThjaE9EYUF6Wf/7rt2PPecQ6vsExP9yMryITnZr1X2tHIlJycjMzMLSUlJKCgoxOrVa7Bx41bj758Nu7x7Q0RERERERES0gjC0JyLTm5y04MgRGxoarBgassDrhfay37LFi9hYY0fGPdmK4Xa7MTo6ivn5Oe1lL6SKPjU1HTU167S6Pj+/CImJSWyHQ0REREREREQrEqMuIjI1yW1HRy14800b2tstGtDHxPixfr0XV1whvewDwS6FNwno5+Zmjb/1MLq62jEyMoL5+Xm93WKxakhfVVWDoqJSpKamccFZIiIiIiIiIlqxmHoQkan5fMDwMLBnjw3d3VbExvpRVubDmjU+rbZnK/Pw5zP+yB6PGx0drTh27LCxHUJDwyn09fXqfSES1LOynoiIiIiIiIhWOob2RGRqHR0WHD9uQ2urVdvkpKf7ceedHtTUeLXinhlueJNq+qGhQZw6dQLNzY3o6+vB1NQk5ubm4PW6g48iIiIiIiIiIoocDO2JyNTq6mx47z2b9rK32fwoLPTh1ls9KC09U4FN4Ucq6KVv/cjIkFbYnzx5DN3dnXpbQkIi4uMTEBUVzcp6IiIiIiIiIoo4DO2JyNSOHrXhjTfsmJuzoKLCh61bvcjK8iM6OvgACjvSp352dgYdHe04ceKoVtlLdb3VakNGRjY2b74Cq1bVIDMzm73riYiIiIiIiCjiMA0hIlNyuYD+fgv6+iwYG7Nob/vcXL8G9xLYM8sNPxLWezwe4+/ai8bGemM7re1wpEWOVNeXlJRh1apq4++cj6SkJDidzuAziYiIiIiIiIgiB2MvIjKlqSkLTpywYnDwTHuUnBwfSkr8cDj8wVsonEhLHLfbpW1wGhpOo6OjDS6XC0lJycjPL0Rl5WqUlVUgMTERdjtXGCYiIiIiIiKiyMTQnohMScL6X/7Sgbq6M7upggI/qqp8cDDPDUsS2ssCs+PjY5iYGDdusSAnJw/V1Wuxfv1mZGRkwWazBx5MRERERERERBShGNoTkelMTlrQ2WnBqVNWDA9bkJTkx5VXelBW5kNsrB9cmzQ8SX/66OhopKdnoLi4FKtX16Ciogr5+QXaHkfa4XDhWSIiIiIiIiKKdAztich0urstOH3ahr4+K2ZnLUhL8+P22wOhPYUH6V8/NzeLmZlpeDxurbK32WyIiYlFXl4hVq9eg7VrN6CoqATJyalccJaIiIiIiIiIKIgpCRGZzp49Njz/vB0zM4Gq65QUP6691ovCQob24UACeulV39bWgrq6UxgZGdGvQ6SHfWZmFhITk7nYLBERERERERHROSx+KYckOovX68XU1BRaWlrQ3NyMsbExrZqNjY1Fbm4uysrKkJ+f/6krYyWsm5iYQFtbGwYGBjA6OoqZmRltgyGtMlJTU1FaWoqCggLExMQsScWtz+eH2y2/15x+bjbSEcRmsxq/vxN2uw3T03PweHym/FmX0vw8MDRkwT/9kxO/+IVDF6OtqfHillu8+NrXXEhO5u5qOVmtFkRF2REXF4XZWRfm5tzG/uKDfxPpWT82Noqeni709nYbr7t5ZGbmoLy80viYHXwU0dKQ44rNZtExKvvVqal5HaM81SEzkPFpt8v4jNYxOT3N8UnmI+ej0dEO3WSMulyeiDsfJXOT81GHw6bHepnfzcy4tGDEbLvSmBiHzu1kbivnJERERBfK9heG4OdEwUnkNOrr6/HOO+/g9ddfx9GjR1FXV6ch/uDgoAbtaWlpiIqK+lQBu7wB0NHRgTfeeAMHDhzQ73fy5Ek0NDTo9+zs7NQ3CiSwT0xMNCa0dp3YLiY5iZMJh0w8zDg3ll83dAIq/6Zud2CCFGnz+JERC/buteGtt+zG+LDpv8sdd3hw990e5OZKe5XgA2lZBAInK5xOOzwer76xFBqjPp8X8/PzGB4eMl7TbcY+4yRGR0eMsRyYSKWnZ2qF/WK/tonOJuNL9qUyRmWouVzeiNuPknmdPT6FhE0cn2Q2MkalgEQ2GaNer/nCUIpssi+VN5dkXyrzpcC+1HyDVOZ1ssnPK+ckREREF4rtcegD3G43urq68O///u/Yv38/kpKScP/99+Nzn/scNm/erEH7q6++qgG8hPGfxvj4uFbZ19bWaiB/5ZVX4tFHH8UjjzyCq6++Wt8kePnll/GjH/0I3d3dH2ijQZHD5wM6O634znecOHxY3ryAcTLuR1GRH5WVPuOkN/hAMh2ZKMnVM9IO58SJI6irq9Ve9jLhl7B+zZr1SE1N10kLERERERERERF9PFba0wdIaH7kyBG8+eab2q7mxhtvxMaNG1FUVISUlBQN2IeGhrRHdU1NDeLj4yGLS34cCeElrJPny3PWrFmD8vJy5OXlITMzU6vre3t7teJe/p/Jycl622KS4gtW2pvbwYM2vPii3Rh7dkxOWpCV5cddd3lwww0elJT4WKFiAvI6PrvSXiqb5I2+gYE+tLe3GptcjTOgr/nExCQUFhYbf7syZGfnLlnrK6KzyRhlpT2Z1dnjU7DSnsyIlfZkdrIvZaU9ERFFAiYo9AFSZS+taySIq66u1tC+oqJCQ/b169djx44diIuL03Y5ErRLde0nkWr9VatW4b777sMtt9yCDRs2oLhYwrwSrF27FnfccYf2yZe+91LJLy14KLLIeba0xZHQXhaflap6WXT28593o6aGi8+akUySAu1whtHS0mS8dk8Z+48OeDxuJCenoKCgGJWVq1FaWo74+AS9yoaIiIiIiIiIiD4ZQ3v6AFkoVqrtZcHZrKysD1THyucS5Et1/OzsLFpbWzWw+yQOhyxmFa2h3bmVtlKlL1X1skmPfKnklyCQIocE9l4vMDhoQW+vVT9PT/drdb30sY+NZXmXGUmv+v7+Puzf/x5aWhr1TTepJMrLK9B2OLKlp2cYr3kuREBEREREREREdCEY2tMHSPA2OjqqC81KhfzZIbuE7tK6Rm6XsF0C/snJyeC9Hy1wObismv/h6wJlgUoJ6uVNAPlcqvglvKfIMTFhwb59NrS3WyHv10iIf9llHl2ANinJb4y14APJVCSMl9e11+vRr2W/sHq1tL6qQm5uPhISEuFwOM/7uiciIiIiIiIioo/G0J4+QNrdyAKzCQkJWll/NgnfnE4nYmNjNViXgF/C9oWQqnpZpFZa4sj3z8nJWfR+9iGSHcr/I/DRXJvx3/d/xoAzX6/kTQwPW/Dqqza0tkoPVRh/fz+2bfPixhs9xhg8//O4XdpNBHqFyjoLgSsfHA67rmmRkZGJrKwcFBQUaXV9UVGJvrknvUbP9724cVvq7Qxz7u+5RfZm/FdHZ8j5HsON2/JtZ/abIWfu48bNPNvZAl+b75hv/Ff+Q0REdNEsfjOu2kLL5tvf/jaeeeYZ7T1/0003YfPmzcF7znjiiSfw/PPPax966Ud/7bXXBu+5cNKK58c//jEOHjyolfx//Md/rP3zpeJ+MUn/bVk4c2bGpZ+bjZzYycJf0dFO49/Bqj+nLPxlxp91MUkrnMOHrfg//08nmppkQSlg0yYvvvIVD26+2Rs84aXl5vN5dXFZWZROxmhCQizm5tyYmprFxMS4XiUjIX5sbGBhaouF7wfT8gjsS63GWDR2JobZ2cC+lGc6ZAZy8WJofMrp98yMW/efHJ9kFqHz0agoh7HJOkMuXeRzpZ+PUngJLJZsRUyM05jf+Yxz0sD8zmz70uhou76WAlecB28kIiK6AAzt6QMef/xxPP300xrGS2i/cePG4D1n/OhHP9LQXhaSlcddd911wXsuTGdnJw4dOoSf/exnWtkvbxDce++9SE9P15ObxSTDXE7mZOJhxiEfqmySUFQ+lzcYAiefK/flKb/aSy8BzzxjNT7aMD5uQWWlH9/8ph/XXOPTnva0/OTqG1m7or29Xa+yyczMQGlpsf79ZJzKJmQCxbCelltoX+pwSF8ty/v7fJ7qkBkExqcstm7TMSn7TxmaHJ9kFqF9qFwtJ2/CyxgNvPHJMUrmIeNUzjtlXyrzJbPuS2VeJ28uyM9LRER0MRja0wecXWl/8803Y9OmTcF7zlhopb3X69W2Om+//TZef/11nDp1CjfccAPuuusuFBUVLUlPexnmZjyZO5uczwVO6izBn3flvjRdrkBbnD//cwt+8IPAbQkJfmMsAf/8z37k5MiEMXA7LQ95nUp1fX9/P1pbW3DixAntWy9Xwlx++eXGREkqmc1X1UQUSftSCj+BUFTGZ2BscniS2YT2obKt9AISCl8yPiW4Dx3nzThMQz8jERHRxWJoTx/wne98B88++yyuuuoqDe4lnDvX9773PfzqV7/SQP/WW2/Ftm3bgvd8OtIL/9ixYxr819bWaui/fft2rF+/XgP7wGR2cckwD1w+6Tbt5ENO6gKXUFowP++G17tyJ0qdnRY8/bTNGEc2bY8jduzw4u67PbjvPh8SEgKTRloeMu4mJyfQ3t6GtrYW9PX16htt8fEJ+mbd9u3XwWZz6mReNiKzkP2GHEOiox3yVXCfz/YjZA4yPuVKQhmfsp8NnZNwfJKZBCqY7XA6bTpG5fx5pZ6PUniS47xcDSL7Uqmyd7k8pjwfdTrldWRncE9ERBeNoT19gLS+kUC+tLRUq+glTA+RoeJ2uzXYf+GFFzTUlwr5DRs2BB/xyUZGRlBfX6+B/cDAAFJSUnDPPfegqqpK2+IsldClk9PT86Y8qQtN5GNiHHoppfycK7mnfX29Ff/wDw7s22dDd7dcgg18/esuPPKIR9viOCRvo0tOeit7PB4MDvajt7fb+Nt0Ga/ZIX3dJyYmITc33/j7FGPVqkpjfEJbj8ibS0RmEapqi4sLXLE1MyP7UlaKkjkEgiYLYmOjdEyG1tnh+CQzkTBU+tlLICrno+xpT2Yjx3lpOyP7Upnfzc6ac30QeQ3Jxp72RER0sRja0wfs3LkTL774IqQ1hoTpd955p55oCAnuxsbG8G//9m9444038Nhjj+HKK6/UyttPIidS0mpDWmzs3r0bL7/8MmpqarQFj1T1S0/7pSSTDZl0TE3NmXLiISdyMkmSBZUCof2cVjatxEnS5KRFq+v/n/8nCg0NVuPvAuTl/f/t/QeQncd5p4u/kwc555xzIkiQYE4SqWTJkhUs117La++u7LK3fO2turUu/2+5fKscqvZ/HXZv3bXlsmSvg2yJtGQlmiLFTIIgCJAEkXPOOQ0mnLnf02c+4GA0AAZhgDOY56lqHMw5X+iv+z19un/99tuF+K3faozPfa657Si51fCdb2gobiy7adOG2LVrR1ZXJ1IYnIEDB2Z1ND77rk/NXkdH//690wafeOAp2ks5kYuiiPa0q6dPK9pL+YB9Vldjn/XJJosT9NqnlBe5B3Mu2perF7P0XIqrQarSbz3ju+IEaPmJ9jhjMbZTtBcRkevFXQPlEoYPHx6jR4+OPXv2xP79+6OhAZG7uCEo/1+3bl3ykO/Vq1faiHbIkCHps6tx/vz5tJHliy++mOLYExcbL35C67C5pfQc3n23Mr7//erYurUyTp+uiHHjWuN//98bY8mS4oamcns4ffpU7Ny5PZYvfyO2b9+cDdRPZ4OMqqx+JsTcuQtjzpz52ff95m8SLSIiIiIiIiIil6L6IpcwduzYmDt3btTU1CSB/oUXXohNmzbF5s2bUxx6RPfTp0/HzJkzY9SoUZcI7mwo+8wzz8Tf/d3fJY/6HGJh79y5M374wx/Ghx9+GNXV1TFv3rwYMWJE+uzQoUNpgoDJADz5EfjlzoO5n6y6M9uoirfeqo6TJyuib9/WmDixEAsWFGLYML24bgd4eDIxt3//3ti2bXMcPnwohcgZOHBQzJo1N6ZMmZ5918ekePbV1TXJU1RERERERERERLoORXu5hJEjRybRnpj2Bw4ciOeffz7efPPNCwnhvm/fvrFkyZLkZV9bW9t25qWiPeJ8zqlTp2LLli3pWnjbI/T36dMnifQrVqy4kFatWpUmBxDu5c6jsTEym6pM8ezzsDjEr1+4sCWGD2+N+vq2A+WWg2hPWJwTJ45HRUVlDBgwKMaNm5i1BQti/PgJKZ69Yr2IiIiIiIiIyK2h6vcy2v4vkkJf1NfXx5gxY1KM661btyYxHRH+8OHDKSTOY489Fg899FAMGDDgklAZa9asScL92bNn0+a0eNPD7t270/kI82xEe+zYsXTc8uXLY9myZRcS3vknT55MG9Li8X8zIcYh8TiJy1mOoWPRQ/P4jJRpU1MxfuidFOb2yJGKeOWV6qyuq2PXrqLdfPnLTfG//W9NMWhQa/bc6S25xSDGkwiFQ9grJuKmTp0ZkydPbfOur74g2PPKxl+1tdVp4y/2XbiTbFS6P0Vbrkg2itk2NrZoo1I2lNonEItZ+5Ryo7jJZ1VKxQ3n/a2X8oK2lL0XaEsZLxXb0vIzUsZ1JPJLn0RERORacSNa+SkQ6wmBg3c8Cc93zAQPecR8Np5FVG8f2xohnkTIm1LRnvA327ZtS6I8gv7lyCcLZs+eHRMnTmx79+aQd+jciPb20NyMfVTGn/xJXdqEllj206YV4td+rTE+9almO7K3EL6DjY0NaQDeu3efqKurS+/zvT179kyKZU9onH79+qdBRikM5OvqqtPGX25EK+VIcSDvRrRSnmCfbkQr5Y4b0Uq5kzs6uRGtiIjc6SjaS49A0f72cuhQRbz2WlX87u/Wx+HDFTF+fCG++MWmePrp5pg3r7jRsXQtTMY1Np7P6uJAnDhxInunNUaNGhuDBw/5qQm4y6FoL+WOor2UM4r20h1QtJdyR9FeRER6CgakEJEu5513quJHP6rOOtXFvwmH8+STzSmmvXQ9CEKnT5+KTZs2xAcfvBfvvbciVq9+Pw4c2Jc2flYwEhEREREREREpHxTtRaTLICwOTt1r1lTGqlVV0dhYkQT7ceMKMXIkIZfaDpQuAa8jvOt3794ZGzasi61bN8XhwwfSe4SjIn49HnUiIiIiIiIiIlI+qNaISJdB7PoPPqiKDz+sip07K5OIj3f9/PmFJNi7+WzX0dLSnGLUHzp0MLZs2RQbN66N/fv3JiF/0KAhMW7chBgwYFBUV9ekkA0iIiIiIiIiIlIeKJmJSJeBUP/Hf1wXb75Z1fZOxIMPNsdnP9sUffoYkqUrOXnyZGzfvjWWL38zvSLgV1dXx/jxk2L+/EUxc+bcGDx4cKfj2YuIiIiIiIiIyK1BtUZEuoTly6vi2WerY/36yjhxoiIGD26Np55qjnvuKcSoUa1RdVHHl5tIQ8O52L17R2zatD62bNkYhw8fikKhJW04O2vWvJgyZXqMHDk6+vbtm7zsRURERERERESkvFC0F5GbCiFwTp6siJdeqorvfKc6zpypiLq6iPHjC/G5zzXFnDktUVMTYUSWmw8byhZF+52xdevm2LdvT4pZP2jQ4ORhP3fughg3bnz07dvPkDgiIiIiIiIiImWKor2I3FQQ7N9+uyrWrKmKQ4cqo1CIGDOmEIsWtcTixS0xfLhhcbqKohBfTPy3V69eMX78xJg3b2Hyskesr6qqTseKiIiIiIiIiEh5omgvIjeN1taI48cr4vXXq2Lbtspoaiq+h1j/sY81x7BhrVFb23aw3BTwrifl1NfXx5gx41IYnOnTZ8e0aTMvhMOpqqrSw15EREREREREpMxRtBeRm8bZsxWxe3dFLF9eGfv2FcPi4GV///0t8dBDLVFf33ag3CCt0dLSnDaXPXXqZJw+fToKLGnIqKsrivbTp8+KmTPnxLhxEw2HIyIiIiIiIiLSjVC0F5Gbxrp1lfHqq9Wxc2dVimU/dmwhfv3XG2PJkpaotLW5aRQKrUmsX79+bbz33ruxcePaaGpqSh73iPOVWWH36dM3+vfvn/4vIiIiIiIiIiLdB9UcEblhiM7S2BjxwQeVKTQOce2HDGlNm87ee29LjBpVSDHW5cbAm76hoSF2796RBPvt27ek/x88uD8r8+PR1JRVQhuEwjF+vYiIiIiIiIhI90PRXkRumIaGSGFx3n+/MlavLsaynzq1JXnYT5jQGn37th0o101zc3OcOXM6Dh06EJs3b4yNG9el/yPi52J+c3NL29EiIiIiIiIiItJdUbQXkRvmwIHK+Pu/r43336+KQqEiampa4+67C/Hkk8Sxv7hJqlw/J04ci61bN8fbb78ZO3Zsi4aGc1FdXR0TJ06O2bPnx7BhI9ImtCIiIiIiIiIi0r1RtBeRG+LEiYrYtq0ili2rij17KmPAgNZ4+OGWWLSoJUaPLkS1EVquG2LUs9ksIv2mTetj69ZNcfTo4fT+kCHDYvbseTFlyvQYPnxE1NXVGb9eREREREREROQOQIVHRG6InTsrYtWqqti0qTIJ+MSy//jHm1I8exy/jWV//eBNf+jQwSTYExLnwIF9ybt+yJChMWHCpJg7d0GMGTMubTrLBrQiIiIiIiIiItL9UbQXkeuGDWhfe60qvv3t6jhzpiJw9B44sDXuuacQo0YZFudG2bt3d2zYsDZ2796Z4tn36tU7hcOZO3dhzJw5N3r37ps2nBURERERERERkTsHRXsRuS4OHqyIf/qn6njllerYtasympsjFixoiSeeaI7hw1ujrq7tQLluEOlzL/oRI0bF9OmzYurUGen/ffr0SYK9HvYiIiIiIiIiIncWivYics00NUXs2FEZf/u3NfHuu1XZ3xVRWxtx770t8fTTzdG7t17210ZrFAqFrByb0mvOoEFDYuzY8UmknzJlWsycOTv93bev4XBERERERERERO5UFO1F5JrBy37z5sq08SxhcerqWmPcuELMmFGISZMKUVPTdqB0CoR64tcfPnwozp072/ZupM1lR44cHffd92BMmTIj+vcf4GazIiIiIiIiIiJ3OKo/InJNEMf+7ber4nvfq47jx4ve3mPGtMaXv9wUd93VEr16uflsZykUWpJIv3Pnjliz5oNYu/aD2LdvT5w9ezYr59Yk0CPcDxgwMHr37h1VVdVtZ4qIiIiIiIiIyJ2Kor2IdBri1p86VRHLllXHCy9Ux7lzFTF4cGvMn98SX/hCU8yceTG0i1yZ5uamOH36dBw8uD82b94Qa9euji1bNmZ/H8jK9UwS7XMMhSMiIiIiIiIi0nNQtBeRTnP6dEWsXFkZ+/dfFJEfeaQ5vvjFpujXr1UP+06CIH/s2NEk0i9f/lbs2rU9zp8/HzU1NWlz2QgLUkRERERERESkp6JoLyKdAi/7vXsr4rvfrYkNGyrTxrOjRhVi7txCzJlTSH/LlSF2/Zkzp2P79q2xadP62LZtSxw7diT7pCKGDRses2fPi9Gjx6ZQOHrXi4iIiIiIiIj0TBTtRaRTHD1aEevWVcbzz1fHtm2V0bdvayxY0BIzZrTE8OGtkRzEpUPwrG9paYkzZ07FgQP7YuPGtbF586Y4dOhA8q4fOnRYTJw4OebMWZBE+169FO1FRERERERERHoqivYi0imWLWPz2Zo4c6b494gRxc1n8bSXK9PS0hynTp2MDRvWxapVK2LPnt0pbj0e9VOmTI958xbG9Omz099sPisiIiIiIiIiIj0X1SERuSKExTl+HC/7qnj//cpobKyICRMKsXhxc8yaVYhBgy5umCod05wV4smTJ+LIkUNZWR5LYXJGjhydhPrJk6fF8OEjo0+fPlFZWaWHvYiIiIiIiIhID0fRXkSuSENDRWzfXhlbtlTGnj2VScSfPbsQDz/cEkOHhrHsOwHhcZqbm7LXiLq6uhgyZGgS62fMmNMWw75P25EiIiIiIiIiItLTUbQXkSty4kTEm29Wxq5dFz3A581rSaJ9r1562XeGurr6GD16XEyZMi3mzJkf9933QEyaNCX69etnOBwREREREREREbkE1SIRuSKnT1fEqlVVsW9fRQwc2BoPP9wcc+YUw+KoN19KcbPZM7F7967YuXN7NDaeT172CPP19fUxYsSoGD9+YgwZMjx511e5e6+IiIiIiIiIiLRDyU1ELktjY8TRoxWxYUNleh0ypDU+8YnmmDatEIZev5SmpqY4ffpUHDiwL7Zs2RCbN2+I48ePZ2WYFWIb/fsPyMpwWNTW1uphLyIiIiIiIiIiHaJqJCKX5eDBiti6tTKOHauMpiZE59ZYuLAlRo4stB0hgDf90aOHY9Om9bFixVtZmW1O4v3WrZvixInjbUeJiIiIiIiIiIhcHUV7EbkshMV54YWqOH06ayyy1qJ379bkbd+rV9sBPZxCoSV512/btjk2bdoQ27dvjWPHjkVFRUX06zcgBg0anMLiiIiIiIiIiIiIdBZFexH5KQqFiIaGiPfeq4xXX62Oc+cqYsCAiOHDi4J9Tw/Fjmd9c3NznDp1Kvbv3xPr16+JrVs3xpEjh1Lom2HDhse4cRNS6tu3b9tZIiIiIiIiIiIiV0fRXkR+CgT7HTsq4sCByjh7tiKJ+PPnt8Qjj7ToZZ+BYH/y5PEk1q9a9W7s27c3zp1riD59+sb06TNj7tyFMW3ajKiv72XsehERERERERERuSZUk0TkEpqbI/bsqYxvfrMmVq+uTF71I0a0xqJFLXHPPS1RV9fadmTP5OzZM7F//95Yu3Z17Ny5vS1mfWuMGjU6ZsyYE5MmTU2e9r1792kT7N2xV0REREREREREOo+ivYhcAvHrN22qiGefrYn166uiT5/WmDu3JRYtKsS0aYWoqWk7sIdy/nxDCoOzefOGOH78aFYeNTFkyLCYMmV6zJgxO0aOHJ0EexERERERERERketB0V5ELmHLlsp4772qFMe+tTVi2LDW+NznmmLWrJa2I3o2vXr1if79B0ZdXX0MHDg4Jk6cEkuW3J+9To4+fXLvehERERERERERketDdUlELmHr1spYtaoqzp+PGD26kGLZz5tXiKFDe15YnEKhkDzrW1qa296J5Fk/ePCQmDlzbsyePS+mTJmWlc2w5F1f1dN36BURERERERERkRtG0V5EEmw2i1CPaL9uXVU0NlbE1KmFWLKkJUaNau1xG9A2NTXF6dOn4uDBA3Hy5Mn0d2traxLm+/cfELNmzYkZM2bFmDHjora2LioqjF0vIiIiIiIiIiI3jqK9iCQQ7Hftqkib0B49WpFE/OnTC2nz2fr6nuVljzh/+PChWL9+Tbz11mvZ64fZ3weT5z1UVlYkob6qqlqxXkREREREREREbiqK9iKSOHSoMp55piY+/LAympsRriOFxBk7tjWqq9sOusNpaWmJU6dOxpYtG2PTpvWxY8e2OHbsSBw9ejROnjyRlUlRtI+oSLHrFexFRERERERERORmo2gvItHYGLFnT0V897s1sXFjVdTWRowaVYgRI1pjwIDWuNP3VsWzvrm5OQn2e/fuiXXrPoxt2zbF0aOH04az1dXV6RgmMkRERERERERERLoSRXsRiYMHK1Is+5MnK6KpqSjY//IvN8WiRS1tR9zZNDc3xfHjR5NY//77K7Ly2B/nz5+Pfv36x8yZc9KGsxMmTE7ivYiIiIiIiIiISFeiaC8isWpVVfz4x9Vx+nSk+PWjR7fGffe1xJgxd7ZrOd7zx48fS2Fw1q5dHbt2bU9hcCoqKrMyGJsE+4kTJ8fQocOiV69ehsMREREREREREZEuR9FepAdD7PrjxyvinXeq4pVXqqKhoSJGjmyN2bNbYsqUQgqNc6eSh8TBq37z5g2xYcParCyOp3A4w4YNj6lTp8eMGbNixIhR0atX77azREREREREREREuhZFe5EeDOFw3nyzKrZsqYxz5yqiUIh49NHm+NKXmqJv3zvby74Yw/5E7NmzKyX+HjBgYEyaNDXuuef+GD9+UhLr9a4XEREREREREZFbiaK9SA+FTVUPH66IH/6wOjZsqIza2taYNKkQs2YVkpd9TU3bgXcolZWVyau+f/8BMWzYyBSzftq0mdmzT4shQ4Ymwb6ysqrtaBERERERERERkVuDor1ID+XUqeLms6+8Uh07d1ZG//4RS5Y0x9SphejbF1G77cA7hKamxjh/viFaWlpSaJyqqqro06dvil0/bdqMFL+ekDijRo2JmpoaPexFREREREREROS2oGgv0kNZtaoyXnihKs6eLf49bFghPv/55pg9u1B84w6iUCjEoUOHYteuHXH69Klobm5q+yRi6NDhMWnSlBgzZlwS8UVERERERERERG4nivYiPRBi169bVxXLllWnzWeHDm1NIXEIj9O//50Ty76lpTlOnjyeNprdtGld9roxNm5cH8eOHUve9oBXfX19r6irq0ve9yIiIiIiIiIiIrcTRXuRHkZzc8SJE8XQOBs3VkZTU8TkyS2xaFFLCpFTXd12YDcGQb4pe7CTJ0/E3r27Y9261bFt2+bs/7tSwtteRERERERERESkHFG0F+lhEMt+xYqq2LPnYsz2JUsK8alPNUefPneGlz3x648ePRxr134Y7723Mg4dOhiNjY3Ru3efGDduQgwYMMCY9SIiIiIiIiIiUpYo2ov0IFpaIg4cqIjnnquOLVsqo2/f1pg/vyVmzWqJUaPYnLXtwG4KHvbHjh2N7du3xrp1H6YY9qdOncyeqzrGjh0fM2bMTq/GrhcRERERERERkXJF0V6kB0FYHMT6V16pip07K2PgwNZ49NGWmDq1NWpqIrqr83lpOJw9e3bFpk0bYuPGdenvXr16xfDhI7JnnJFE+2HDRqQY9iIiIiIiIiIiIuWIor1ID+LDD4uCPeJ9RGvagPaJJ5rSBrTdGTacPXbsSLz33ooUv37fvj3Zey0xaNCgmDJletx999IUFgex3rA4IiIiIiIiIiJSzijai/QAWlsjCoVIm8++/35VNDRUxNixrbFgQUuMH9+awuR0ZxDiC4WWFArn7NmzUVNTHRMmTI5p02bGpElTYvDgIUmwr6y0yRMRERERERERkfJGBUukB0As++PHK2L79srYtq0ympsjZs5siaVLW2LAgIjq6rYDuymI8TU1tWmj2QEDBsaIEaOy55udQuKMHDk6+6xGD3sREREREREREekWKNqL9ABOnaqId9+tSp72Z85URFVVa8ydW4j772+JXr26l5c98esLhUJK/B8qKthUt3/Mnj0/7r77vli48J4YPXps9my90+ciIiIiIiIiIiLdBUV7kTscdO0jRyri3/6tOjZurIy6utaYNasQkycXYsiQ1uhOEWOam5vjxInjaZPZbdu2xKFDB1PsesCbfvDgwTFs2PAUDqeurj6qqqrSZyIiIiIiIiIiIt0FRXuRO5yzZyN27aqIV1+tip07K6N//9a4996WmDChNWpq8FJvO7CMwaO+qakxCfZ79uyKtWtXx8aNa2Pv3t3R3NyUPidETm1tXRLra2trDYcjIiIiIiIiIiLdEkV7kTuczZsrY8WKqhQiB6f0gQMjHn20OSZOLLQdUf40NjYmr3rE+vffXxlHjhyOAwf2Z2lvNDQ0pFA5IiIiIiIiIiIidwKK9iJ3OB98UBUvvVSdYtn37dsao0YVYuLE1hgwoPxj2be2FuLo0cOxbdvmWL9+TezevTN7jtNRW1uTNpsdM2a8XvUiIiIiIiIiInJHoWgvcody/nwxLA4b0OJp39AQMXZsIWbPLsTgwa1RW9t2YBmCWI93/cmTJ5JQv2nT+ti8eUOcPn0yevfunQT7adNmxNSp06O+vlcKjSMiIiIiIiIiInInoNIlcoeyZ09l/Pmf18ayZRc3Y126tCV+9mebksd9OYNgf/jwwVi58p1Yt25NHDiwL204ywaziPWLF98bY8fiZV+nl72IiIiIiIiIiNxRKNqL3IGcPl0RO3cWvez3769IG84OGdIakyYRGqcQ1dVtB5YhxKfft29PbNiwNvbs2Z2862tqarO8T4lp02Zm+Z8SgwYNSRvO6mEvIiIiIiIiIiJ3GipeIncgu3dXxJo1VbF3b2U0NlbEoEGtsXBhS4pl37dv9sUv029+a2trSkePHknCfUPD2STOjxw5OmbOnBtTpkyP4cNHRnV1tR72IiIiIiIiIiJyR6JoL3IH8sYbVfHtb1cnj/v+/YuC/W//dmPcd19L2xHlCUI83vMI83jUEw5nxow5sWjRPUm479Wrd9uRIiIiIiIiIiIidyaK9iJ3EM3NEcePR+zcWRnbt1emv6dPb4mHHmqOadMKMWBAecWyb2pqinPnzsWZM6fT/wHhftCgwSkczuzZ82PChEnp77q6OsPhiIiIiIiIiIjIHY8KmMgdxLlzFbFlS2Xs3VuR/k/s+nnzCnH//S1RX18+gn1rayFtNnvixPE4eHBf7N+/Lwn3hMaBPn36xqhRY2L69FkxbNjwqKmpMRyOiIiIiIiIiIj0CBTtRe4gjh6tiB/8oCY2bqyKmprWGDmykDzsp04tRG1t20FlAII9Yv2aNe/H22+/Ee+9907s3783edvnwj3gWa9YLyIiIiIiIiIiPQlFe5E7hEIh4uTJiA8+qIwDByqid29C4xRi9OjW6NWLsDNtB94mEOMLWSaPHDkUW7ZsivXr18aePbuyPJ9MIn5LS0vywBcREREREREREenJKNqL3CGcOxdx+HBFimd/8mRF9OnTGvPnt8SIEbdfCEesz8Ph7Ny5PTZuXJeEe0Li9O7dO4YMGZY2mdWrXkREREREREREejqK9iJ3CIj1H35YGadOVURLS0T//hH33dcSY8fe/lj2jY3n4+DB/fHuu2/Hhg1r49Chg1EotMTQocNi+vTZcdddS2L06LFRU1OrcC8iIiIiIiIiIj0aRXuRO4Rt2yrjgw+qoqEhYsyYQvKynzixNfr1u32iPTHqjx490hYOZ03s27cnTp8+HXV19TF58rSYNm1mTJgwKQYOHBT19fUK9iIiIiIiIiIi0uNRtBfp5hDL/vx5RPuKWLOmMhobK9LGs0uWtMSQIa23dQNaQuIcOLAvtmzZmOVvczQ0nEthcEaNGh2zZ89Lwv2wYcOjurq67QwREREREREREZGejaK9SDcHwX737orYurUqdu2qjObmiIkTCzFvXkvU1t7e0DhNTY1x5MjhOHv2TFRWViaP+lmz5sSiRXfH8OEjo76+V9uRIiIiIiIiIiIiAor2It0cYti//XZVbN1KaJmKFBpnypRCjBvXGrfbgb2uri5GjhwdY8eOj4kTp8SsWfNi/PiJMXDg4KitrU1CvoiIiIiIiIiIiFxExUykG9PaGnHsWEW89lp17NhRGX36tKZY9lOmtMbgwa1RVdV2YBdTKBTSZrPnzp3N0rksX0UPf+LUT5gwMcvPjJg+fVbMmDErhgwZlsLhGL9eRERERERERETkp1G0F+nGEAoH0X716qo4eLAyBg1qjY9+tDmmTm1pO+LWcP78+bTJ7MaN62Pr1k0plj1UVFRGdXVNDB06LEaOHJX+r1gvIiIiIiIiIiJyeRTtRboxhw9XxI4dFXH8OEJ40bt+1qxCDB3a9bHs8aZvaWmJQ4cOpI1mN2xYlwT7PXt2xrFjR+L8+YZ0HCJ9TU1N1NbWKdiLiIiIiIiIiIhcBUV7kW7M7t2VsX59VeDY3rdvxIgRhRg1qjX9vyvJw+GcOHEsdu7cHhs3ro1t27bE4cOH4syZMyk1NTW1HS0iIiIiIiIiIiKdRdFepBuzeXNFrFxZGefPR4weXYjp0wtRW9v2YReCF/2BA/tixYplsWHD2jhy5HAUCi0xfPjwmDx5aowYMTJ69erddrSIiIiIiIiIiIh0FkV7kW5IQ0PEtm2VsW5dVWzZUhmNjRUxeXIhFiwoRF1d20FdQFNTY/KmJxzO+vVrY9++vXH27Nkk0E+dOiNLM2Ps2PHp76pbtQuuiIiIiIiIiIjIHYSivUg35PTpili1CtG+Mg4dKn6NJ05sjblzW6Kurmvi2RMO5/jx423hcNbHtm2b03t9+vSJUaPGxOzZ85KX/ZAhwxTsRURERERERERErhNFe5FuCBvPvvxydWzfXhno4337tsbw4YUYMaI1/d0VHDy4P9av/zDWrVsdR44cyu5THYMHD41Zs+bFokV3x7Bhw6Ourr7taBEREREREREREbkeFO1FuhlsOnvkSEVs2FAZhw9XxKBBrfHkk80xY0Yxnn1FRduBN5nq6posVad49n379ouJEyfHrFlzY9y4CTFgwKDs3nVRWWmTIiIiIiIiIiIiciOosIl0M44erYidOytiz57KOHu2IoYMaY1PfKI5bUJ7s2htbY2Wlpb0moNQP3ToiBg8eEiMHTshpk2bmdKQIUMNhyMiIiIiIiIiInKTULQX6WasWVMZr75aHefORQqF079/axLsEe9vFgj2bDDLxrM5vXv3jrFjx8XSpQ/HvHkLY9So0cnzXkRERERERERERG4eivYi3QSc3pubIzZurIp3362KhoaKmDOnJR55pDmGDm1NoXFuBLzqm7MbELt+48Z18eGH78W+fXvj/Pnz6bPKyqqor++VPOv79x+QwuFUdFUsHhERERERERERkR6Kor1INwHB/tixitiypTI2b66MpqaIhQsL8ZGPtESfPjfmZV8oFJI4f/z4sdi+fVusXbs61qz5IPbu3RPnzp29ECYHkZ7Y9sauFxERERERERER6RpU3kS6CSdPVsRbb1XF7t0XvdtHjizElCmFqKlpe+M6QZjfv39PrFjxVmzatC6OHTuSQuQ0NJyLs2fPJFFfREREREREREREuh5Fe5FuwqlTFbF8OaJ9ZfTu3RqzZ7fE+PGF5GV/vY7vjY2NcejQgdiyZWOsX7829u/fl4T63r37xNSpM2LMmLFpA1o960VERERERERERG4NFa153AuRO5hCoTWamlri9OmG9P9yg9DwVVWV0atXbVRXV8WZMw3R3Fy4kFe+pR9+WBm/+7t1sXZtVRLtP/GJ5vjMZ5pjyZKWdMy1wNf+/PmGOHHieOzcuT127NgWR44cSnHr+/XrHyNGjIqZM+fEoEGDo76+vu0s6elUVlZEXV119OlTF+fONUZDQ1O0tPgTIuUDIbyqqiqSjdKunj59PtmoXZ2eRznWOW1obp8sYDt7VvuU8oJ2Ezutr6/JUm3qjzY2tpRl31l6LthodXVl9O1bn43vmrO2tCmz0UIaL3UV17OPV69eNWlsh/PTdZwuIiKiaC89g+4u2jc2RqxYURW/+Zv1sWtXZUydWoj/4/84H4sXt8SoUdf2PK2thawsmmL79q1Z2hIHDuxP3vV0KIcMGRaTJ0+LceMmRJ8+fbO8VKf3RUDRXsodRXuhrosJAae86j3/re/duzbLW1G053de85RyIhft+b0/e7Yx9Z8V7aWcKO6xVZn91tcm++z6/mhFm/BekVJnUbQXEZEbRdFeegTdXbRfvboynn++Or72tdo4erQiFixoif/7/25I4n2vXumQTsOGs3jVb9q0PnnYE89+wICBMXz4yBg9emx65e+qqqq2M0SKKNpLuaNo33OhjpubERhpl5rS3+VW70XBJ6K2tjoJ9XiI8qp9SrmQ2yh9UUTRxsZm21ApO7BT+qS0pS0thaztb+nStrT4vaB/UZ19L2qyVBTir4aivYiI3CiK9tIj6M6iPd/Qf/iHmvjmN2vi/fer0t9LljTHn/95Q4wZc+3Pcvbs2di9e0ds3rwhDhzYF3V19TF+/KSYMGFSjBw5OmpudFdbuWNRtJdypzioVrTvaVC/bJ5+7tzpaGxsyP7fnGyhXKEthXLsj4hALlLy3bL9lHKEJr6iovKW2Sj3wKGppqYu6uv7JPH+asK9or2IiNwoivbSI+iuoj1iE3Fv/+iP6uKv/qomzp2riMmTC/H4483xm7/ZGEOHXvuzEPORePaI9ocPH0qbzRIWp1+/AUmwL2ehQ24vivZS7ija90yammiPzkZj47n0d01NfWYHxfBu5fibpmgv5Q5fG7472qiUM7Sl/L535U988fpMDDdnvzX0KZqzvnCvqK/vHbW1V973S9FeRERuFEV76RF0V9H+zJnWFMP+z/+8Nv75n4se8J/9bFN8/vNNsXRpS/Tund7qkGIHsyVtNtvc3BSDBw/Nrl2dBmF8dvTokchD4/Tq1St5jIhcCUV7KXcU7Xse1O358+ey38sTWZ1XZr9ltUlMKYok5bcnC3aZi/a2n1KuYKM4ERfbz7Y3RcqIvC3FPrt+bIcTFU5P59JqLvZM6dWrb0pXmhhWtBcRkRtF0V56BN1VtN+/P+KFF6riW9+qiWXLqrPPW+O//Jfz8ZWvNEV9PZ3Vtgu0A7G+sbExTp06GXv37k6e9dOmzYh+/fpHTU1t21Ei14aivZQ7ivY9D4SUhoYzcfLk0ew3sl8S7An7Vs5go7dGaBK5PoqifUXWfrKhc9ubImUEv/GI4fy+36q2NF/VRSi2Xr36ZH2NASkPl0PRXkREbpTyc0ESkQscP14RL75YHVu3Vkbfvq2xaFFLjB/fekXBHvCg37t3V7zzzluxZs0HsX37lti8eWMcO3as7QgREZHuDx6PCPcRTNhUpSQiInKzQXwn9Fq+apnfHp0CRESkK1G0FylTmpoiTpyIJNgfO1aRRPu77mqJMWMKHQr2dBobG8+nzWWJV79hw7o4eHB/8ghBxOjVq7ebzIqIyB0JXozFMAW6M4qISFfACpTiIKwo1ivYi4hI16JoL1KmnD0bcfRoRRw5UhkNDYR7iFiwoBAjR/50BxFPw4aGc9mxh2Pbti2xadP62LlzW7BZEhvMDh8+Kksjo3fv7CIiIiJ3KIYgEBGRrsDfFxERudUo2ouUKQcPVsb27ZXR3Fz8u3fv1pgxoxBDh14q2rM0k/j1O3Zsi/fffzcJ9seOHU2x60eMGBVz5syP+fMXxeDBQ6K21nj2IiIiIiIiIiIi5YyivUiZQlicVauqoqEhYtSoQkyfXogBA1qjNMLN+fPn48iRQ7F27YexZcumOHBgf5w9eyY7bmBMmTItZsyYHWPGjIv+/Qek0DjF0AEiIiIiIiIiIiJSrlS0unuK9AAKhdZoamqJ06cb0v/LDbT0qqrK6NWrNqqrq1I+/5//pzq+/vXq2LmzMhYvbo6Pf7w5vvSl5hg48GL+T506FXv27IpVq97JzjmVRPnevXvHxIlTsjQ5hcSprq5uO1rkxqisrIi6uuro06cuzp1rjIaGpmhp8SdEygfawKoqwonVpXb19OnzyUbt6ty5EAbu3LkzcebMiejbd2DU1/dOGwWWM9goJnk7+iPsfXPmDOV1JusXNbW9W/zuFDdZrMrKsD71JWpr69Lf5QyrDY8ePRrNzU3JOaF///5ppWF3g7o4d+5snDx58pJ6KaXYV6yOYcOGpzrqSvi9J7W0sNFm25s3Gdrl5ubmtFqU+iOEI33W63UwOXv2bOoL5/s4YcMd0dLSktnMkay8z6W/Bw0alB3fK7v3T+/7RP7On2+IY8eOZf2fuuQUU1NDHi/1e8uf5dSpk1keTmd99eI12+8lxXFcj7zieMNzU8ZAvnl+6ra+vld6LUdnG+yTZ+A5m5oa03ewsjJvN/pkz12f/u4MhQJjszPJ4Sivj8vBamGu369fvzY7wU4rU34aGor5oUy5JvVDfqgDziltx4orlHF6OpI+x7GJzztT1lybc0+dOpblpz7ra/RP38nLndurV02WalM+y7AqRUSkG6BoLz2C7iTa03E8dqwh/viPq+NrX6vJBtYV8fGPN8VnP9scjz3WknUQL+afAd7evbtj2bI3Usd/0KDBybt+2LARbZ1avevl5qFoL+UO7Z2ifc9C0f7a2L59Wyxf/laWlqXVeTn0FxCw6EdMnz4j7rrr7pg4cVLWl+jfdkR5gtD3j//4d+lZRo8eHU8++VSMGTO27dPuw969e+LDDz+IF154Pvbt29P27qXQPyTU4Ve/+utZHc1se7druBWiPeL5oUMHY9euHdnroWRzQ4cOS4Ls9fDeeyvj9ddfTSLs3Lnz0vU64sSJ48lm1qxZnQTcz33uC9nx82P48BFtR1wEYXfTpg3xL//y7fR9+OQnfyYdV1d36aQJgv3hw4fixRefj7feeiM+85mfi3nz5seIESPbjigK9kxQbNmyOT74YFVs3rwxDh48mLVdp7NPK1K/ffjw4TFt2oyYM2deer2RSYyuYv/+/SkU51tvvZkch5gAJO8zZ86ORYsWx+zZc7O2uG/b0VcGof3tt99M7RGrhq8E5b9w4eJsLPRE+h5QLIjh7Oe1ZcuWVPeECmXii0mbqVOnxvz5CzM7uCcGDBjQdpXi5A7H/f3f/03K69NPfzJN9nXG7hTtRUTkVlP1exlt/xdJ0InGg3vdunXxxhtvxJtvvhnvvvturF+/PnVeGTTQObueTuSePXuyjuoHWcfq9Vi2bFmsXLky67RuToMuPCLwYqFjc7PJB8eNjc1dNvi4EYodz4qoqanKOpOV2cCjkHX8q7IObGX2XsTjjyPYN2eD6Zas/IvCVH4e/2cgwMBg7Njx2aB1bNZZ7pe8e8qtoy/dG+ypuroyG6hUZwPUlix13WBe5HrARmlLsVGav8bGFm30DoeN2Jm0bmo6n0QUxOeu6EfcTLBRuB22iUi4du2aJBDzfcnFyiFDhiSh7fjxY0kAR0TGW5j+BH2zcgUR9JVXfpKEbjxxEbPxnO5usFpg27at8fbbbyUhGQGUfh11kyf+ZmKCvYoQprsSbIPUlROeCN27d+/K+ryrkuA+deq0NGl0raI95YVQu3LlilR+06ZNj0mTJidhtz14ZB84sC9+9KMfZOOcNUnA57ihQ4deIrDn4LlPHl999aU0qTVnDoI0qzku9aBHzOVaq1a9m6UVMXv2nBg1akwSg4FnPXnyRDameiOJ1OvXr01ly+esnCAPrAzgOL57eIwjPPfp0/en7nW7YHzIioOVK9+J1157JZU5+SP/2Ar7aeFIhEBOWZGuBtdE9KdPyfe31N5Jffr0SZ/t2rUz2Tzf7wkTJmZjxl6p3pmwxXZefvknWdu2P02mjBjBpEpt1pYdT2XJseQln0ig3PHsf//9Van9wN6GDRvWqXaOc8lzY2NDEutZjVQU5DsebzGuIxW/T21vioiIXAOK9nIJdEboPG3YsCHrkL0WP/nJT7LO0HtJsN+6dWvyhEFcZ3B3LQJ7PhGA+P/SSy/FW2+9FatXr75wXTqnXJeBFp22y3V+rhfGHN1FtD9ypCqeeaYili+vzMq7IiuT1njqqcZYuvRs1sk8mTqpLDuljJhAobz69RsQI0eOzjq4I1PntNwFC+meYHOK9lLOYKOK9j0LRftrA+cLxGGEyMmTp8aXvvTvkrfp1KnTY8yYMckLdefOHUlIHTlyVBIzOxI/ywVCY7zzztspLMnAgQNj1qw53VK0R/BFYFy3bm1MmjSpzft7QRLoqR8SzzZjxsysrzc82XlXkIv02Cjtaf53V0Dd7dixPYnA77//Xtxzz31JOL9WkZrr7Ny5PYm327ZtyfrMH0/7OnV0HSal8HR/441X00QJIi+iLQLxlClT0zOXwpjo4MED6dpDhgyN+fMXpNUnPy3aF5LAv379umxcszl5nBf3lCqK9gjcvP+v//psbNy4IbVReNPjOc6x1OvIkcVnxw5Y4YBgzXv068sBxmqbNm1MZcfkxKxZs+Puu5dk+b87Pee+fXvT6oXevXulCT/K9GpQDjznqFGjY9q0mRdsPU+MNynb3bt3J8/5pUsfSJMElBOheZise+WVl7M8vR7jx0+MxYvvzuzo3nQMqziYHGlqIrTooLQCJx87AZMMeOlTv6xq6IxDmqK9iIjcalT25BLo+NIx+l//63/F8uXLk7fE5z73ufjCF76QdYQWZx3NjfHjH/84Ce8saewsCPZ47D///PNZx/z9bCAyN13385//fPIaYmLgH//xH7PO+47kdd+TOXq0In70o6qsrInHyHLQQtYpxNNnRyxb9nr2/vo0uKMTC3Qa6SzjkaNYLyIiIlcC8QgRCc/T8ePHpTR58pSYN29BfOpTn4l7770/CDvEBvcI+HJr6d27b9Y3HhPjxo2/UD8k/kbcRCjsCuhX4umNMNmVYv3NBm/pDz9cnfWNj8WkSVNi8OChSYzvCJyPEHIZaxCfftSoUbFnz+4kOPP8XfXcTBT8+MfPpVBATJB95Su/HB/72Cfj7rvvSRMMpIUL74qPfvRj8Su/8qvZZx9Pk2bltD9DQ8O5WLlyeQoDxAQHoagQ0Qmn9dBDj8R9992fbHT16g/S83YGxi2s5mEiqtTW84Q4j7jOWAfHJELk5PZPHTJ5wCQHnvJPP/3xlA+88ZkAuv/+h9KKFep769YtSWzP6xdHMSbBmLDhc1YQYEciIiLlhp72cgmEr1m1alW8/PLLWcdrXNYhezIWLVoUEyZMSJ5LeJwcPnw4eafMmTMnDfhyj4XLQSf4wIED8d3vfjd1lvHk+shHPpLO5x54cfH5rl27kpcUCc+Kmwl9tO7gaX/yZFU28KiKb3+bZaat2cCjIR54gM7o5jh7dktask6Hs7a2JnmN5HEUcy+Py3l6iNwMsC897aWcKbaHetr3JPS0vzbwtN++fWsKN4EA/NBDjybhCnEMgZBNG/fv35fEMMQ0Qu7NnDkrnYugSz8QkQvPaMKRcBwi3ebNG5LXKh7COBK075Ns2LA+fvCD7yaHD0Q4PP3xkMfLmlA93JOJAoTU9ucizuE1++67K7JzlmWv7yQHBq5D/RPmghUCHXna4zSye/fOlM8VK5anROxsJiPwzidsBitH8/sRNgMBl3AbCKyUC97vnM9eAIQWIi8cjzCMdzUxz3kW8sezEH6Fvm9Hz3I5Sj3tEWvvu++BlDdWU1I/ecr7fUB/kHAvPAvlyLNRJ6tXv5882Nn3CC9tziv9TuAt/fLLLyQPY/r09C2LZfN28pQuhkUilEhrErR5ZmKO83wffPBeKnvGAUDIktL8FMO77E51Ql5IeKlzje3btyQb4RwEYITd119/JX1GXeI4xHvkH4917IGyuBKUM2FnXnjh37K6O5c81rEBvKY7Yv36Nckrm7jkhFkhJA/lR54Q/BFzKa+cG/W079evb5vYXQwpw7kI9dQvoYCo4+J3ryar67r0N8fw3SNcDl7oVxtn3QqoW8LNPPfcD5K4TZuAlz1lQt4pN8qUusDBi70JEMwpyyvZP59hmzxjbuMk/mYzWb5P2CblsXDhohTOKy8Pvr8/+ckLKV940T/44MPJu5/vDN/p/PvBNWgTmJgkn8Vr00+oS6uOsDkmG/i+Xm0PD66pp72IiNxKFO3lEtasWZNC1+zcuTMeeeSR+MxnPpNiAyKi0+Ghs0MMetLChQsvvHclWE65ffv2+Kd/+qd0/GOPPRYPPPBA8rAfPHhwTJw4MYn2bCJE55j3WRp8M8n6WN1CtF+3rirr1Fdmg7/W7L1zMXbswawTui47YnM2QNqXvYf3fX3ywmKz2dKBhUhXw6BD0V7KmaIAoGjfk+isaI8dlEvKBZ5CoePP2ydoO+WGKRXtEUTvv//Btk+K+ULQQvBFGEfAIuQEYSqA/hweqcQN53ME3mKYw83penjgAn27XGzOeeut1+N//s//kYRZPKJx1CiK3KuTCIxgDSNGjLrk3KLjx74kAr/88ovZOctjw4Z1SUxmAoDfIjb0RCymj5mL9ohriIgIsoh+3H/VqpXpXPLL+QjFiLXE5UYshRMnTqQ+7je/+Xexbdu2JJoyKcHGoQi3nI/QzfWZ4EDQpSzIVy42I/pTjnjLMxGSi4xXolS0p9+NpzBiaKkt53YD3J+yZGKBciSuf37/zZs3pfpgIoM+IwJ26cQEkw//8A9/l+qLxITJRbF/R4rbzkpbRGieDcEeQZ/JGsqazYyxI+qouHFsTXpG6orrMaHDpEcxP2vTJAHn8HyEicGrnLxT74Ra4RnOn29M9YHtEeKGsCeI2rntXQ4EZByCEJN51qVL70/l3t7TvmgPjckG3nzztWT78+YtTF7ZiLqUM97aQ4YMu2Rcc6OiPTZy9OiRtgmqFSkcDhvk4qneUTuVfwfJP+d2xnZyeMZrpdSmrgTfL+qWcuY7sXjxkgux5XM4puj9viKruyFpAoXPr+UZcngWyp5JOibM2COAlUCI6/nntEXkh7ERdsJEAmWWQyhRfhuwX/LMuUxI5d8rJkWwS+qL1crU79Umibivor2IiNxKytsVSW45bFCGtz3COYMGBjF5p5L/z549Oy1hpFPGYIZO+9WgU0XIHQZXnDtjxow0eIC8c8r98LpnEMdgqKfy0ksRf/d3hawziLfQhliw4M3s/+uzwcyxNIjF423GjDnZIGNW+ltERESuDFpWSwuic/mkhoaO3+8o5eL+rQAxFe9UEkJWqQhWFOXOJrGWePiE9/jSl74cn/nM52LJkvuSOPn666+mTT7xRm8P5yPiIkwjcN5779L4xCc+FUuXPphijSNsIuIi3gICGcLzBx98EP/0T3+fxFNCi3z+81+KJ574aBLfnnvu+0E8c7yZS0FYQ7Dnet/5zjPZ5+dj0aK74otf/IUU1gNRmskHvP8RGTtix45t8fzzzyWPb0RY7ounL/l79tlvZc/5/Vi27I00AcDnlMf99z+Q+sZMFCAWIsZfD0xGIQS3T7kwy/Ph1fyDH/xrvPji88nbGM/nT3/6c1mZ/kwS6pno+Pu//5sk4tNvL6WlpSkJlmzGyqqHBQsWZfX4+fjsZ4thKylrPMN/8IPvpXJkMoTQST/zMz+bPevdaVKAz0ncG86fb0ibrL711mtZmezMympeys8v/MIvxic/+el0Dfr89P0RT/HEpu4R8RFQn376E/FLv/Qf4pd/+avZOV9J4vbVwNua8kfg5Rr0k/PwKaVQh6woYIICm5o4cXISgtmwlhUa1BN2yUqLmwk2zyQONsP3Jl9hfDPBJjqylc6k3J6uBt8v6rmxsSkJ8cUNgy+duKD82f+C56SdYDUGz389MMHC92///v3ZXxVpRUSpoI79M4lI/TNRz0QdInopxfwMztqJYn6oA+wgBztk0o48Yxe0XyIiIuWGnvZyCcSxJ748Hfb58+df4vGOeI9Q/OGHHyYvJOJAEuqGTZKuxN69e7OO8LpYuXJlNihYEA899FDqSOWTAXSaEOrpmHEcoj73Lnol3By3BPqk5exp39hYkT1/Zbz88vmsbA9nZbAupk2jjPdnneOGrIM/OOvoT0yDCzqtLBPNy0/kVsH3UU97KWewUT3texZX87RHrH/ttap44YWaePHFqnjrrdubli2rvvD/N9/86c/bp7ffLu5x09RUEWPH3rgxt/e0Jw41wh1iPc4VhI7BsxWPZz6bN29+2hw0B9EVIZ/+H/GlCUvB58QRR9DDi57r463NZpB5Pw6vajycmQhA8Cf2NJs/jh07PuvjDE8iMSI0Yv6MGbPTCk+EOULPIICzEpRVAXhSI7bikY94iLiH4AY8T+5pz/t41+PtTYichx9+LO6++94k/hU3O61NAi3n4kjCZACiH8IzHsXvvfduVibNSWTlPJ6HVQeIzXjjf/jh+0mQRPBbvPieJEDjyYunNl7iPAei4rRp09M5V6PU057/Hz16OOUd4R0vb9KePbvSPSl/ro/XPx7tiKSUzV133ZOeD09zQn3g1c6mp3gQ8zevgLc83vmsROCZHnzw0fR8eE5zLp7k1NdLL72QhF08mB944OF0beqb6yDikk/Kr/iMA9PzvvrqS2n1LMdwDpuVjh07NsUjx3GHeqNMsQPKm+fgGoTNeeqpj6VJkbFjx2XHjciuWVyxcSWwG0IvMfmAPT744COpPtv3kfHkZ2UI4X2o38cf/0jKG2WJpzWCLnnBmxv7yc+/UU97vPb5u7hCg9WzD2flPKkt/NCNw3cEsZkVBIQIym2lM4k6pnyZ5MidqS4HbQP2iec7IWgWLLirTRC/WA6ExuK79tZbb6RxCqsJWIlxPU5GfDdZ5UG5YfNPPvl0stU8n7RXrLB45ZWX0gQcnvbFFRYXn4M6pP4IwUQe+H7S3pSupKBusT9W82B3tB9XgraSMtfTXkREbhWqfnIJeJ/QMcNDJ18qnEOHg04PgjudIgYD7T13OoJr4p1Bh5ZziXXavjPNskXe53ocT2fsZkNnKe80lVs6e7Y1GwAWsuc+kg1+NmYDwHezQe3OrEPMgHBg6uAzIJw0aWoaGFVV0UHs+FomU9el7J8L8P/y/D6Zena6iPbZE9LVwNHzlVeq46//uib+7M/qbnv60z+tjT/5k2Lq6POO0je+URPLllXdtAkoroP4hPiMoEgihMmaNR8m0ZXwJAiOiOPjx09oOytS3w+RevLkyTFq1Jgk4NNfQ8Sqq6tNzhyI4Wz6SL+vqenSjR35DUHwROQllj4bWBJnmj2O6OMg5G7dujX1AwGvWPJFjPT+/fulDXJJiHcIgnfdtTgee+zxJNqRh5ziJERjipWOQDtlypQ0AcHxCHczZhTjcSMqI+4TEhLHEUTsUhBvEQMXLFiYzuHce+65N+WbZ0Espb/82GNPpjArTEYg+jEBQDlQjp3pJ7cHz3FidSPCPv/8jy6kZcveSt7xCOaI3Dwf5YyQ/tRTH0+CN3HZ8Vx/5JHHk8BMf5syJARNKeSfCS7K/8knP5rKPxft+Qzve65P/S9ZsjR5veOdTpozZ17ykKd8mGSgjFnJQLkjknJPhF3CODIhQ+La8+cvTPWAdzMTDYwzEHfr64vCJxMLhKhB3EfsZWxwNbAV7k9bwBjjcnttUc9srEy5cZ9x4yYkER6bxpYQ75nIYrKk/aqNG4FJRWyA+xPGBRsvFZZvFOyeyS4m20ptpTMJwZt6xgv9avBd5BkYy1G+iPWX9gmLE3qME3k/P57nv1awo3PnGtIKkeIq7RFpQq50nwKuz3ec6xfzU5vZ0KX5IR+MlxDXuWZH+cnHpXyPmHDguM6SPz6vl0vZv+kYERGR60XRXi6BwRedGjqUdKg7go4an7N0ujPiOsfgfUOHnGuS2nf08mvyPsdzbTqGNxs6dOSj3NLJk61Z55kluRti0aL3so7p6WywUps6qffcszQbTM1Jgxi8Rzs632S6Neni6hdeqqqKA6KOjzWZbkcqtvG5nZa+Z7oTU3FlBenKuNyiPfS1CEfze7/3uyn9wR/8Xvz5n/+3JOThPfqZz3w2ecIjqpaC1yti7ve+9y/Z8f//+MM//P34/d///8X/9X/9n/GNb/xV8opHSCRsBQJuKcSYZiUnHvilIGbikIB4y3l5CAv6gQiy3BPRF3G+1LMXsQ0RecAA4lRf9OblPPqRrOLkngju7QVgPPkR5Ilnj4c04iXnlFLcnHTyBScW2hVEyVxsRuAm1Am2eLHNqWjLZ216FvJ+reDZTpiY//AffjW++tVfv5AIXYPwzb0RGBH3e/fulURNBOjco5m80KdGLGeiAVE33zg2B6GTjYipC87jGaBQaElhZBC3KUe811lRy//zxPV5duKWM2Zg9UYxTElVygd9/pUr300rHYgXj4c5x3UFXBevbMo7f/72IMSygoLJJF6ZqBgwoOgtT2KSg9UXTAAwacRKge4CYyrq8OGHH73EVjqT/t2/+6U0ycT3qJzgO8N3khU72CUTYkx25N+xnNI/233UafLxJzZLwr47K9yTn4u/QR39PpHaDhYREblODI8jl/D2229ng7G12QBnRkydOjV5TbWH2KIbN25MA6xp06ZlHfqJbZ90DPHs2WSWxOa1ixcvbvvkIgwm8HQiNM/MmTNTGB2WL9LhuVnknSvCe+TLFcslHTtWFS++WJkNPg5nA8iTWdniiTYp5s6dGePHs3HSgDSY7ehck+lWp3ylB6/V1VVl+Z0y9dRUnSXssjhgpt3XRu/shFMt4XEQXAmXUl1d3PiTus9/95lgnDChNebPL8TSpS3dKt1/f0s8+GAh6zsVsv4Am9QXn+t6E57E7ElEHHi8kvEiHzlyRPKgR9hGLEN0xzsVoRxv6tzZgj2KNm1an4R9PL4RSQmRQSgThF286HPB/u6770lhUfCO5VxCcSxb9mYSpOlj4sGd5wmhDG/67du3J/H8sceeSOdSr2+++XocP340OS4Qdx2xPT+PekZgY/IBb2G8s/Ha79evbxKq2ZyV36mFC+9K9+N583OLzxQpBj8TGIRsIdFuIFgTIgiPbGL1c8/csQR7woOezVYRvVk1QMqvy/MTWgjPdiYcEFPpS+efXy6RX8qAmP/k46Mf/VgK14E4jgMHCXGWCQH6g9yDUC88P/dfuHBRylt+PZ6Dfaqo59wbn2P4jPA4nEu9s1lo+/znYXoIO5O9Fex1xYbBeVgVQvYgxnMMgj11SllgC5Q39Xnq1IkUPgfvdTz9KbN8IgDvZmyHe+3fvzcbH2xOcd8JmcSkTm1t0Yu7M4m8EkKJPREQ49m3oP0x2DTlgN0i7jMWYTUEky+UH7ZO6CGug8c9tjZhQtE+mRBg0oHwM0PawuNQB+3zyHNdDI+zJYVMov54VkKw8H3hFVsseo1ftMUbTfzGcR/slMmHziaek7Ectl3s13V8fRKCNiGEmJSjHAgtRNtAPebHMIHCXhZvvPFasgVWZNA25N+dziZWsFAXfPcJp8Q+EXx/GRfmx1BvfGf4/vK9JnQTNlh6DGAXbGCN6M8kJG0a9Z4fw/iTyS9snRUXhDWiPEu/S6WJ+zKxRXgcvof9+vXJnq/2p36XLqbqC2UrIiJyPTj/K5dAp4KO/pU8DXiflHdgrkbpcfm57eE97gncn4HYzYY80IHCW73cUu/eNVlns0/W8RyVdRbx+JkW06fPzTrFs7KO78Csg1nX4Xkm061MfH8YfACv+aCko2NNptuRcpvMf3e00Ts/IYogsuRkXYgL9U+qrq6IRx8txC//cnP89m83lUX6L/+lmDr6rH36rd9qin//75tj6dKih/PNSbTh1cnD+Atf+Pn4/Od/Pn72Z38ubaRKiBXCThAmB3GXGPX5eYiXCOSItoQQIWTKRz/6dDr3537uiylOOOIZFPt07ScZip6thGUpfR+BrDjJVgz3UVFRPA8Q7tmTqBj+4qeFRc7NbYBTSMU+JftZtGafF0N2lE7kkIq/YTXpffJZ9Ijn+OJ9syulYxDm2p/LygDeKz5LcUKjNJU+S7pSu887TsW8A8Lj0KFDUqgYhPo8IZIiznJvno3rc/+O8kCiTMgjIUGoj/afI6by+aXvF0OPcG3sgH2sELtLw6r8+MfPpQ1oEaGZrOEawPUQtRFZi5MIlUmsZrLmued+kM5dvvytNHHEPS4Ko+n09FpMpfm5cgLKovh3x+ci3CKkI/JSx9gfYj/hcorx7I+k+udY8ssEAmWW/ZnKOrdXyrC4CqSjybNifRfLGTsv2iTnI/IzIYZN8n1iIuCnz7/eVPyusYKAybJrSWfOnE7fr4vld/mEMN2nT9H2ipOkZ9vK6OIxvM/kGfnhO9e3b590fOkxnUlHjhxKbQ+TAEws4CDWq9dFMZ5E+fI9oW4o92IYqkvzk9swe1PwHaEOiu3ExWNKUxHK4ko2eNFGi21Ix79LeeIYjhUREble9LSXS1i1alVs2rQp2GCMTWjxdGrPihUr0oZgeALhLcXrlSh6+uwMNpmdO3duLFpU7MiXdmKIJcrmtqtXr04eMEuWLEmDgJvZ0WGDpHPnCP9DHEQ6cuWTqqpaYuLEQsyb1zcroxFZGpYNzvqkjnRHx5tMtyMVN55lwFuVvkfnzxOztPy+T6aem/INkhkoZ6aa2nwG7GxI29Hxpu6fGhoak5c9InJtba+sf1EUMGmrSlNRkMWr9vam6moSgk/x76vlic8Rscl/+2e6nkTIGLye8YDGE/jJJ59KHvJsloowTKgVNu1cu3Z1Vp51QfgYvFw5l/4hAm5dXX0S7J9++pPJu5UwKRyH1+qOHduS8EnMeDZ9xAuWc9evL3raT57MCk02sB1zIU98b/FMJzQJXq/EiMfDHA/4Dz54P3lsI7oRzmbQoMEXziPhAYwnLd7k5J/Y7HjI8wxsQInISgx8rocXdX4e7QJ7M3EukwKcR36zj5KH/KpV76ZymT9/UfYMhFIpxsUmEWsbj3M8jrk2IXQuXrcplS+e8HgMswEuXs3555dL5H/37j3J055NW++++77snsV+cEfH4/2OsEnMb7zo2UC1/THkgX41ZUQe2VSY91kty0oB8s+eSdRHfg7tJx7ViNn03Z9++uOpPtjoljptn/JNeCl77KWioiortwEpvj82snDh4uThTP3hVc++CSNHjm7zVq+LvXsveto/8MAjyQudY/P8XC0RymbHjh3pfOoPT/v2x1BObI66bVsx9A2e/8uXL0sTD6+++nJKbFLLHg94y1Oes2bNzb5/CNTN6X0mq5gwmTJlerJBROnSe1Dv+/btSxvissL4/vsfTtcpen5Xpe8EdcuKFr5j2GPp+deb2PyZ+/3bv/0w/vqvvxYvvfRipxObERMCinBLCNodXT9P2OG5c+fTZtII5cUVIKPTRE1+zJEj2M2W7LuzInm0s0qFdoExX+m1rpZY1UFbQZvO6pp77rkvq4tiyNb8mAhWQZxNnv9AnRAqK189QSKEFDZMmCYml/Cix+ZL7YtNaFkJTr4Jo7V48ZJ07cu1t/nEDZMk1Cu/Ny0tlx+rQfsxr4iIyLWgp71cAh1SBlh0dNpvnkVnpRg78mwaABADMY/zeSW4Jssv6bRwLoMkOj2l8D735Hocn3vt3CyyrKf8MzDsqFN1uxOi/dixhZg+vTamTu2XdT4pAwYLbE7708ebTLcj8f1B3GAww2u5fp9MPTkVUruZt/lFTzvb0Ts50Q4xKV/8rad9yn/zL02AblIOCSE+6xJ1Ok/Q0TNdb8qhX4ZwSiK0ECI1IUYImcJGtDt37kgC59mz51I50wfEQ5c+GmIfnt+IckWP1+o4eHB/Eryzu1y4T/t75uTvFz+7eDzk7yN0IcYhniJSI1AjtuefEzMfsfbEiZMpb/m5eNcjJiLe0wYg1tLPzM8jFTfh3ZK9fyb1OxHWEWLza5S+Zv+75NyL7xdp/9mln//0uZdL6egLf1/5PCYg2OiVvjqTAzxPXjb8PiPmEs4IURJRlvrKz21P/j4Jmxg8eGhWduwTUJPKhgkWYul3lAiBgtCejweoM/6POIpozcoLQjCx6S82hX3gqMNYAC4KmsX2mu9yaX6ulphA4tkQ15m8owx4/vxz7BbnISYGmChggoGJBlaUMAmUp7vuuidtMsyKDoR9bIayxY4Yw2Dn2BDfCe5TmgcS92XCiXqgbrgXIVmwRc5H5EasR7xnQuT48RMpz+2vk9cdNs0EG/9vf0xpyst79OjixM21pGKIm3wCouPr5wnRHFvgGfCop3zalwPhj5go4npMAvbvPzCdV3rMlRLPzga0lD8rIZgQ5Ht5cfLq4rFAXeWTH9yX/JTWPaGbKG9sivxwLSYc8s9JbKBMvfJslGPRFi9+3j5d/KzYD75a/6Joz8U8iYiIXA+K9nIJCPHEIaSj015cz71NeJ+ONUsWS3fyvxxckyW+dLo4l84Y18qhM4OHEfekY8s18+WUNxM6THSwyjFlucs6ua3Zs0fW0Wf5ZcfHmUy3O/F9LX6fOv7cZLrdqThALrarHX1uurMSVd3WLHUL8ryWY57pdyGA4nlNmBMEekQvNiZtbDyfBFZEL0Q7xG76dPkroVKKHtP72q524yB4jho1JgmmiPO7du1KMbO5JwI+XtpFD+ljqV+aQz4RcxGN6Xtu3LghiYCESSk6iZxM4ithfhD78X7mWM7pLiAK481MW4cwj/c/4j0TGcWy2ZPKC5EcoZXUGYqifdEbnD45wj99dPrlTOzgkU1iooZjESURZkmEf0G4pY4YL5AXQqhwPBviMhbA7rElRO7M4rL6qU0TPnyXqRc83XEMol5K6/RyILYSSojzCc1C/eZjF14JAYNtYsNMGjz88CPxsz/7+Z9Kn/70Z+OJJz6a9kUgXA5e8VyLCa1c8MWbnvexcVZ/8DmJsDtMWLFvA/kvrj4Z3OZlXxTVx42bkDZ9pY6In86xTCbkTlIk6o3Pib/PihXqMJ+MuhzUC/diIuLzn//SNaVPfvLTKY47zlpXg+fgeZjUo65ZvUCZ8uyUAeXBd4oJCfJDeVHv2AhQdjwPExus5CgdB+bwHp/l1500aUqaELocTA6w/xoTK+yHwfX5jmMH2BJlSDlT/qxeyb3sSykeeyp9n2hnroW8r1H6e9Q+FfsiIiIi14/hceQSWNpMJ5JQNmyAOnv27NQhpLNGp4xltu+8807qWH7qU5/KBnYTUyfuSjBgwvvhrbfeSp0lBgFcO19SSaf8jTfeSGF3CMdz1113pdA8NxP6THSeCOVRjv0n5ieKcVlZalmZBjPFzl7bASJlAO0AG3oSpxPvtdyjWaRcwEZpS7FR2lXC4mijdzaIgojITU3ns3ovxjjOhaJyJY+bfjtss+h9ujWFx0EQI+xJe+j3IeSx0Sj9PfpriHD01xBk8WpFOKf/h+BFbPDXX38tCWSIxNTH3Xffm8Lq4OUN+Ua0xNEnVAsieQ5iL/nBexdR7/HHn0yf831GlEXIfP/9lUnIQxQlfwh0K1euiJ/85IUksiK4kUeEUVYAZKWblS8hOw6nUDAIxfRjEXLxsCe2OuFR8MYnbAahXuivIp7yDO+9VwyPw8ahOJ8gLucwOZGHx0E4R8jMQXjkORBeyfcjjzx2ReExB9GTZ6LMeQ68vhElL2fLfEaMcQRgyow6obwQIZngeOGF59OkBGLpU099PHmTI6ICgitlMnTo0DRBQ33kFNtQ+qFNqR7Xrl2TRGqEdMqG+i56VG9LZbBixTvp+SgrPv/Od76djRU+SHaDYI54f+jQgWzssCzdEzH1kUceTx745J96wR7ZwJUJI+qW+1NXtOFMFFyJYt++MYUz4vkQoXmlLolnzmQGnyEos8ExIXsYY2AjpYnVBdgqZVNctdCUygzBHjvib8RkNvAlNAoTElyfskDIx7ZJOB49+ODDabUKHvc52DFiNmGgsA3qmWekzCgDxOq8TH/4w++lOiU/lO2VyoD6osz4jnI89XAtifPycV5nYKPvffvYmPiDzD5asrJoTPkn7BHPj2h/3333p7A2pRNFfKf+3//3vyc7wC6K4ap6t31ahLEioXGwW8oDu2XD4NJyLIV2lLom7BLhvLgudko7Rb0TEolwRXPmzE/fcSaO2j/n2rUfZvb6fvous/KA78OVyMetbETL5AWTOtjr5cov31eHzztZxCIiIpegaC+XkHdMEecZ2PA3HQ28bIj598ILL6TlmsSxf+yxx1KHn84erF27Nl599dVsELUynTNiRLGzlnf+8YjiOpxPp5ZONpME7733XhL0GUhyzTlz5mSdpyHp3JtF9hhtHXtFe5Hrhe+1or2UM9ioon3PQtH+2uicaF8deJ0jItJPQ0CbOnVGErYQ2vBmxbsesYx44nh6I7jxOd9BBLqbIdoDohj9URKCMcLpnj27YvfuXdk9zyUhFOGTjTKLwltRtCcfPAO2gH2cPn0m5bcYnmRTKgdE46VL2TT1rqzPOiqdg5DaHUR7+t58Tp7pq5PnYt0Ww68QggbBmRjdd999TxJQcy/jK4n2wDURvXlu+u/ULeWOPTBBQ6K+6NNz3PTpM5NDDseuWfNBeg4mDigHxFMS9cUkz+zZ89Kz8Yyci60xEZOvguBcJlXYF4D8IrReCcoH2/jww/ezfBdXCRBfH+9q8v3uu8vThADC8kc+8nTbZEHf1E6UJvLCc+OVf+jQoaw8D6YQMqw+5vPevdkvozieQRzGlsjnpk0bUpnzHcEWiamP7TOO4bwcngXxmXxRb4ScYhIKW6Z8+H5wHe4L2NXMmYyHhqa8XQnyTd64x7WkfIKE8zsDxzKBQHkzYZHbLHVFXRPrnXwTColXnjWHY//1X59NrzwT8ePbe/gz0fPGG69mdrY93YeNrUeNGpPy2hHUNxvUkh9WfGCPtEXF78CWNLHCd+/BBx9J9Z63RcB3pjjZwz5tq2Pu3AUpT6wivxKK9iIicqtRtJdLoINF5xCBnk4rQjudE2KJ4n2PNzzLW5cuXZp1ZuclD4ecV155JZ599tl4++23Y/To0elzyDsyvOKtw4azdLDwZGHp7ptvvpne57p470+YMCF1aG8mDIwV7UVuDL7DivZSzmCjivY9C0X7awPhGzEZQQtRHVG6PbkgjFc0gjhCG+FyCPGB2EofJffoRnik34hIN3cu/cK+2XvHk0czwnvuJYt3LmLczJmzklDMdXKoQ/KE8Imn7AMPPJRE5uJvTnW6JseTd45BQKZviqCLVy/iW+/eHDMibXqK2My5nJfH3udchG1EPQRcwqCwSSqCHvnJbYb7Ix4yecD1iNmO2FcqnHJ/xEqej41c2dA3hwmIYngYYra3xr33PpDudTVYuUA549jCalTixXPPy9kyz8fnbLDJRApCMs9HQgRHuKYOHn30iSRc4lGdQxlQd+SfZydsTHvo3xfDYPZPfXaeGUGb/DFhg3iJQI5nO9fgeN4rhks5kzzQDx5kIuFwsiM+Z3NXwtPQzyfPPANCPs+IzfH83ANBnHtgA3g/Xwnsg7aeiQhskrwyiUK+qUtWCnB/hOKHH370ihMo5J9JF+qfMiyK9kPS2IgVGQMHDkj2dPp0Md485chkA+dRx/feuzQWL8aTf3Jqh0rhGXlWbBZxn+elrHKbZHKMdox8Y3NsgDxt2vRUb5RTOcAzUG98HyiPYh0fSAmYkOO7yyptPi+FuqEuEOonTJjc5kF/qac9kzYffLAqCfDYCBvQMhl0OWhHmZijzNgMm7pg7HrgwL40uUL7xma4fA+o/1JoP2hL2IyXSQdWYWA3tBlXQtFeRERuNRXZj4/DWbkA5kBndf369fH6668nkR5xnffpcDOQePjhh5NozyCo1PvhW9/6VjzzzDOp4/mVr3wlvvzlL7d9UuwccV086rnupk2b0t9AB27x4sXZwOu+WLBgQdb56pc6QDcTBHA2BDp9urhJUblBR66qCo8RYntWZYOvhiSIlmNepedSHCAhoNRlA7DGaGhoyr7b2qiUDwyMq6oQ6xA6ImvzWSpvXNk7Gbw7z507k/1unsj6EwOjvr53ElPKGWwUk7wdv/EI1gj2CGSIiO3FrBy+M0UB9mwSE4cMGZaOL/YTT2XvF8N6AH1BPkPA4j0+R5hEsM/7iQineILT50MYK/XC5ZrcB+GZSQLE2tLPiyLZ+SS85+EvED05hs0+OQ+xFhG7vVc8eWezSY5B3OfcopNEbcozeeG8XHTDnrgHsdx5H9Gw/UQQ/VcEQiY26BuXCn08C/eijLkf4jn3uRqIjAibiNUcj1hcFPqurPTxPJRZ/nxMGmQtYco7oij5I/+l1yl6th9P9VXM/0+HH6GMOOXMGeK2E3P9bCqbYltaDMnC8yMq5/egDigbVkDgiU3e8uOxA+oLm+C80vKkvMk/nvGUA5M47GdAXbJa4GpQ1i+//GIKg4MQ+6u/+p+TZzX3ZyKA6wK2Xjp50R7yz3PyDOSJ46kLnhXIG8+Grea2BHxOeWOLeH5TrpeD8iC8DtfgHlyT+wLXyb9LlBWC9NXq/3ZAnnkGyqlYz+xrwJ4H9al+KQPqrxTOycV9yom6LR1DQh7TnmP5jDaEcr0cFA12VKyXhqx94DtQbB94n/JjhQR5yuswB5thtcyrr76UJuh+4zd+K4n2V7of8P0qtkV8/2k/+mfXZuKo43rq1Qu7KNp7GValiIh0AxTt5aegs0NHDG97Eh17zITO/5gxY2LKlCkp9nxphxsIj0Ni8LBw4cILnval4LG/bdu22LlzZ+owcV06blwzjzHZvmN1M1C0F7lxFO2l3GHgrGjfs1C0F7n58HtPQpAt9+YT0ZZwRC+++ON4++234hd/8d8nL3lEX7lz4TeesSi/79falrLC4Zln/jm9skriZ3/259Jk4dVQtBcRkVuNor30CBTtRW4cRXspdxTtex6K9iI3n+4k2tO+46X94ovPx49+9P20jwBhnyZPntp2hNyJ8Bt/PaI9zmmEh/ra1/5nDB06JJYufTDthdHRipP2KNqLiMit5ubGIBERERERERG5BSCYEk5lxoyZ8fTTn0ghdfKQMyLtIbQRkzzTp89IkzszZ85OoX1ERETKEUV7ERERERER6ZYg3A8bNiJtmMzmuOwJINIRrGhmrwo2qGVDXDzsuyI0q4iIyM1A0V5ERERERES6LWxyPGbMuJgwYZKivVwWNqFmNcasWbNj1KjRlw1tIyIiUg4o2ouIiIiIiIiIiIiIlAmK9iIiIiIiIiIiIiIiZYKivYiIiIiIiIjIZWhtbfuPiIjILULRXkRERES6NbmYoqgiIiJdRas/MiIicgtRtBcRERGRbgmbCOYbCba0tESh0JL+LyIicjNpbS1c+I0p/vYopYiISNdS0ep0sfQACoXWaGpqidOnG9L/yw30hqqqyujVqzaqq6vizJmGaG6mY+jXU8qHysqKqKurjj596uLcucZoaGiKlhZtVMoHBtFVVRXJRmlXT58+n2zUrs6dCyJKQ8PZOHXqWNTU1GdtVK+or++d6j+ziHRMuYGNgu2nlCv83pNaWgquXpGyhDYeG8U+b8V4iX5EY+P5OH/+bPbakI3Z+mR9jQGp33E5evWqSWO7ysrKtt8kERGRa0PRXnoEivYiN46ivZQ7ivY9EwSUM2dOZXXdlLVT1VFf3yezg6o2oaT8lBLaUvA3XsoVvjfZ1yfZqM2nlCu5aN+Vv/HF6xey35fmOH/+XDaePJ+N1WrS7wzC/ZVQtBcRkRtF0V56BIr2IjeOor2UO4r2PRPElKYm2qSz6f+ELChXwZ48FfPV6m+8lC383mOnRdFeO5XyA/ssiva3oi3lHozLCum+rOaqra1P4v2VULQXEZEbRdFeegR05hTtRW4MRXspdxhMK9r3TKhjRPvGRjwhG8u2zou/91VtQpOhR6T8wEaLE1+I9vZFpTwp/t5X3rK2lPsh0hOGDdGedvxqKNqLiMiNomgvPQJFe5EbR9Feyh1F+55NUWBkM1oEHFJ51Ts2STtaX1+b8kYbyqvmKeUEYXFqa6tTOneuKeuPtmijUlaUjpuwz/Pnm7t8zFRZWQy5VhTgO7eSS9FeRERuFEV76REo2ovcOIr2Uu4o2gsUhfDyq3faUOyzd++6lLezZ8+n3/lCoe0AkdsM7WZxYqkm+72vSTba2MhEmG2olA/YaHV1ZfqtZ3xHnxQb7aomn+8FQn3x/51X3xXtRUTkRlG0lx4BHTlFe5EbQ9Feyh1FeylnsM/qauyzPtnkmTPap5Qf9EcR7UnYaGNj13sxi1wL9EdraqouiPZnzyLal1+4MUV7ERG5UYpTxiIiIiIiIiIiIiIicttRtBcRERERERERERERKRMU7UVEREREREREREREygRFexERERERERERERGRMsGNaKVHgJm3tBTi/PnmMt3wrSIqKyNqaqrTBmDnzzelTb/8eko5UdxEsTJqa2uiqak5bf5VNFHtVMoDbJTN3urqatLfeZtvWyrlQNE+ixt6Y5KNjU3pVfuU8qHYH62urkobfdKG0n/WRqWcoB1lM1p+67FP+qSFAp+Ul53yHWJsR15FRESuB0V76TFg6uVu7nRCGTAV8+lXU8qR4kCJSSVtVMqVYluqGCrlSUUFC12dTJLyJZ9g8rdeypdif7S8x3dFR4K8TyIiInKtKNpLj6OcLb60T+c3U8oRbVS6A9qplCvapnQHtFMpd7qDjZbmUURE5HpQtBcRERERERERERERKRPciFZEREREREREREREpExQtBcRERERERERERERKRMU7UVEREREREREREREygRFexERERERERERERGRMkHRXkRERERERERERESkTFC0FxEREREREREREREpExTtRURERERERERERETKBEV7EREREREREREREZEyQdFeRERERERERERERKRMULQXERERERERERERESkTFO1FRERERERERERERMoERXsRERERERERERERkTJB0V5EREREREREREREpExQtBcRERERERERERERKRMU7UVEREREREREREREygRFexERERERERERERGRMkHRXkRERERERERERESkTFC0FxEREREREREREREpEypaM9r+LyI3gZaWljh//nycPHkyvTY3N0dlZWXU1dVF7969o1+/flFVVdV2dOfhOmfOnImzZ89GQ0NDFAqFqK6uTtft379/1NbWpr9Frga2g52eOnUq2VRTU1N6H/vp1atX9O3bN+rr66OioiK9fzW4XmNjY7oWNs/1uD7nY+vYJtfk2tdj+9Izoc2jraMtxb6wM2wKO8rb0s7a6OXAVrFb7oHN0p4OGjQo3UPkSmCf/B7TjmJHpfbZp0+f1OZdj33SLefap0+fTtenTeU9rkUbzXWxf9pokSuR/zbTvtGWYqfYEe1c/ltfU1NzTXZaap/nzp37KfvENrF/7VOuRkd9R2wrHzMNHTo09R+vFX7L8/ESNsp96HtyTfoN2KbjJRER6S4o2ovcZI4fPx5btmyJF154Ib0eO3YsdTqnTZsWixYtikceeSSJ7HRKr4UjR47EsmXL4t13341NmzalzijiEtd98sknY9KkSTF48OC2o0UuD4N37Onll1+OFStWxJ49e5I9Dh8+PObMmRMPPfRQTJ8+vdODGgZHu3btinfeeSfZ/N69e5PdIwYMHDgwxo8fHw8++GDMnTs3BgwYcF1ClvQ8sNE1a9bEj3/849i9e3eyM9pSbPSee+6Jhx9+ONnotbalpWCr2O2LL76YbHbKlCnx+c9/Pt1D5HLQdcY+33///WQ7tKGIQwih2M6SJUvigQceSPZ5re0d4hX9CNpnrr9t27YkZmH7/Mbff//9cdddd8XMmTPbzhDpGIR12jjaUNrSgwcPJjviN3nBggXpt37UqFHXNJmOyEpb+corr8SHH34YO3bsSLaPIDps2LBkm6TZs2e3nSHSMbl9vv3227F169bYt29fHD58ONkSY5tf+ZVfibFjx7Yd3XmYSGW8RP923bp1abzEuItx0hNPPJGuja2KiIh0B6p+L6Pt/yJyA+QeI8uXL4+f/OQnqQOKN8eIESOS19HRo0dTh5QBPJ5IiJedBcFq5cqV8fzzzyePKc7lurlwgGDKNRFdr0ckkJ4DXkw7d+6M73//+2kQjxA6evToNKDhM0R3vJQY2OPl1BlBlEHW+vXr0yCeCQG897BFJpWwRQQtxAIGTgzAblRolTubvC196aWX4vXXX0/2yuQPg2zauQMHDiSbw4awNdL1gDi6YcOG+M53vpMG9rSt2P38+fPTd0KkI2gfESkR6998883UviGm017ym8/vPKI7QihendhsZ6H9xCZ/+MMfxsaNG9Pf2P2QIUPS7z72ySt/I7aKdAR9QyZ6ENWxpc2bN6f3addoL/ndZzKI32dsFnvqLPQR6OPS16XNxO5JTFjxvUDEx27pU2D7TN6LdATjIuzptddeS+Mc+oj8tmOf2M3SpUtTP/JaoP1977330njp0KFDqb2kP4qtcz/aa/qg+WSVfVERESl3FO1FbhIMkBDQf/CDH8Srr76aOoT33Xdf8rbDqwnRkkE4x9CB5L3OdBYZfOFdzyDpgw8+SB4ijz76aPI0ZZBEBxfhgAESgiivhiCRy4GYhPfm3/zN3yT7wyv0Ix/5SEydOjUNZLAxBjbY3axZszq1dJ6BERNHDL4mT56cvOzuvffedE1EKwZRuZcf92MSC/FJpCMQfLCpb33rW0l0oq3EI/Tuu++OcePGJbFp+/btyZ4mTJiQJjCvZ+CN+M/g/rnnnksTBYhZ2OvixYsV7eWyIEzSpn3zm99MbR7em6ygYyUddsN7TDTxW89nCJqdmUjHBrkuv+fPPPNMske8lVlRwkQSbSvXYgKLSQL6ESIdgS3xO85E+rPPPptEeX6X8TKmzcTDmbaV/gBtHv1KbPRqdsqEFV7RtM1422OTrPRcuHDhhTYT72Y+43d+zJgx1z2pKnc+J06cSG0eTk5M8GBD2C5gP6zQvBbRnn7r6tWr00pn+rnY3+OPP576Doj32DuTTfR1+R5g+/xfRESknFG0F7lJ0PlkMEOoBTqOv/RLv3RBZKIjisCO9ygDGv5mkIRweaVBEtfB+xmPETqahBdhgIQgilDFtRnAM/hiMIXAikjA0lKRjkA8Z9kwNvOxj30sPv3pTyebGTlyZBKC8LpDFGXAj3iJ3V5tUMMkEfZISAiEAUKM8DeiUm7rDMpYBs0ADOHpWr2npOeAmI5wyWQlYtNXv/rVNIHEpCSDcNpNPDzfeOONNAmEqH89bR7hR/geICph91yDayvay5WgHcM+Wf3GbzAhHAhVg20yWc/vMKIlv9mI7bzXmUlKfuvx3mciid/zL33pS2mCHrvH2z7/zSfRhurBLJeDvibtJza4f//++IVf+IVkS9gO9kibx0Qn7R/tHqFy+J2/ksMHYiqe0FwTz2gmUrkm/Vx+67F/Eh7ThCdhJRPts2Eb5XLkq5HpN+JVT1+RyU4mlbDHaxHt8/ESTlM4OdEmI9hzjbzt5JVVdTgGYP8I99eyEkpEROR24JowkZsEgxlChDBYYuAyceLENLDGWwTvdzqjCE8MZPAsYeBPB/NKcC0ELI7nPER7rovHCB1NBC06ong04/1HrHs8/kUuBwNqlgfnqz2wVWwUjyOESlZw8H88nfFmZvB9NbBFbB3bZFCU2yfX5X1sH1tl0J+HyRG5HAjyeMsxoYlgiV0h/ORtKe0oE00chy3TRjJg7ywM2Gl/Eay4BhOhfA/0uJPOgCCP7SCa8/uLfSIsIYQyiY5QyfscR3tLW3o1aBuxy7Vr16bz8FzGxmmnuS7taX592lcmU0UuRx7qDmeSvD/Kb3P+W8/frAxBuKT9zEPaXA36l/RF6Zti80wmcb28beb3HhvlugivTD6JXA4mM2nPaC9JtHe0ddfzW4zN09YyXsL2ZsyYkRxIuD72SR+Ce/AexyLeM24SEREpdxTtRW4SDGQQORms0DGkk1ja8WRwg1cHXk14MTOYv5rAzsAIUYpBPNdCnC+NPcq9uA/vM+jPr3ktApb0LBjUYH/YKLZUutqDwRK2xGAce8bjHlHzamCbXAd7bL9yhPf4jIQXH/aZL38W6QgG3MRgRpjMVymVeoDiKYoQxXtMAuFJei2wRJ4wULStXBtPPNpnkc5Am8jKIcRKVijhLUo7B7wy0YTd0hZim9jo1aBdRGAlrA6/+wj/vMfffBe4H7/veKHyub/xciUQy2nf+B1HoEdQL12ZwW88v/X0H5mY76xoj31zHWweO0T05JX7cS/abv7mGL4fToTK1bjSauNrASEewZ7+LdfMJz1zeA+7JaQTfQfaVmzWtlRERModRXuRmwQD7HxzRDw62i8zZhCDKMpAhkENHcuriZf5NfFM5ny8mLhGKbyP4ESHlEE/nVBFUbkcCE5s8oVg395bE9vlPTw6GWxjezfqiYStM1GAUMrAHlttf1+RUmjDEDqZ4MRrsz1MAOWenbSNtHudJZ/cJGY4whWhcPDEox0V6QyIm7RptGPYYHty++S3HhGzMxOftMmIrNgzIhJ2+r3vfS/+8A//MH77t387fud3fif+7M/+LG0qijDlb7xcCewDZw9+c+k3YpOl8PuO/WKjHIs909+8EvQPOJ4JUyb9CbVHiCjaauwcuyS0Ex7MXJ9weR19P0S6AkT7PLQO4y/6uLTDpWCXvM+r4yUREekuKNqL3CQYHDHwRjxHWG/vPcLfdBT5jGMZnF+ts8hxdEDpjOaDLF5LoXNKx5RXBFIEBY4X6QgGKdgJNtNeqMRGGZjjjYSd5V5zNwKDKDbDY2CPSMrGiryKXA7aL7w/sUFssT25tydtKULTtUws4V23YcOGJDDhcUfMca7Vvr0WuRzYHG0jdnM1+6T97Ix9chwiK6/YZt5mIpLSZhLahIlPYt6zlwOe9yKXg75l3sdkEr69EwntHe/Rp+T/2DP9zavBOdOnT49PfOITSZAnjNnXv/71+Mu//Mu0uT37LyGKEqOctpV7i9wKcpunfc77Du37uLTNtMt8nrfNV5usEhERud0o2ovcJPCOywVOvJo6EoHoMOYbJnLs1ZZl0gnNj2OwROIapXCfPPQIxyPKdmbwJT0TBFHsI7eZjmBAkw9qbsSWEAIIsfPCCy+kySSW4zPg78h7WiQnb8dy8bMj+IxBOccy6L5aW8rn2DIxwzdu3Ji867FFltCLXAv57zLt5+Xsk8/4rcfmOjOJzjEISByP1zMb1iPYP/DAA/HFL34xnnrqqRR2hxB8r7/+ehJLr2bz0rPJ28XL9UfzviOv1+JxTMgRBHnaUPYG4fedFSBs/sleD6w0pV1lVd3lvh8iNxtsnXYZO6b9JV1uvET/Nj9eJycRESl3FO1FRKRLYACPxygbNLN5KBt+4nnXfiAl0tXk3vvvvPNOijP+Mz/zM2kjZm1RygEEpFw0xYN55syZqb189NFH0+QS4v0TTzyRXhFKmXxClO2s0CpyM8BOWalEeLFNmzaliaRf/MVfjF/91V+NL3/5y2kje/YLQchnYomJexERERG5fhytitwkcg8OyL3j28MAG48muJz3UykISvlxeOCR2g/Sc28RPuN4vPsu50EtknvRI/hgMx2BwEnC9q7HlhioI9TjEcrAfuHChWkwj/iE593V7F56Nnk7Rlt3OS84PmP1Bsd2xqYI0/Tmm2+mV1Z65KEbaDvz1Ulck8R3IxdEO2rHpWeT/y5fyT6xJ+yK9pP29mpwHDaPHSPaT5s2LW24jK0SzgGvZgRSQuVgk+yJQ7gc7FSkI/J28XL90bzvyCu2h11fCWyaCU8m4xHm+T1/7LHH4qGHHor77rsvHnnkkTTRxMa37Ifz0ksvpZBPIrcCbJ12GTvGVvPf9FJym6fdzo/vTPssIiJyO1G0F7lJMOgmTjidQpa5tx8k8TcdRWIuciwD8asNkjgu3xSUc7lue5GAjimx9HmlA5rHIxfpCAbn2Ak2017wwUYZ5OT7ImB7HHstIFQRk/nVV1+N999/P92D0A4I9yyXv5rNi9B+ERqENq2jeODYKXZFW4ow1ZmNjRGRmERiU1DOwcaJb8+miSRCkvCdYMKJECQk/t++vRXBfmgbsUHsqD35xA/2SfvZGfvMr4nt049gs8/28fLz92nDuS+ivfYpHcHvbN7HzPuHpdCG5u0r/8f26G9eCWxt165daSKe3/i77747CfZMMLFqidUhiPeLFi1K12SSFBvl/yJdTW7ztKXYat6PLYW2mXaZ9/O2meNFRETKGdUTkZsEHb+hQ4emTiFecO0HSQziGSARooHOInE/ryZg5tekI8r5eIm2F7F4H0EK8MbrjMeU9Fzw4sSeOrKlXLBnkM+gBtvrjOBUyu7du+Ott96KZ599NolMH/nIR2Lp0qUpDq5IZ6ANw16YADpx4kTbuxfBU46BNwI8tky7dzW4Fht77tixI4Vu+J3f+Z34r//1v15IvLdly5a0QoRNFf/iL/4ihYGgvRYpBTGdCUjaT2ywPdgnbSi2gxhKm3s1aGfZbBbb7wz5xACvIu2hD8iG70wC0T/EJkvh9z3vj3JsZ+LP531bJjPzvmn7tje/FvbMtelPtO8Li3QF2DqbINPmYnO5rZbC+/R9eXW8JCIi3QV/qURuEnT+WBbMwAZvJESl0sEKnpwIRohHCPYsdb/aIAlxH886Bl8MsjZv3pw6nDl4MCEO4PnEUs/8mvxfpCMYUGN/eBkzqEH4ycFmsTGWtGPPbCbXGcEJsGtiLePNvHz58nQennh43nG/a/XYl54Lg242LcYesSmEn1JxEi/PPXv2pPYVcX/kyJFtn1webPDee+9NccGJE75gwYJLEtfIBVbuTcLb/2pttPQ8sJHJkycnwR5bpO3L7ZNXbJb3+X3GrjozYUl7iwiK6MTvN5Of2H0p/NZj9wiwiKKEztE+pSPwmqfvyO8um8EjoJd6HeMBzyQlNkU7N2HChJ9a2dER2BvXxs5pn9vbaN4nxUY5FiHV/qjcCrA1QorxW48dYveMu3J4j4mqrVu3pu8Cq0Nod7VPEREpdxTtRW4SeHyyPJhBEgNuwivg4ZR73CGGEoaBTiIdy9GjR6dOJjDAIVYoYj+D/XxwxbXwvuN4ziOWKB1RvE8ZMCHgcw7XZhDPMmUH8XIlmNhhMI/XMcI9AhPeSCRsb8WKFcleEfeZhGJAn8NAH9tm8oljcrBXbHHVqlXx2muvJRtliTwJMYCJAQb3iFt6h8rVQBSdN29eGmTTvtGWMsFEW4pQSjuKjXEctkwbmQ+8GZQjbGLbpQN2hFME+89+9rNpw8T2ifshsHI94jKzQoQ2ujNClvQsmESfO3duasuwT9pDJjppQ/lt5nea9zmO9pa2NIff7dw+8xVywO829kx7yW85qzxom7ku53Bd2l42oMXWc4HfyVDpCPqWU6ZMSd7E2Bs2euDAgWRL/HbTpvJ7TRtL+1kq2jMZStuJDWNz/G4DYj02xzX5DacNzvsCXJe2mfO4Nu0w18WWrxZ2R3ou2B/2hv3QfvIbT7vKex29j93R36T/in3mk5iAzdPWMl5iAp42lIkp2k7Opw+BPfMex86aNSvZp4iISLlT9XsZbf8XkRuAgQmebwxY6CzSqaQzSceTwc1PfvKTtHkXA6n7778/beKVD2YYnP/93/99PPfcc0mAR0CiM8ngnKWbdFoZEK1cuTJ1WHmfzuw777wTr7zySvK0x4v08ccfT4N5B0lyORiYM/jBlhDhGcjwHoMfBvHf//730wTU4sWLk03ldgg/+tGP4lvf+lYKJYIIykAfuM57770XX//615N4jwcTtsjAicESn5OwY+7NgMnJJbkc2AbiEAIlbScDbQb3tHl4yWGHiJ5z5sxJMZXHjRt3YYn7xo0bkx2++OKLSUDCjrFfbI5wTQipeOJx/dLEvRBR+S6woSITsPyftjS3fxHAPvmtX716dbJD7BMbQbzktxj75Pef3/EHH3wwTf7kNsQ53/jGN1J/gPaQic1SsHPskHjg/D+f6FyzZk1axcSkKKtAaJuxf0M7SEdgb/z+Ykv0O/n9pf2kPUNof+ONN1LfkUlKbImNuWkjOY/fbH7nv/e978Xbb7+dnEFoI/mMNjHfjJZJAPqlXBNhlL4rofFefvnl9B5h8djLhskokY5gfIS90W7mk0S0kdgW4ycm0mknmbxkgpK2F5v75je/GT/4wQ+SbfNbzUQS9kl7iJ1zTT7jFVvkPfqotLuEwGPS9emnn079WOxeRESknFG0F7lJ0GHEGx5PEP6PYMTgBq8OhCQGTXQQETNnz56dxKMcBlYvvfRSEvw5FyEKgQn4m44qgyUGRnRgGXRxTa7NoJ7rPfDAAxc8/TlHpCOwJQYxJLzf8a7HnphoQrjHdhjEE9aGAT3H5SxbtiyJ/Zxz1113pYknYNKJARIDIgZJDMSwU67J+3lCcEXYYoBVav8ipWBzTBYhViJcYl8M4hGFGNxjW0wY4Q2fh7HJQURlUgkbxc4Q4LFpEoPzfMKofWKFCefw/yVLlqSJJwQA21JpT26fuTco7Sa/9dgmv8kIREzOs2KD1/y3HLBhfuuxNbxC+d3Owdb4ncfu+F2nLUXI4reexO8/4uljjz2WxH7+L9IR2FLeF8ReETqxOX6D+V2mz4moT/uYbxKft3X0CxDeETc5DxvFax5ygZNr402PmIrQyjWxf+7BpD/2ST+WCSv6xSIdQTuHzTBBRFhFVtHRhmKf/M4zbsKu+F2nvWMCCMcl2lDe53wmRpmIB2wYG6XNxXa5Rt6G0vbyN/1WJpQQ7rFNJz5FRKTcUbQXuUnknUXESLzd6Wwi3CM4MYhHBEIIZZBUOkACBud4lAKeJYhGDHxy6KjmccHpiNIJRSTgfogCH/vYx9JSz9zbRORyMEDBthA98WTCRvMl7ryPGM9gm4mgfICeg41i1whL99xzTwqfAwiquU3yGeSTVqWJARODJL4LuQgg0p68LaUdRZBn9Qaey9gZQhGDblYrPfzww+nz0jYPEYnJT+wM+8ROO9MmMqBHrMKDmhj3nYlDLj0T2lAmd7ARxHsEJmyTV9pUJs8ROkmIR6X2xzG0ldgnE060tzkch5DK7zgCFW0tghaiKJMDCKAIVFyX1SWdsWvpmWAbiPXYEiGa6Dfym4z4SX+TPiiT87Sh+QRlDpOluUMI59NvzT3t82tif4in/KZjo7TPtJ+0x+xlQ/uM9z52rp3K5aC9xHZYGUf/kolJoB9Jwr5YDcpx/O5jt/QNsE/aROwS+8Qmc7BBjmO8hK3Tv6V9xg6x9aeeeiqtgmKspmAvIiLdgYpW3NhE5KZBR5LBDoMkXhnY0DFk8IIoSoeSgU8pdEjzjiliQN4xLYXr0AElcV08+rkOHVuuyfXbnyPSEdgOdopQjz1hdwxosB9EKIQj7Kr9YBsRiXPywRJ2BwzWGVwx4LrSTwr2yvUZYPEqciVo8xDpaUsRkrA72lJsEzEU+2tvoxxPW8qxHNdZ8Z1zOJfrMZjXPuVqYJ9MyNMm0obS9mE/2A72STva3j45PrdPjmFiqj3Yet6m8luf233eh+A8+gkiV4PfemyTNhSbwrawSQRNbAkbxZZK7RR7w0Y5HuiP0pbmcE2ug93n18xtnz4E1yXZhsrVwJZo45hQwk4vB31H+pzYFHaW2yfv5wJ9KdhwPl7iuHy8RBtKvwF7drwkIiLdBUV7EREREREREREREZEywXVhIiIiIiIiIiIiIiJlgqK9iIiIiIiIiIiIiEiZoGgvIiIiIiIiIiIiIlImKNqLiIiIiIiIiIiIiJQJivYiIiIiIiIiIiIiImWCor2IiIiIiIiIiIiISJmgaC8iIiIiIiIiIiIiUiYo2ouIiIiIiIiIiIiIlAmK9iIiIiIiIiIiIiIiZUJFa0bb/0VERES6JY2NjXH69Ok4evRoDBo0KPr16xe1tbVtn8r1Qjdx//790dTUFH379k3pWsv1zJkzcejQoXRenz59YsCAAW2fiIiIiIiISEdU/V5G2/9FREREuiV79uyJl156Kf7bf/tvUVdXF4MHD07icEVFRdsRcj0UCoX47//9v8dzzz2XhPshQ4Zcs+i+cuXK+JM/+ZPYsmVLut60adPaPhEREREREZGO0NNeREREuoS9e/fG5s2bY/Xq1UmsvRwDBw6MyZMnx4wZM2Lo0KFt714b3Off/u3f4n/8j/8RX/3qV+PjH/94TJ06tSxF+5MnT6ZJBsrlwIEDbe9GVFZWplRfXx/9+/dPZcEz8MpExO2gpaUlfvM3fzO2b98eTz/9dHzsYx9LdQXHjh1LKxuOHDkSEydOTCscampq0melvPjii/EHf/AH6Vkee+yx+NKXvtT2SfnCBMPrr78e586dS5MVOdRPdXV1WnEwfPjwGD9+fIwZMyb9fbOga87KBMqW1SOUG98RERERERHpOehpLyIiIl3C+vXr4yc/+Un89V//daxZsyb9vW7duli7du0lCYESURrxEw/56wGBE6F1+fLlcffddydvbq5VjqL94cOH47333otvfvOb8fzzz8eGDRtSueRp06ZNsW3btiTsI4L37t37tq0aQEBetWpVEquZVJk0aVLKC+/v2LEjPvzww3jrrbdixIgRSbTvKHTOwYMHU92MHTs2pkyZ0i087VesWJEmgJYtWxbvv/9+qhNsNa8j6oywQYRlojwQ7TuasLgemODi+tgIZc+ECCscRERERESk56BoLyIiIl0CnvaItXiUI6Q/+OCDcc8998SCBQti/vz5FxJ/z5o1K4n2CNTXQ3cS7U+dOnXB0x6R+8knn4y77rrrQjkgAOONj2i7devW5Om9aNGiJJzf6ufhfnjW33vvvTF79uxUpniaA+I1gv2Pf/zjmDt3bowbNy569eqVPisFUZv8U/eI9h0dU25gS2+88UaqC56bVQbYKhMXPCf1w6TFBx98cGFlBBMXNwNWN7zzzjvp/m+//XYsXbo03VNERERERHoOlW2vIiIiIl0G3sKIto888kg8/PDDl6QlS5YkYfhmhhjpLhD2BEH7/vvvT2VDQiCmXCgzQtCwQgERmVAptxpEeyZTcm/v3JMeT3u8zNlklgmThoaG9F5HUK/UL9e51nj4txOenQ2NyXtuq4T3YZLlZ37mZ9JEBaGB8IbHM/5mQnkyuUPZUs4iIiIiItKz0NNeREREuoRST/tHH300eWvjaT1s2LAUpz1PhFXp06dPEkkRK48fP35JvHT+xrOZ+OIcU1VVlbzOS7mSpz3hRpqbm+PEiRMXrskr9+C9s2fPJu/mPG485+RwHsI0x3JeaX7I6+XycyVKPe0RtPM48YSPyeOk47nN9fHmxtMewZtyQ0RGHM/zRKid0mc5f/58+hxxvfQ5gGdEACb/+bNwLn/n5UBZ4Tmew7WIu88xfIaXPdfhb0IeIVaTR7zReRauwTXJB9ehXHhv3759F4R93ueZuCflwPU4rqPwMpQ/9U6IHcqNsi4tb87l81J74TWvH/J8rfUDuac9tjlv3rz4yEc+kmyV+hk1alQKE8QzYm9MpvDZAw880HZ2Ecqaz8hbbj/kjeem/vg8f568rngWwkWxyoJ9GqhfVmCwOoFzSZRd6QRXbg/USW4P+X3yMs/Ltr1NiIiIiIhIeeJGtCIiItIlEOKDzWH/4R/+IX791389PvGJTyRB+nLCISIj4WCII87Gp8QMR6hFKEY8nTBhQvJ0JoRM+405r7QRbS7qvvLKKyk++e7duy8I7oihhB7B2x0PdwTlPPwLIBYjTvMsxDVHFEUAZUIA4Zb8zJw5M4nsnQWhmrAnlAsi/G/91m+lcin1QkfkxoP7G9/4RhKH8ex+/PHHk8c7QjVhad59990k/FNGgJA7Z86cWLx4cRKQ24vVHMdEymuvvZaeifJFAOY4Jk0oX1Y9MImQw73+6I/+KJ1HeCMS77FJK+VNiByui5jNNbgW3HffffEf/+N/TPXEc3zta19Lz8j1KWee79VXX01lgF1wXfLeHsRn6vaf//mfU7l/9rOfTfWKPdCFRRRnJQLPhNBO/VBe1A8TN3k4JiY8rgX2GvjjP/7jJNA/8cQT8Uu/9EttnxRhMoD9Gv70T/80ifGI+r//+7/f9mnx8127dqXyoZ4oP2yQCQzKiUkY7JiVFZRLbnPEzf/BD36QJgz4DvAsI0eOvCRsFPdic2CgDJjYwD4pZ+wB8Z46wranT59+ITRVe9sWEREREZHy5drcjkRERESuA4RFBEgE9PYpD/+BqMkGrMQJR4xF0B49enQSfjmOzUERNBGMOQdh9Grk4ukzzzyThF3+z3WJP54LzQjzvM89EDtzEIERlp999tkk2COQIuIiGCP6l+aHZ+tMfjoL18qfkcmF3Bsbr3fEYgRz7o8IzPMwacDxK1eujOeeey4ljs3hM8Tvb33rW2lSBG9ungNBGC9xPPMpg507d7adcRHEfd7Pvbw5ljrhfCYKyBehcxCfmcggUbYIxHyGFzgCNMI1EzO8R7kzoUAeEbap947AJphooS6wiTxED/bE3y+99FKqAwRr6oA8UUfUI6sAvvvd78abb76ZVgPcTHgG6obyyP8uBVvhnuSBSRo+ZyIBeyb/vPfiiy+myQE2881htQf1QfkiunMetpqXK4nPc6gb7IH6xjufcqEMKCfKn7J94YUX4nvf+1469mbaqIiIiIiIdB2K9iIiItLlIBIjGuNJ3D4hFiNyIoQjLuNRjYcwXsif/OQnUwxxwq9wDIIzHvO5gHw1uB6CMKI9IipiJtfFmxyP74ceeiiJzQikCJrcg8S1EUFffvnlJITzOR7seIWTH7zCOQ5BGOEY8Zn8Xytcg/siMpMQXRHi8d5G6Ob/CLnkG5GbZ/jOd76TPKsRw9kcFQ98vMFZLYBwjWc3Ew08N88PCNwIyJzLtXlmnoMVCR/96EfTZqeIw53xxGaCAC/xfPNZhGU20qWu8IQncb1Sz/v2sKqACQNEbMqOSYG8/HP4P/XMJA6fkT/yjdc55cI5CNKEqKFsCGPDM5EP6gpxnBUN2At2VnrtzsI5pNL6oYzx6MemCcNDfpg4KYVzKHPyzXNSPtQRecPrnWch/9gOky9cl3MQ5Mk7qzeY+KD8WDWRlyuJzyGfiEGQzwV7bIAyyOsU20G4xx6Y+GBiSkREREREyh9j2ouIiEiXUBrTHs9ixGREcDyDSxPe1wiTiJ/EdSeECuIj4U0QaYn3nnsZI0QjlOJNjfCbx/ZG3OVe7WPa56IvXs1sJIpQj2hKmBmuTYx9wqcgQOOhzIQBgj0hRr797W+nCQXO+9SnPpUE/lKPZyYWuCciOAI1gmtnNlolnAzlQbkgyiLoMimAaIuoyjMiNn//+99P+ef5P/OZz6TP8TpHgEUsJzTPz//8zyeBl5Ax+UQCeefa5JGwMHhtI/bjjU75EGoHsZ77EhKHRHlR5lyjNBQL18OLm2tyD47jmjwvwjV1TEgjrodITHnm8fcRjBHTeR5WOeQhhShroB55PvJG6BbOpzzykD4I3nihM9GA8E3+Fi5cmCYJuOcPf/jDFBqHe/7ar/1aqvcZM2ak58lDKFE3lDWTEeypwLmkq0G9EqKG58QmuS4iORMliPVMBOQheSh/hPT8uYB7MNHCeXzGpBP5xOYow1yQp2zIG8+G7VEO3BO7I9+U8Re/+MUUbohyJeUTOHzOpBH1w/eHOmBigHqinHml3LApJp7yc0s99UVEREREpDzR015ERES6HMRDBEw8w9snRFZEToRrREWETURNRFc8mHNBHHGU93JhGwG1MyA8I8TjCY8QzDVJXAshmQkARGZEU8RQRHW80hGkeQ+xF5GcCQK8txFWySfiK/nC85oY8YjQ1wrCKyI8sev/8i//MsV+/8d//McUcgdPbcoHMZvyQIDGO5v8MWGA6E658gwkvLdz4ZpzEcN5BuC585R73zPBgNc85cDzIOp2RtCljCgHRHnKBygTyicvW+qS464kkJNnRHiugxBOCKK8TqkzwhaRf0LkIJzndgKI2Xiokw/ep354HvLBe+QBL37EezzQCQ2DRz911VnyPLB/wF/8xV+k9Fd/9Vfxt3/7t0koJy4/Zc1kDl7+pZBPypX6IR+UK2XNhAjlxPvkDcGe5yN/2CdCPmXHM+SrHvg7L1cSz0g9shIDe8C2mRDAHvPP8/pAuKdeOYaJAO4jIiIiIiLlj6K9iIiIdDmImnir4xn+5S9/+ZKE6InAS0JgxfuazWLxpt64cWMK74FHM+/zOQkxtTPhaBCEETIRUBFtEde5JmInf+Plj5CLQJuDKI4HNyI84ivCNOJxaUgfwpJwPucRNoXrEbLlWkF8xqObMC/Eqf/xj3+cViSQL0RYNh1lZQACLMfmoitiLEJtKeSV9/iMsuTY/HgmPhCNeSWvrD7gGRBy8zAvCLul5dDVILLj2U/d8LzkiVcgH+SNRPkizDOZA/zNceSf5wRshYmW0jpCVKf+OZ46vR7Rnvtgf4j0P/rRj9IrdURemTxCtGezW+qqI7BR7ssECvnFrrgekzXki3twHew5n0zpDIj2uQiPuM/ffD9Kn597YTNcl3Kinpn4ERERERGR8sfwOCIiItIlIHQjthOqhRAziJuE7cDrGM/uPCHeIjwiYiLWE+ebON3/8i//kkLEIGgTRocQNwifHItXOYIvr4Bgyb3ah8fBYxkxGs9zxGrCy+A5jajJvXgfT2Y8oHPPZkRWhHOuh9jK/wmH0j6sDwmhGGGW+xDCJBeWrwQCMqIt5cK9mcy4//77U8Kr/9FHH01iPeFOCKtCGZE34pYj+CLWEhudz/I85/A3n7OBLuF+8EAn/A/3QbBGyOaZ8nIg/7zHMyDok3IhHBCV24fH4bq8z2oH6gMPefYJYMKA+7TncuFxyCvH81wIyuQB73PqFBGayQzEce5NSB/qmwkURG4mX7ALvNS5PysT2tcN5/OcXJuVCpyP7ZWG/7kc1D3nY5usBiCWPHZF/vD6Z5KDMqAs+BzP+dJVBXxGPZNPNsplQ9x//dd/TcI/dow9EQKJsmeVB9dlxQeTMzw79kkeEOXZf4FwTqUwcUX9YQ98zygD6rx9GZAoX1YwkFdCLbF6Q0REREREyhs97UVERKTLQWwlZAeCafuENzQgVCIy4nGO5zGe4QjFiNN46iM2IroSQiT3Ur4aHIvIisjNJrII64jgiK6I5kwO/NM//VMSUhFZEUMRTfFO5hUvcETvPJRP+4TAzqafTEogvl4riMKI2AjC5A3RnrA3CMwItQjdlA/PyjOTEId5rvaCPSC48xmv5J/jgWtQlj/3cz+XRGCeCYEYQZswM0yQfOtb30riN5McnNvVkEdsgudkNQQTCEy+MLlAPRD+JV9xQL1zbF4OeT1RP0wEdFQ3xIkntBD7GDAhksfZ7yyUM2WElz91Q6KemVB56qmnUr6ZtECYZ6IkhzxShpQlIj3ly9+I8oR4or5JeOlz/fyZrpW8npj4YMKkozIg8exMDOV7OYiIiIiISPmjaC8iIiJlAR7BeCAj3uJt/fjjj8fnPve5tBEnYXVIeAojSl8LiPRs1IlgzbUQXRFPmUjINzTFmxzvd7y4EWsRxBGViQeOlzXntQ/rkyfyiBCOKHutIETzrNyHyQVeEZcRc0s9t3OhnlQq4LcnF+p5zQX8HPKH9/4XvvCFlGcmHBBxEcDZ8BVPcCYvEM6vJVTLjcBzUad4wrPyAc9y7s+kCn+TD4RnxHmOJfFc+bNRZojpHdVLaXryySfTsZT3tcAKCu7NioV8E1kmVRDt8Y7HZt5555004USZUze8EioJz3e84bEpRPq87L/0pS+l8scOSyd6ODentO4vB89P/pj4oi47Cj2VJ+yXySX2QhARERERkfJH0V5ERETKAsK24FmN1zmiKKIm3tJ42iOWIu4iUl6voEx4EIRWxMuvfOUr8Ru/8Rvxn//zf05COaFzCIdCDHC8sfHs5l4kRH/EbQTPjhJ543PE064EIZ/wNYi7iNqk9iAQE/KHVzywOac9COR42rP64D/9p/8Uv/7rvx6/8Au/kFY2EMpm1apVF2LLX4nOCMtXg2vgKY83e+5dzwoI4rEj3uOBjw2wIiEnX7FBPXE+x3RUL6Up30i4o9UJ1woTBlyPiR/yzh4JhPHBLqkbBHtC1hBmCcH/05/+dPL2Z+KIFSPYIOdT3tebH56bMqEsCCuE+I+3fUfPnifuyXdARERERETKH0V7ERERKQsQPfESR4QlLAwpF6oJBYI4ipiMJ3NnQQjOw4jgmYzYy3WJQZ7H90Y8RfjMPcy5P4Isoij3W7lyZYoJzrkdJYT9WwF5JgFhWVglUAqCMXHQSTxv6fGUAQlYYUC5MhkxevToJPbiCY7Ij9jPM+fHXg5EY8oz9+SnnEnXCtdBcGYVAIIyYWZYcZFv9EoeEZxLJx+4J8eSbyYuEMipPwTwjuqH9/P88nozQCxHBMfLn3JnsoEwOeSHss/Lm3szAUR+sSdsmTwh7OOdzwRLR5SWLddpX7b5xAH1i80y2cIqhfbPTqJeyS/niIiIiIhI98Deu4iIiJQFCIuInMSWP3LkSEoIyHi/I0SzmSkx2K9FeEUc5RwEbjb9zK9J4j6IvYis3BdxE6EU0Z5443jgIxwTZ58NPzmfjU/ZGJVEvgjhgtCMVzWx2LsSBHZCtJA/Nh5lMiEPJ0MiD8RPJ7wQIjfe65wDiMnkH3E5P4cy4Dkoh1ykpxzwYO+MwEt9kRCtuR77EHAtEuVGufLZ1SCvhAhChOYabB5Lop4R83kG7pPD+wjhbGxMvikLjqceSp+L+uGZsR1ebzbkmXjxCPKUPaFwuD9lRxkyOUL+sD/ez22H8ifPV1rRgC1yDcoPm+X6edlis9wDL38Sx/L8hOlhAoPjcxvl/7yHqE8+mHwSEREREZHyp+r3Mtr+LyIiInLTQCxEMCXcyZIlS5LHNN7GlxPdEdYRwfFYxrMYQRPR8d13340333wzCdIIn3gPI5gSaiT3JEcU5V7Lly9P4XUIWYNHPWFv2BD061//ero2ojDiJeI1oun3v//9FIqFkDFsVItwjIiMEIrgj/CJGIrQSvxyxG9euRfe4MTCRzBFnMUrvDSMy+VAeOUalAvCLJul5qFOrgQe/UwMkP98sgBhOp+UoIyYYOAZeX5CDDH5gMBLXl9++eV45pln0r05Jp8MoVyJ68/1EPoJm4MonovGPCPlwEa2XDcPsUJeyAflwz0Qk6k3ygrvb56J9ylrJlyoD0RmvPrbg8c59c1zECaJ+zFBQfx46rm9zZA36oz85xMYPA/2wisrEagX6p5n49ps8ttZuC7hkpggYUUGIXraQ32wSgOPecqB5ybsEJM9fEaeEMtJ2Ae2SxlTR5Q5+eQ97IYy4bx8RQHvc02uzUQKtkjiHqxGYXUC3wPKm2MpN/JM3WIPiPzYPmXw0ksvpQ2XqQvqhPuJiIiIiEh5o2gvIiIiXcK1iva5VzbCKx7BCJAIvgiQCJfEtkfc5ThE5c6I9hyP0In3OcIt18xDy+Se2QjJhDlB1CV/eEjjcY8wjDAKiNDkA0GZcxFiuRb5RMQmnA4e4YQ/uRrXK9qTJ8qB+yHWcm+eDXE3fx6OIS8I9nPmzEkx1YHn5FiePRePEbs5j7zgGU/54jmOQJ2vOricaE8d5kI91+aV61M+TIJQXhxPWSIeX020R4jmmpQJz4PITbksXrw4bSDbHvJGWVMeCOTULeXKc2EHPBf2R74pY/JCKKTO0hnRnufn/vlEEPfkPgjqlDtlwGoD7IZ8kDfKgrzyObHtySM21l605/ko09LvAtdnxQf35Vk4hvLNJ1G4H3nJj+UZKEvuRxlhD0xKYWsiIiIiIlLeKNqLiIhIl4A4jOhIQrRH/EQEvZxoj/iI5zJCJ4IlQiee7byH4IgHOH9zPgInIjPiPSDO47mMYEnYFO6VTxAgPHNNRE0ETPLD9RE8uc6jjz6aRHsETUTYHPKDNzde/Zyf3wMRFVEZIZQNaJk8ICHEcs2rkceNR8zF65lJBp6R610NhGruiRANlHEeMgWhHTH34Ycfjscff/xCWZeWN/nGQ56yRWynTBCNiQ//xBNPpLyQJwRhoOyIMY9QjNc+onsu+jLJwPPymtcX4jV5oiwQuvmM8kZERnznPgj/7clFeCZDyB95ID+I2ZRNe8gPZUD9IZLzN57o3JvnYlKDz/mMfFA/1GNnoW7IC5NCCPEI7B2Rl20umFM32Azn8QyI8NgLtkM9cRwrCMgTkxJMdOT2TSgg6oJrcl5ui/lz5WXLtbFXoI65J9fgeL4f2Bav2Bn1w3VZAZBPcnXGzkRERERE5PZSkQ3Grh5sVEREROQaQTRErERExMsagfFKojbCOIJtLkIjvNJNQWREkEaYRLRE+OS9Uu903uNeCLaI7dyLY/Dg5loIpxyDaM19EEYReskPYjFiaUdiJnngfIRTXjkfODcXjskD5yOa8t7V4Bq5cM/xiLvkIxfKrwZlwvOQuA7PA1yLciIviL7txfq8HPg/z5WXA/fl2TknF+JzuBfCMufwOam0nPJyp3z4f54XypQJFcqEzxCcOY/3O/L05jzyxHE8E+Si99VsJn8uXrkGdU5Z5J7oPBPlQuos+QQN+ScP+YqFjuD5OB6hnGfjeO5FXvgMe6b88vLO88Mr9wDO471cqAeeh3MpD87Pu+zYdukEBO9zDPci8fyldUsZYKeUPXXQGRsVEREREZHbi6K9iIiIiIiIiIiIiEiZoKuNiIiIiIiIiIiIiEiZoGgvIiIiIiIiIiIiIlImKNqLiIiIiIiIiIiIiJQJivYiIiIiIiIiIiIiImWCor2IiIiIiIiIiIiISJmgaC8iIiIiIiIiIiIiUiYo2ouIiIiIiIiIiIiIlAmK9iIiIiIiIiIiIiIiZYKivYiIiIiIiIiIiIhImaBoLyIiIiIiIiIiIiJSJijai4iIiIiIiIiIiIiUCYr2IiIiIiIiIiIiIiJlgqK9iIiIiIiIiIiIiEiZoGgvIiIiIiIiIiIiIlImKNqLiIiIiIiIiIiIiJQJivYiIiIiIiIiIiIiImWCor2IiIiIiIiIiIiISJmgaC8iIiIiIiIiIiIiUiYo2ouIiIiIiIiIiIiIlAmK9iIiIiIiIiIiIiIiZYKivYiIiIiIiIiIiIhImaBoLyIiIiIiIiIiIiJSJijai4iIiIiIiIiIiIiUCYr2IiIiIiIiIiIiIiJlgqK9iIiIiIiIiIiIiEiZoGgvIiIiIiIiIiIiIlImKNqLiIiIiIiIiIiIiJQJivYiIiIiIiIiIiIiImWCor2IiIiIiIiIiIiISJmgaC8iIiIiIiIiIiIiUiYo2ouIiIiIiIiIiIiIlAmK9iIiIiIiIiIiIiIiZYKivYiIiIiIiIiIiIhImaBoLyIiIiIiIiIiIiJSJijai4iIiIiIiIiIiIiUCYr2IiIiIiIiIiIiIiJlgqK9iIiIiIiIiIiIiEiZoGgvIiIiIiIiIiIiIlImKNqLiIiIiIiIiIiIiJQJivYiIiIiIiIiIiIiImVBxP8HjQBaKG5XASYAAAAASUVORK5CYII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5"/>
          <a:srcRect r="16660"/>
          <a:stretch/>
        </p:blipFill>
        <p:spPr>
          <a:xfrm>
            <a:off x="4710545" y="2464487"/>
            <a:ext cx="3583177" cy="25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123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496" y="147102"/>
            <a:ext cx="37834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Random Forest 200 trees and tuned using f1: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96" y="541020"/>
            <a:ext cx="4322484" cy="10098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57" y="1944584"/>
            <a:ext cx="3610447" cy="28636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840729" y="147102"/>
            <a:ext cx="36840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Random Forest 50 trees and tuned using f1: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3424" y="541020"/>
            <a:ext cx="4524375" cy="10098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508" y="1867642"/>
            <a:ext cx="3804463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057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7"/>
          <p:cNvSpPr txBox="1"/>
          <p:nvPr/>
        </p:nvSpPr>
        <p:spPr>
          <a:xfrm>
            <a:off x="380100" y="946825"/>
            <a:ext cx="8383800" cy="41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Hyperparameter Tuning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Grid Search</a:t>
            </a:r>
            <a:r>
              <a:rPr lang="en" sz="1100">
                <a:solidFill>
                  <a:schemeClr val="dk1"/>
                </a:solidFill>
              </a:rPr>
              <a:t> for optimal parameters: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n_estimators=500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max_depth=6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learning_rate=0.1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subsample=0.8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colsample_bytree=0.8</a:t>
            </a:r>
            <a:r>
              <a:rPr lang="en" sz="1100">
                <a:solidFill>
                  <a:schemeClr val="dk1"/>
                </a:solidFill>
              </a:rPr>
              <a:t>,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gamma=1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Model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XGBoost</a:t>
            </a:r>
            <a:r>
              <a:rPr lang="en" sz="1100">
                <a:solidFill>
                  <a:schemeClr val="dk1"/>
                </a:solidFill>
              </a:rPr>
              <a:t> classifier optimized using </a:t>
            </a:r>
            <a:r>
              <a:rPr lang="en" sz="1100" b="1">
                <a:solidFill>
                  <a:schemeClr val="dk1"/>
                </a:solidFill>
              </a:rPr>
              <a:t>ROC AUC</a:t>
            </a:r>
            <a:r>
              <a:rPr lang="en" sz="1100">
                <a:solidFill>
                  <a:schemeClr val="dk1"/>
                </a:solidFill>
              </a:rPr>
              <a:t> as the scoring metric.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Training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Trained on </a:t>
            </a:r>
            <a:r>
              <a:rPr lang="en" sz="1100" b="1">
                <a:solidFill>
                  <a:schemeClr val="dk1"/>
                </a:solidFill>
              </a:rPr>
              <a:t>resampled training data</a:t>
            </a:r>
            <a:r>
              <a:rPr lang="en" sz="1100">
                <a:solidFill>
                  <a:schemeClr val="dk1"/>
                </a:solidFill>
              </a:rPr>
              <a:t>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X_train_res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y_train_res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Metrics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Evaluated on test set using </a:t>
            </a:r>
            <a:r>
              <a:rPr lang="en" sz="1100" b="1">
                <a:solidFill>
                  <a:schemeClr val="dk1"/>
                </a:solidFill>
              </a:rPr>
              <a:t>F1 score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 b="1">
                <a:solidFill>
                  <a:schemeClr val="dk1"/>
                </a:solidFill>
              </a:rPr>
              <a:t>ROC AUC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 b="1">
                <a:solidFill>
                  <a:schemeClr val="dk1"/>
                </a:solidFill>
              </a:rPr>
              <a:t>accuracy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 b="1">
                <a:solidFill>
                  <a:schemeClr val="dk1"/>
                </a:solidFill>
              </a:rPr>
              <a:t>precision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 b="1">
                <a:solidFill>
                  <a:schemeClr val="dk1"/>
                </a:solidFill>
              </a:rPr>
              <a:t>recall</a:t>
            </a:r>
            <a:r>
              <a:rPr lang="en" sz="1100">
                <a:solidFill>
                  <a:schemeClr val="dk1"/>
                </a:solidFill>
              </a:rPr>
              <a:t>, and confusion matrix.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Performance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XGBoost model exhibited strong generalization with high performance in terms of </a:t>
            </a:r>
            <a:r>
              <a:rPr lang="en" sz="1100" b="1">
                <a:solidFill>
                  <a:schemeClr val="dk1"/>
                </a:solidFill>
              </a:rPr>
              <a:t>F1 score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lang="en" sz="1100" b="1">
                <a:solidFill>
                  <a:schemeClr val="dk1"/>
                </a:solidFill>
              </a:rPr>
              <a:t>ROC AUC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88" name="Google Shape;188;p37"/>
          <p:cNvSpPr txBox="1"/>
          <p:nvPr/>
        </p:nvSpPr>
        <p:spPr>
          <a:xfrm>
            <a:off x="380100" y="343275"/>
            <a:ext cx="468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XGBoost Model (Tuned)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832" y="109002"/>
            <a:ext cx="864402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err="1"/>
              <a:t>XGBoost</a:t>
            </a:r>
            <a:r>
              <a:rPr lang="en-US" sz="2000" dirty="0"/>
              <a:t> tuned using </a:t>
            </a:r>
            <a:r>
              <a:rPr lang="en-US" sz="2000" dirty="0" err="1"/>
              <a:t>roc_auc</a:t>
            </a:r>
            <a:r>
              <a:rPr lang="en-US" sz="2000" dirty="0"/>
              <a:t>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32" y="808673"/>
            <a:ext cx="4273688" cy="7462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864" y="1854498"/>
            <a:ext cx="3663004" cy="28794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l="3039" t="10649" r="5341" b="6518"/>
          <a:stretch/>
        </p:blipFill>
        <p:spPr>
          <a:xfrm>
            <a:off x="4463845" y="784722"/>
            <a:ext cx="4648200" cy="7941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/>
          <a:srcRect r="13161"/>
          <a:stretch/>
        </p:blipFill>
        <p:spPr>
          <a:xfrm>
            <a:off x="4871530" y="1916886"/>
            <a:ext cx="4028630" cy="275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853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1832" y="109002"/>
            <a:ext cx="864402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err="1"/>
              <a:t>XGBoost</a:t>
            </a:r>
            <a:r>
              <a:rPr lang="en-US" sz="2000" dirty="0"/>
              <a:t> tuned using F1: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611" y="776980"/>
            <a:ext cx="4544468" cy="8473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072" y="2190664"/>
            <a:ext cx="3139546" cy="246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133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 txBox="1"/>
          <p:nvPr/>
        </p:nvSpPr>
        <p:spPr>
          <a:xfrm>
            <a:off x="0" y="445321"/>
            <a:ext cx="8836800" cy="4698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 b="1" dirty="0">
                <a:solidFill>
                  <a:schemeClr val="dk1"/>
                </a:solidFill>
              </a:rPr>
              <a:t>Model Training</a:t>
            </a:r>
            <a:r>
              <a:rPr lang="en" sz="1600" dirty="0">
                <a:solidFill>
                  <a:schemeClr val="dk1"/>
                </a:solidFill>
              </a:rPr>
              <a:t>:</a:t>
            </a:r>
            <a:endParaRPr sz="1600" dirty="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 dirty="0">
                <a:solidFill>
                  <a:schemeClr val="dk1"/>
                </a:solidFill>
              </a:rPr>
              <a:t>A basic </a:t>
            </a:r>
            <a:r>
              <a:rPr lang="en" sz="1600" b="1" dirty="0">
                <a:solidFill>
                  <a:schemeClr val="dk1"/>
                </a:solidFill>
              </a:rPr>
              <a:t>Decision Tree Classifier</a:t>
            </a:r>
            <a:r>
              <a:rPr lang="en" sz="1600" dirty="0">
                <a:solidFill>
                  <a:schemeClr val="dk1"/>
                </a:solidFill>
              </a:rPr>
              <a:t> is used with </a:t>
            </a:r>
            <a:r>
              <a:rPr lang="en" sz="16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random_state=42</a:t>
            </a:r>
            <a:r>
              <a:rPr lang="en" sz="1600" dirty="0">
                <a:solidFill>
                  <a:schemeClr val="dk1"/>
                </a:solidFill>
              </a:rPr>
              <a:t>, trained on SMOTE-resampled data to handle class imbalance.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 b="1" dirty="0">
                <a:solidFill>
                  <a:schemeClr val="dk1"/>
                </a:solidFill>
              </a:rPr>
              <a:t>Evaluation Metrics</a:t>
            </a:r>
            <a:r>
              <a:rPr lang="en" sz="1600" dirty="0">
                <a:solidFill>
                  <a:schemeClr val="dk1"/>
                </a:solidFill>
              </a:rPr>
              <a:t>:</a:t>
            </a:r>
            <a:endParaRPr sz="1600" dirty="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 b="1" dirty="0">
                <a:solidFill>
                  <a:schemeClr val="dk1"/>
                </a:solidFill>
              </a:rPr>
              <a:t>Training Accuracy</a:t>
            </a:r>
            <a:r>
              <a:rPr lang="en" sz="1600" dirty="0">
                <a:solidFill>
                  <a:schemeClr val="dk1"/>
                </a:solidFill>
              </a:rPr>
              <a:t>: High training accuracy may indicate overfitting, as Decision Trees often capture specific patterns too well.</a:t>
            </a:r>
            <a:endParaRPr sz="1600" dirty="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 b="1" dirty="0">
                <a:solidFill>
                  <a:schemeClr val="dk1"/>
                </a:solidFill>
              </a:rPr>
              <a:t>Test Metrics</a:t>
            </a:r>
            <a:r>
              <a:rPr lang="en" sz="1600" dirty="0">
                <a:solidFill>
                  <a:schemeClr val="dk1"/>
                </a:solidFill>
              </a:rPr>
              <a:t>: Calculated on unseen data:</a:t>
            </a:r>
            <a:endParaRPr sz="1600" dirty="0">
              <a:solidFill>
                <a:schemeClr val="dk1"/>
              </a:solidFill>
            </a:endParaRPr>
          </a:p>
          <a:p>
            <a:pPr marL="137160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 sz="1600" b="1" dirty="0">
                <a:solidFill>
                  <a:schemeClr val="dk1"/>
                </a:solidFill>
              </a:rPr>
              <a:t>Accuracy, F1 Score, Precision, Recall</a:t>
            </a:r>
            <a:r>
              <a:rPr lang="en" sz="1600" dirty="0">
                <a:solidFill>
                  <a:schemeClr val="dk1"/>
                </a:solidFill>
              </a:rPr>
              <a:t>: Provides insight into overall correctness and balance between false positives and false negatives, especially useful for imbalanced data.</a:t>
            </a:r>
            <a:endParaRPr sz="1600" dirty="0">
              <a:solidFill>
                <a:schemeClr val="dk1"/>
              </a:solidFill>
            </a:endParaRPr>
          </a:p>
          <a:p>
            <a:pPr marL="137160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 sz="1600" b="1" dirty="0">
                <a:solidFill>
                  <a:schemeClr val="dk1"/>
                </a:solidFill>
              </a:rPr>
              <a:t>ROC-AUC</a:t>
            </a:r>
            <a:r>
              <a:rPr lang="en" sz="1600" dirty="0">
                <a:solidFill>
                  <a:schemeClr val="dk1"/>
                </a:solidFill>
              </a:rPr>
              <a:t>: Measures how well the model distinguishes between classes.</a:t>
            </a:r>
            <a:endParaRPr sz="1600" dirty="0">
              <a:solidFill>
                <a:schemeClr val="dk1"/>
              </a:solidFill>
            </a:endParaRPr>
          </a:p>
          <a:p>
            <a:pPr marL="137160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 sz="1600" b="1" dirty="0">
                <a:solidFill>
                  <a:schemeClr val="dk1"/>
                </a:solidFill>
              </a:rPr>
              <a:t>Confusion Matrix</a:t>
            </a:r>
            <a:r>
              <a:rPr lang="en" sz="1600" dirty="0">
                <a:solidFill>
                  <a:schemeClr val="dk1"/>
                </a:solidFill>
              </a:rPr>
              <a:t>: Shows true/false positives and negatives for clarity on errors.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 b="1" dirty="0">
                <a:solidFill>
                  <a:schemeClr val="dk1"/>
                </a:solidFill>
              </a:rPr>
              <a:t>ROC Curve</a:t>
            </a:r>
            <a:r>
              <a:rPr lang="en" sz="1600" dirty="0">
                <a:solidFill>
                  <a:schemeClr val="dk1"/>
                </a:solidFill>
              </a:rPr>
              <a:t>:</a:t>
            </a:r>
            <a:endParaRPr sz="1600" dirty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600" dirty="0">
                <a:solidFill>
                  <a:schemeClr val="dk1"/>
                </a:solidFill>
              </a:rPr>
              <a:t>The ROC curve and its AUC score provide a visual and single metric summarizing the model's separation ability between classes</a:t>
            </a:r>
            <a:r>
              <a:rPr lang="en" sz="1800" dirty="0">
                <a:solidFill>
                  <a:schemeClr val="dk1"/>
                </a:solidFill>
              </a:rPr>
              <a:t>.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21191" y="53396"/>
            <a:ext cx="68479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>
                <a:solidFill>
                  <a:schemeClr val="tx1"/>
                </a:solidFill>
              </a:rPr>
              <a:t>Vanilla Decision</a:t>
            </a:r>
            <a:r>
              <a:rPr lang="en-US" sz="2500" b="1" dirty="0">
                <a:solidFill>
                  <a:schemeClr val="dk1"/>
                </a:solidFill>
              </a:rPr>
              <a:t> </a:t>
            </a:r>
            <a:r>
              <a:rPr lang="en-US" sz="2500" dirty="0">
                <a:solidFill>
                  <a:schemeClr val="tx1"/>
                </a:solidFill>
              </a:rPr>
              <a:t>Tree Model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2704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"/>
          <p:cNvSpPr txBox="1"/>
          <p:nvPr/>
        </p:nvSpPr>
        <p:spPr>
          <a:xfrm>
            <a:off x="526200" y="918300"/>
            <a:ext cx="8091600" cy="36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dirty="0">
                <a:solidFill>
                  <a:schemeClr val="dk1"/>
                </a:solidFill>
              </a:rPr>
              <a:t>GridSearchCV Tuning</a:t>
            </a:r>
            <a:r>
              <a:rPr lang="en" sz="1300" dirty="0">
                <a:solidFill>
                  <a:schemeClr val="dk1"/>
                </a:solidFill>
              </a:rPr>
              <a:t>: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dk1"/>
                </a:solidFill>
              </a:rPr>
              <a:t>Tested </a:t>
            </a:r>
            <a:r>
              <a:rPr lang="en" sz="13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max_depth</a:t>
            </a:r>
            <a:r>
              <a:rPr lang="en" sz="1300" dirty="0">
                <a:solidFill>
                  <a:schemeClr val="dk1"/>
                </a:solidFill>
              </a:rPr>
              <a:t>, </a:t>
            </a:r>
            <a:r>
              <a:rPr lang="en" sz="13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min_samples_split</a:t>
            </a:r>
            <a:r>
              <a:rPr lang="en" sz="1300" dirty="0">
                <a:solidFill>
                  <a:schemeClr val="dk1"/>
                </a:solidFill>
              </a:rPr>
              <a:t>, </a:t>
            </a:r>
            <a:r>
              <a:rPr lang="en" sz="13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min_samples_leaf</a:t>
            </a:r>
            <a:r>
              <a:rPr lang="en" sz="1300" dirty="0">
                <a:solidFill>
                  <a:schemeClr val="dk1"/>
                </a:solidFill>
              </a:rPr>
              <a:t>, and </a:t>
            </a:r>
            <a:r>
              <a:rPr lang="en" sz="13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criterion</a:t>
            </a:r>
            <a:r>
              <a:rPr lang="en" sz="1300" dirty="0">
                <a:solidFill>
                  <a:schemeClr val="dk1"/>
                </a:solidFill>
              </a:rPr>
              <a:t> (gini/entropy) to improve model performance while reducing overfitting.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dk1"/>
                </a:solidFill>
              </a:rPr>
              <a:t>5-fold cross-validation optimized ROC-AUC to find the best parameter set.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dirty="0">
                <a:solidFill>
                  <a:schemeClr val="dk1"/>
                </a:solidFill>
              </a:rPr>
              <a:t>Model Evaluation</a:t>
            </a:r>
            <a:r>
              <a:rPr lang="en" sz="1300" dirty="0">
                <a:solidFill>
                  <a:schemeClr val="dk1"/>
                </a:solidFill>
              </a:rPr>
              <a:t>: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b="1" dirty="0">
                <a:solidFill>
                  <a:schemeClr val="dk1"/>
                </a:solidFill>
              </a:rPr>
              <a:t>Training/Test Accuracy</a:t>
            </a:r>
            <a:r>
              <a:rPr lang="en" sz="1300" dirty="0">
                <a:solidFill>
                  <a:schemeClr val="dk1"/>
                </a:solidFill>
              </a:rPr>
              <a:t>: Confirms the model’s fit.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b="1" dirty="0">
                <a:solidFill>
                  <a:schemeClr val="dk1"/>
                </a:solidFill>
              </a:rPr>
              <a:t>F1, Precision, Recall</a:t>
            </a:r>
            <a:r>
              <a:rPr lang="en" sz="1300" dirty="0">
                <a:solidFill>
                  <a:schemeClr val="dk1"/>
                </a:solidFill>
              </a:rPr>
              <a:t>: Ensures balanced performance for imbalanced data.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b="1" dirty="0">
                <a:solidFill>
                  <a:schemeClr val="dk1"/>
                </a:solidFill>
              </a:rPr>
              <a:t>ROC-AUC and Confusion Matrix</a:t>
            </a:r>
            <a:r>
              <a:rPr lang="en" sz="1300" dirty="0">
                <a:solidFill>
                  <a:schemeClr val="dk1"/>
                </a:solidFill>
              </a:rPr>
              <a:t>: Evaluates class separation and error breakdown.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dirty="0">
                <a:solidFill>
                  <a:schemeClr val="dk1"/>
                </a:solidFill>
              </a:rPr>
              <a:t>ROC Curve</a:t>
            </a:r>
            <a:r>
              <a:rPr lang="en" sz="1300" dirty="0">
                <a:solidFill>
                  <a:schemeClr val="dk1"/>
                </a:solidFill>
              </a:rPr>
              <a:t>: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dk1"/>
                </a:solidFill>
              </a:rPr>
              <a:t>Visualizes the model's ability to balance true/false positives, with AUC indicating strong classification.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solidFill>
                <a:schemeClr val="dk2"/>
              </a:solidFill>
            </a:endParaRPr>
          </a:p>
        </p:txBody>
      </p:sp>
      <p:sp>
        <p:nvSpPr>
          <p:cNvPr id="159" name="Google Shape;159;p32"/>
          <p:cNvSpPr txBox="1"/>
          <p:nvPr/>
        </p:nvSpPr>
        <p:spPr>
          <a:xfrm>
            <a:off x="526200" y="248950"/>
            <a:ext cx="8417566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chemeClr val="tx1"/>
                </a:solidFill>
              </a:rPr>
              <a:t>Tuned Decision Tree Model</a:t>
            </a:r>
            <a:endParaRPr sz="25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4"/>
          <p:cNvSpPr txBox="1"/>
          <p:nvPr/>
        </p:nvSpPr>
        <p:spPr>
          <a:xfrm>
            <a:off x="784200" y="1144900"/>
            <a:ext cx="7575600" cy="36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chemeClr val="dk1"/>
                </a:solidFill>
              </a:rPr>
              <a:t>Identify Uncertain Predictions</a:t>
            </a:r>
            <a:r>
              <a:rPr lang="en" sz="1100" dirty="0">
                <a:solidFill>
                  <a:schemeClr val="dk1"/>
                </a:solidFill>
              </a:rPr>
              <a:t>: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Extract probabilities from Logistic Regression, Tuned, and Vanilla Decision Trees.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Select cases where all models show uncertainty (probabilities between 0.1 and 0.9).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chemeClr val="dk1"/>
                </a:solidFill>
              </a:rPr>
              <a:t>Filter Low-Confidence Cases</a:t>
            </a:r>
            <a:r>
              <a:rPr lang="en" sz="1100" dirty="0">
                <a:solidFill>
                  <a:schemeClr val="dk1"/>
                </a:solidFill>
              </a:rPr>
              <a:t>: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Filter the dataset based on low-confidence predictions across all models.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chemeClr val="dk1"/>
                </a:solidFill>
              </a:rPr>
              <a:t>Expand Confidence Range</a:t>
            </a:r>
            <a:r>
              <a:rPr lang="en" sz="1100" dirty="0">
                <a:solidFill>
                  <a:schemeClr val="dk1"/>
                </a:solidFill>
              </a:rPr>
              <a:t>: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Adjust the range (e.g.:0.2 to 0.8) to capture more moderate confidence cases.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Combine indices of uncertain cases from all models.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chemeClr val="dk1"/>
                </a:solidFill>
              </a:rPr>
              <a:t>Display Results</a:t>
            </a:r>
            <a:r>
              <a:rPr lang="en" sz="1100" dirty="0">
                <a:solidFill>
                  <a:schemeClr val="dk1"/>
                </a:solidFill>
              </a:rPr>
              <a:t>: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Print the number of low-confidence cases and example probabilities from each model.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70" name="Google Shape;170;p34"/>
          <p:cNvSpPr txBox="1"/>
          <p:nvPr/>
        </p:nvSpPr>
        <p:spPr>
          <a:xfrm>
            <a:off x="453341" y="364901"/>
            <a:ext cx="8237317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chemeClr val="tx1"/>
                </a:solidFill>
              </a:rPr>
              <a:t>Low-Confidence Prediction Identification</a:t>
            </a:r>
            <a:endParaRPr sz="25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300" y="152400"/>
            <a:ext cx="625875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5"/>
          <p:cNvSpPr txBox="1"/>
          <p:nvPr/>
        </p:nvSpPr>
        <p:spPr>
          <a:xfrm>
            <a:off x="592199" y="1489250"/>
            <a:ext cx="7959600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b="1" dirty="0"/>
              <a:t>1. Model Structure</a:t>
            </a:r>
            <a:endParaRPr lang="en-US" dirty="0"/>
          </a:p>
          <a:p>
            <a:pPr marL="401638" indent="-117475">
              <a:buFont typeface="Arial" panose="020B0604020202020204" pitchFamily="34" charset="0"/>
              <a:buChar char="•"/>
            </a:pPr>
            <a:r>
              <a:rPr lang="en-US" b="1" dirty="0"/>
              <a:t>4 Layers</a:t>
            </a:r>
            <a:r>
              <a:rPr lang="en-US" dirty="0"/>
              <a:t>: Three hidden layers with </a:t>
            </a:r>
            <a:r>
              <a:rPr lang="en-US" b="1" dirty="0" err="1"/>
              <a:t>ReLU</a:t>
            </a:r>
            <a:r>
              <a:rPr lang="en-US" b="1" dirty="0"/>
              <a:t> activation</a:t>
            </a:r>
            <a:r>
              <a:rPr lang="en-US" dirty="0"/>
              <a:t> and dropout to prevent overfitting.</a:t>
            </a:r>
          </a:p>
          <a:p>
            <a:pPr marL="401638" indent="-117475">
              <a:buFont typeface="Arial" panose="020B0604020202020204" pitchFamily="34" charset="0"/>
              <a:buChar char="•"/>
            </a:pPr>
            <a:r>
              <a:rPr lang="en-US" b="1" dirty="0"/>
              <a:t>Output Layer</a:t>
            </a:r>
            <a:r>
              <a:rPr lang="en-US" dirty="0"/>
              <a:t>: Sigmoid activation, outputs probability for Category A or B.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2. Training Process</a:t>
            </a:r>
            <a:endParaRPr lang="en-US" dirty="0"/>
          </a:p>
          <a:p>
            <a:pPr marL="401638" indent="-117475">
              <a:buFont typeface="Arial" panose="020B0604020202020204" pitchFamily="34" charset="0"/>
              <a:buChar char="•"/>
            </a:pPr>
            <a:r>
              <a:rPr lang="en-US" b="1" dirty="0"/>
              <a:t>20 Epochs</a:t>
            </a:r>
            <a:r>
              <a:rPr lang="en-US" dirty="0"/>
              <a:t> with 32 examples per batch (batch size).</a:t>
            </a:r>
          </a:p>
          <a:p>
            <a:pPr marL="401638" indent="-117475">
              <a:buFont typeface="Arial" panose="020B0604020202020204" pitchFamily="34" charset="0"/>
              <a:buChar char="•"/>
            </a:pPr>
            <a:r>
              <a:rPr lang="en-US" b="1" dirty="0"/>
              <a:t>Validation Split</a:t>
            </a:r>
            <a:r>
              <a:rPr lang="en-US" dirty="0"/>
              <a:t>: 20% of training data for validation to avoid overfitting.</a:t>
            </a:r>
          </a:p>
        </p:txBody>
      </p:sp>
      <p:sp>
        <p:nvSpPr>
          <p:cNvPr id="176" name="Google Shape;176;p35"/>
          <p:cNvSpPr txBox="1"/>
          <p:nvPr/>
        </p:nvSpPr>
        <p:spPr>
          <a:xfrm>
            <a:off x="432926" y="274499"/>
            <a:ext cx="8278147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tx1"/>
                </a:solidFill>
              </a:rPr>
              <a:t>Deep Learning Model on Low-Confidence Cases</a:t>
            </a:r>
            <a:endParaRPr sz="25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878" y="1988987"/>
            <a:ext cx="3505898" cy="280594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050" y="215044"/>
            <a:ext cx="4097555" cy="158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5565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8"/>
          <p:cNvSpPr txBox="1"/>
          <p:nvPr/>
        </p:nvSpPr>
        <p:spPr>
          <a:xfrm>
            <a:off x="60099" y="258963"/>
            <a:ext cx="8520552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tx1"/>
                </a:solidFill>
              </a:rPr>
              <a:t>Future Scope</a:t>
            </a:r>
            <a:endParaRPr sz="2500" dirty="0">
              <a:solidFill>
                <a:schemeClr val="tx1"/>
              </a:solidFill>
            </a:endParaRPr>
          </a:p>
        </p:txBody>
      </p:sp>
      <p:sp>
        <p:nvSpPr>
          <p:cNvPr id="194" name="Google Shape;194;p38"/>
          <p:cNvSpPr txBox="1"/>
          <p:nvPr/>
        </p:nvSpPr>
        <p:spPr>
          <a:xfrm>
            <a:off x="554175" y="1081677"/>
            <a:ext cx="7532400" cy="32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b="1" dirty="0">
                <a:solidFill>
                  <a:schemeClr val="dk1"/>
                </a:solidFill>
              </a:rPr>
              <a:t>Deep Learning Integration</a:t>
            </a:r>
            <a:r>
              <a:rPr lang="en" dirty="0">
                <a:solidFill>
                  <a:schemeClr val="dk1"/>
                </a:solidFill>
              </a:rPr>
              <a:t>: We plan to incorporate deep learning models alongside Random Forest for better precision, especially on complex patterns.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b="1" dirty="0">
                <a:solidFill>
                  <a:schemeClr val="dk1"/>
                </a:solidFill>
              </a:rPr>
              <a:t>Improved Predictive Power</a:t>
            </a:r>
            <a:r>
              <a:rPr lang="en" dirty="0">
                <a:solidFill>
                  <a:schemeClr val="dk1"/>
                </a:solidFill>
              </a:rPr>
              <a:t>: Neural networks with multiple layers may increase ROC AUC scores by 5-10% on complex data.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b="1" dirty="0">
                <a:solidFill>
                  <a:schemeClr val="dk1"/>
                </a:solidFill>
              </a:rPr>
              <a:t>Target ROC AUC</a:t>
            </a:r>
            <a:r>
              <a:rPr lang="en" dirty="0">
                <a:solidFill>
                  <a:schemeClr val="dk1"/>
                </a:solidFill>
              </a:rPr>
              <a:t>: Aiming for a 0.95+ ROC AUC by combining Random Forest and deep learning models.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b="1" dirty="0">
                <a:solidFill>
                  <a:schemeClr val="dk1"/>
                </a:solidFill>
              </a:rPr>
              <a:t>Enhanced Edge Case Handling</a:t>
            </a:r>
            <a:r>
              <a:rPr lang="en" dirty="0">
                <a:solidFill>
                  <a:schemeClr val="dk1"/>
                </a:solidFill>
              </a:rPr>
              <a:t>: Deep learning will improve predictions for moderate-confidence cases, reducing misclassifications.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b="1" dirty="0">
                <a:solidFill>
                  <a:schemeClr val="dk1"/>
                </a:solidFill>
              </a:rPr>
              <a:t>Flexible Performance Thresholds</a:t>
            </a:r>
            <a:r>
              <a:rPr lang="en" dirty="0">
                <a:solidFill>
                  <a:schemeClr val="dk1"/>
                </a:solidFill>
              </a:rPr>
              <a:t>: This dual approach will adapt well to varied data types, improving prediction quality overall.</a:t>
            </a:r>
            <a:endParaRPr sz="21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81047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1494</Words>
  <Application>Microsoft Office PowerPoint</Application>
  <PresentationFormat>On-screen Show (16:9)</PresentationFormat>
  <Paragraphs>140</Paragraphs>
  <Slides>30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Roboto Mono</vt:lpstr>
      <vt:lpstr>Simple Light</vt:lpstr>
      <vt:lpstr>Group 1  Credit Default Risk Prediction</vt:lpstr>
      <vt:lpstr>Project Goal</vt:lpstr>
      <vt:lpstr>Motivation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1  Credit Default Risk Prediction</dc:title>
  <cp:lastModifiedBy>siddhant more</cp:lastModifiedBy>
  <cp:revision>9</cp:revision>
  <dcterms:modified xsi:type="dcterms:W3CDTF">2024-11-13T19:28:23Z</dcterms:modified>
</cp:coreProperties>
</file>